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uLz+JlC2KMfvsDa8XPoY8zX/P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Orden de magnitud</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1E2761"/>
              </a:solidFill>
              <a:effectLst/>
            </c:spPr>
          </c:dPt>
          <c:dPt>
            <c:idx val="4"/>
            <c:invertIfNegative val="0"/>
            <c:bubble3D val="0"/>
            <c:spPr>
              <a:solidFill>
                <a:srgbClr val="F96167"/>
              </a:solidFill>
              <a:effectLst/>
            </c:spPr>
          </c:dPt>
          <c:cat>
            <c:multiLvlStrRef>
              <c:f>Sheet1!$A$2:$A$6</c:f>
              <c:multiLvlStrCache>
                <c:ptCount val="5"/>
                <c:lvl>
                  <c:pt idx="0">
                    <c:v>SSI</c:v>
                  </c:pt>
                  <c:pt idx="1">
                    <c:v>MSI</c:v>
                  </c:pt>
                  <c:pt idx="2">
                    <c:v>LSI</c:v>
                  </c:pt>
                  <c:pt idx="3">
                    <c:v>VLSI</c:v>
                  </c:pt>
                  <c:pt idx="4">
                    <c:v>ULSI</c:v>
                  </c:pt>
                </c:lvl>
              </c:multiLvlStrCache>
            </c:multiLvlStrRef>
          </c:cat>
          <c:val>
            <c:numRef>
              <c:f>Sheet1!$B$2:$B$6</c:f>
              <c:numCache>
                <c:formatCode>General</c:formatCode>
                <c:ptCount val="5"/>
                <c:pt idx="0">
                  <c:v>2</c:v>
                </c:pt>
                <c:pt idx="1">
                  <c:v>3</c:v>
                </c:pt>
                <c:pt idx="2">
                  <c:v>5</c:v>
                </c:pt>
                <c:pt idx="3">
                  <c:v>7</c:v>
                </c:pt>
                <c:pt idx="4">
                  <c:v>9</c:v>
                </c:pt>
              </c:numCache>
            </c:numRef>
          </c:val>
        </c:ser>
        <c:dLbls>
          <c:numFmt formatCode="0"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12700" cap="flat">
              <a:solidFill>
                <a:srgbClr val="DFE5F2"/>
              </a:solidFill>
              <a:prstDash val="solid"/>
              <a:round/>
            </a:ln>
          </c:spPr>
        </c:majorGridlines>
        <c:title>
          <c:tx>
            <c:rich>
              <a:bodyPr/>
              <a:lstStyle/>
              <a:p>
                <a:pPr>
                  <a:defRPr sz="1000" b="0" i="0" u="none" strike="noStrike">
                    <a:solidFill>
                      <a:srgbClr val="5A6172"/>
                    </a:solidFill>
                    <a:latin typeface="Calibri"/>
                  </a:defRPr>
                </a:pPr>
                <a:r>
                  <a:rPr sz="1000" b="0" i="0" u="none" strike="noStrike">
                    <a:solidFill>
                      <a:srgbClr val="5A6172"/>
                    </a:solidFill>
                    <a:latin typeface="Calibri"/>
                  </a:rPr>
                  <a:t>Exponente n  (10ⁿ componentes por chip)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172"/>
                </a:solidFill>
                <a:latin typeface="Calibr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Sesión 2 del curso. Objetivo: ubicar al estudiante en el panorama de tecnologías de circuitos integrados antes de entrar al modelamiento CMOS de la Unidad 2.</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Recordar que la sesión de hoy corresponde al primer punto de la Unidad 1: circuitos integrados híbridos y familias tecnológicas.</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Eje logarítmico: cada categoría es dos a tres órdenes de magnitud mayor que la anterior. Preguntar a los alumnos en qué categoría cae un ATmega328 y en cuál un Ryzen.</a:t>
            </a:r>
            <a:endParaRPr/>
          </a:p>
        </p:txBody>
      </p:sp>
      <p:sp>
        <p:nvSpPr>
          <p:cNvPr id="195" name="Google Shape;1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Ejercicio rápido: tasas de 750, 812, 765, 743 y 798 nm/min dan una media de 773,6 nm/min y una uniformidad de 4,4 %.</a:t>
            </a:r>
            <a:endParaRPr/>
          </a:p>
        </p:txBody>
      </p:sp>
      <p:sp>
        <p:nvSpPr>
          <p:cNvPr id="520" name="Google Shape;5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Ejemplo de Sze: una resistencia barra de 90 µm x 10 µm con R□ = 1 kΩ/□ contiene 9 cuadros más 1,3 por los contactos, es decir 10,3 kΩ.</a:t>
            </a:r>
            <a:endParaRPr/>
          </a:p>
        </p:txBody>
      </p:sp>
      <p:sp>
        <p:nvSpPr>
          <p:cNvPr id="586" name="Google Shape;58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LOCOS: local oxidation of silicon. El nitruro tiene una tasa de oxidación muy baja, por eso el óxido grueso crece solo donde no hay nitruro.</a:t>
            </a:r>
            <a:endParaRPr/>
          </a:p>
        </p:txBody>
      </p:sp>
      <p:sp>
        <p:nvSpPr>
          <p:cNvPr id="685" name="Google Shape;68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orientación &lt;100&gt; se prefiere sobre &lt;111&gt; porque su densidad de trampas de interfaz es alrededor de la décima parte.</a:t>
            </a:r>
            <a:endParaRPr/>
          </a:p>
        </p:txBody>
      </p:sp>
      <p:sp>
        <p:nvSpPr>
          <p:cNvPr id="721" name="Google Shape;72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9b2945de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f9b2945def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orientación &lt;100&gt; se prefiere sobre &lt;111&gt; porque su densidad de trampas de interfaz es alrededor de la décima parte.</a:t>
            </a:r>
            <a:endParaRPr/>
          </a:p>
        </p:txBody>
      </p:sp>
      <p:sp>
        <p:nvSpPr>
          <p:cNvPr id="750" name="Google Shape;750;g3f9b2945def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0" name="Google Shape;90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6309360" y="960120"/>
            <a:ext cx="5285232" cy="4937760"/>
          </a:xfrm>
          <a:prstGeom prst="roundRect">
            <a:avLst>
              <a:gd fmla="val 3704" name="adj"/>
            </a:avLst>
          </a:prstGeom>
          <a:solidFill>
            <a:srgbClr val="141B45"/>
          </a:solidFill>
          <a:ln cap="flat" cmpd="sng" w="12700">
            <a:solidFill>
              <a:srgbClr val="2E3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629400" y="132588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txBox="1"/>
          <p:nvPr/>
        </p:nvSpPr>
        <p:spPr>
          <a:xfrm>
            <a:off x="6629400" y="13258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01</a:t>
            </a:r>
            <a:endParaRPr b="0" i="0" sz="1250" u="none" cap="none" strike="noStrike">
              <a:solidFill>
                <a:schemeClr val="dk1"/>
              </a:solidFill>
              <a:latin typeface="Calibri"/>
              <a:ea typeface="Calibri"/>
              <a:cs typeface="Calibri"/>
              <a:sym typeface="Calibri"/>
            </a:endParaRPr>
          </a:p>
        </p:txBody>
      </p:sp>
      <p:sp>
        <p:nvSpPr>
          <p:cNvPr id="19" name="Google Shape;19;p1"/>
          <p:cNvSpPr txBox="1"/>
          <p:nvPr/>
        </p:nvSpPr>
        <p:spPr>
          <a:xfrm>
            <a:off x="7242048" y="1271016"/>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Introducción a los circuitos integrados</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629400" y="224028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txBox="1"/>
          <p:nvPr/>
        </p:nvSpPr>
        <p:spPr>
          <a:xfrm>
            <a:off x="6629400" y="22402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02</a:t>
            </a:r>
            <a:endParaRPr b="0" i="0" sz="1250" u="none" cap="none" strike="noStrike">
              <a:solidFill>
                <a:schemeClr val="dk1"/>
              </a:solidFill>
              <a:latin typeface="Calibri"/>
              <a:ea typeface="Calibri"/>
              <a:cs typeface="Calibri"/>
              <a:sym typeface="Calibri"/>
            </a:endParaRPr>
          </a:p>
        </p:txBody>
      </p:sp>
      <p:sp>
        <p:nvSpPr>
          <p:cNvPr id="22" name="Google Shape;22;p1"/>
          <p:cNvSpPr txBox="1"/>
          <p:nvPr/>
        </p:nvSpPr>
        <p:spPr>
          <a:xfrm>
            <a:off x="7242048" y="2185416"/>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Flujo experimental y de fabricación</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6629400" y="315468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txBox="1"/>
          <p:nvPr/>
        </p:nvSpPr>
        <p:spPr>
          <a:xfrm>
            <a:off x="6629400" y="31546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03</a:t>
            </a:r>
            <a:endParaRPr b="0" i="0" sz="1250" u="none" cap="none" strike="noStrike">
              <a:solidFill>
                <a:schemeClr val="dk1"/>
              </a:solidFill>
              <a:latin typeface="Calibri"/>
              <a:ea typeface="Calibri"/>
              <a:cs typeface="Calibri"/>
              <a:sym typeface="Calibri"/>
            </a:endParaRPr>
          </a:p>
        </p:txBody>
      </p:sp>
      <p:sp>
        <p:nvSpPr>
          <p:cNvPr id="25" name="Google Shape;25;p1"/>
          <p:cNvSpPr txBox="1"/>
          <p:nvPr/>
        </p:nvSpPr>
        <p:spPr>
          <a:xfrm>
            <a:off x="7242048" y="3099816"/>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Tecnologías: monolítica y pelicular</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6629400" y="406908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txBox="1"/>
          <p:nvPr/>
        </p:nvSpPr>
        <p:spPr>
          <a:xfrm>
            <a:off x="6629400" y="4069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04</a:t>
            </a:r>
            <a:endParaRPr b="0" i="0" sz="1250" u="none" cap="none" strike="noStrike">
              <a:solidFill>
                <a:schemeClr val="dk1"/>
              </a:solidFill>
              <a:latin typeface="Calibri"/>
              <a:ea typeface="Calibri"/>
              <a:cs typeface="Calibri"/>
              <a:sym typeface="Calibri"/>
            </a:endParaRPr>
          </a:p>
        </p:txBody>
      </p:sp>
      <p:sp>
        <p:nvSpPr>
          <p:cNvPr id="28" name="Google Shape;28;p1"/>
          <p:cNvSpPr txBox="1"/>
          <p:nvPr/>
        </p:nvSpPr>
        <p:spPr>
          <a:xfrm>
            <a:off x="7242048" y="4014216"/>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Familias: bipolar, CMOS y BiCMOS</a:t>
            </a:r>
            <a:endParaRPr b="0" i="0" sz="1300" u="none" cap="none" strike="noStrike">
              <a:solidFill>
                <a:schemeClr val="dk1"/>
              </a:solidFill>
              <a:latin typeface="Calibri"/>
              <a:ea typeface="Calibri"/>
              <a:cs typeface="Calibri"/>
              <a:sym typeface="Calibri"/>
            </a:endParaRPr>
          </a:p>
        </p:txBody>
      </p:sp>
      <p:sp>
        <p:nvSpPr>
          <p:cNvPr id="29" name="Google Shape;29;p1"/>
          <p:cNvSpPr/>
          <p:nvPr/>
        </p:nvSpPr>
        <p:spPr>
          <a:xfrm>
            <a:off x="6629400" y="498348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txBox="1"/>
          <p:nvPr/>
        </p:nvSpPr>
        <p:spPr>
          <a:xfrm>
            <a:off x="6629400" y="49834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05</a:t>
            </a:r>
            <a:endParaRPr b="0" i="0" sz="1250" u="none" cap="none" strike="noStrike">
              <a:solidFill>
                <a:schemeClr val="dk1"/>
              </a:solidFill>
              <a:latin typeface="Calibri"/>
              <a:ea typeface="Calibri"/>
              <a:cs typeface="Calibri"/>
              <a:sym typeface="Calibri"/>
            </a:endParaRPr>
          </a:p>
        </p:txBody>
      </p:sp>
      <p:sp>
        <p:nvSpPr>
          <p:cNvPr id="31" name="Google Shape;31;p1"/>
          <p:cNvSpPr txBox="1"/>
          <p:nvPr/>
        </p:nvSpPr>
        <p:spPr>
          <a:xfrm>
            <a:off x="7242048" y="4928616"/>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Retos de la nanoelectrónica</a:t>
            </a:r>
            <a:endParaRPr b="0" i="0" sz="1300" u="none" cap="none" strike="noStrike">
              <a:solidFill>
                <a:schemeClr val="dk1"/>
              </a:solidFill>
              <a:latin typeface="Calibri"/>
              <a:ea typeface="Calibri"/>
              <a:cs typeface="Calibri"/>
              <a:sym typeface="Calibri"/>
            </a:endParaRPr>
          </a:p>
        </p:txBody>
      </p:sp>
      <p:sp>
        <p:nvSpPr>
          <p:cNvPr id="32" name="Google Shape;32;p1"/>
          <p:cNvSpPr txBox="1"/>
          <p:nvPr/>
        </p:nvSpPr>
        <p:spPr>
          <a:xfrm>
            <a:off x="566928" y="173736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600"/>
              <a:buFont typeface="Calibri"/>
              <a:buNone/>
            </a:pPr>
            <a:r>
              <a:rPr b="1" i="0" lang="en-US" sz="1600" u="none" cap="none" strike="noStrike">
                <a:solidFill>
                  <a:srgbClr val="F96167"/>
                </a:solidFill>
                <a:latin typeface="Calibri"/>
                <a:ea typeface="Calibri"/>
                <a:cs typeface="Calibri"/>
                <a:sym typeface="Calibri"/>
              </a:rPr>
              <a:t>MICROELECTRÓNICA</a:t>
            </a:r>
            <a:endParaRPr b="0" i="0" sz="1600" u="none" cap="none" strike="noStrike">
              <a:solidFill>
                <a:schemeClr val="dk1"/>
              </a:solidFill>
              <a:latin typeface="Calibri"/>
              <a:ea typeface="Calibri"/>
              <a:cs typeface="Calibri"/>
              <a:sym typeface="Calibri"/>
            </a:endParaRPr>
          </a:p>
        </p:txBody>
      </p:sp>
      <p:sp>
        <p:nvSpPr>
          <p:cNvPr id="33" name="Google Shape;33;p1"/>
          <p:cNvSpPr txBox="1"/>
          <p:nvPr/>
        </p:nvSpPr>
        <p:spPr>
          <a:xfrm>
            <a:off x="566928" y="2212848"/>
            <a:ext cx="5486400" cy="17373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Circuitos</a:t>
            </a:r>
            <a:endParaRPr b="0" i="0" sz="46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Integrados</a:t>
            </a:r>
            <a:endParaRPr b="0" i="0" sz="4600" u="none" cap="none" strike="noStrike">
              <a:solidFill>
                <a:schemeClr val="dk1"/>
              </a:solidFill>
              <a:latin typeface="Calibri"/>
              <a:ea typeface="Calibri"/>
              <a:cs typeface="Calibri"/>
              <a:sym typeface="Calibri"/>
            </a:endParaRPr>
          </a:p>
        </p:txBody>
      </p:sp>
      <p:sp>
        <p:nvSpPr>
          <p:cNvPr id="34" name="Google Shape;34;p1"/>
          <p:cNvSpPr/>
          <p:nvPr/>
        </p:nvSpPr>
        <p:spPr>
          <a:xfrm>
            <a:off x="566928" y="4041648"/>
            <a:ext cx="1371600" cy="45720"/>
          </a:xfrm>
          <a:prstGeom prst="rect">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txBox="1"/>
          <p:nvPr/>
        </p:nvSpPr>
        <p:spPr>
          <a:xfrm>
            <a:off x="566928" y="4261104"/>
            <a:ext cx="5486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MsC. Luz Adanaqué Infante</a:t>
            </a:r>
            <a:endParaRPr b="0" i="0" sz="1500" u="none" cap="none" strike="noStrike">
              <a:solidFill>
                <a:schemeClr val="dk1"/>
              </a:solidFill>
              <a:latin typeface="Calibri"/>
              <a:ea typeface="Calibri"/>
              <a:cs typeface="Calibri"/>
              <a:sym typeface="Calibri"/>
            </a:endParaRPr>
          </a:p>
        </p:txBody>
      </p:sp>
      <p:sp>
        <p:nvSpPr>
          <p:cNvPr id="36" name="Google Shape;36;p1"/>
          <p:cNvSpPr txBox="1"/>
          <p:nvPr/>
        </p:nvSpPr>
        <p:spPr>
          <a:xfrm>
            <a:off x="566928" y="4590288"/>
            <a:ext cx="5486400" cy="71323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Facultad de Ingeniería Electrónica, Eléctrica y de Telecomunicaciones</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Universidad Nacional Mayor de San Marcos  </a:t>
            </a:r>
            <a:endParaRPr b="0" i="0" sz="1150" u="none" cap="none" strike="noStrike">
              <a:solidFill>
                <a:schemeClr val="dk1"/>
              </a:solidFill>
              <a:latin typeface="Calibri"/>
              <a:ea typeface="Calibri"/>
              <a:cs typeface="Calibri"/>
              <a:sym typeface="Calibri"/>
            </a:endParaRPr>
          </a:p>
        </p:txBody>
      </p:sp>
      <p:sp>
        <p:nvSpPr>
          <p:cNvPr id="37" name="Google Shape;37;p1"/>
          <p:cNvSpPr txBox="1"/>
          <p:nvPr/>
        </p:nvSpPr>
        <p:spPr>
          <a:xfrm>
            <a:off x="566928" y="5486400"/>
            <a:ext cx="5486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BABD8"/>
              </a:buClr>
              <a:buSzPts val="950"/>
              <a:buFont typeface="Calibri"/>
              <a:buNone/>
            </a:pPr>
            <a:r>
              <a:rPr b="0" i="1" lang="en-US" sz="950" u="none" cap="none" strike="noStrike">
                <a:solidFill>
                  <a:srgbClr val="9BABD8"/>
                </a:solidFill>
                <a:latin typeface="Calibri"/>
                <a:ea typeface="Calibri"/>
                <a:cs typeface="Calibri"/>
                <a:sym typeface="Calibri"/>
              </a:rPr>
              <a:t>Lecturas de apoyo:  S. M. Sze y M. K. Lee, Semiconductor Devices: Physics and Technology, 3.ª ed., Wiley (cap. 0, 13 y 15)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42" name="Shape 42"/>
        <p:cNvGrpSpPr/>
        <p:nvPr/>
      </p:nvGrpSpPr>
      <p:grpSpPr>
        <a:xfrm>
          <a:off x="0" y="0"/>
          <a:ext cx="0" cy="0"/>
          <a:chOff x="0" y="0"/>
          <a:chExt cx="0" cy="0"/>
        </a:xfrm>
      </p:grpSpPr>
      <p:sp>
        <p:nvSpPr>
          <p:cNvPr id="43" name="Google Shape;43;p2"/>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Contenido del curso</a:t>
            </a:r>
            <a:endParaRPr b="0" i="0" sz="2700" u="none" cap="none" strike="noStrike">
              <a:solidFill>
                <a:schemeClr val="dk1"/>
              </a:solidFill>
              <a:latin typeface="Calibri"/>
              <a:ea typeface="Calibri"/>
              <a:cs typeface="Calibri"/>
              <a:sym typeface="Calibri"/>
            </a:endParaRPr>
          </a:p>
        </p:txBody>
      </p:sp>
      <p:sp>
        <p:nvSpPr>
          <p:cNvPr id="44" name="Google Shape;44;p2"/>
          <p:cNvSpPr/>
          <p:nvPr/>
        </p:nvSpPr>
        <p:spPr>
          <a:xfrm>
            <a:off x="566928" y="1207008"/>
            <a:ext cx="6492240" cy="1078992"/>
          </a:xfrm>
          <a:prstGeom prst="roundRect">
            <a:avLst>
              <a:gd fmla="val 10169"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86384" y="1380744"/>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txBox="1"/>
          <p:nvPr/>
        </p:nvSpPr>
        <p:spPr>
          <a:xfrm>
            <a:off x="786384" y="13807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47" name="Google Shape;47;p2"/>
          <p:cNvSpPr txBox="1"/>
          <p:nvPr/>
        </p:nvSpPr>
        <p:spPr>
          <a:xfrm>
            <a:off x="1316736" y="1335024"/>
            <a:ext cx="5577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Técnicas de diseño y fabricación</a:t>
            </a:r>
            <a:endParaRPr b="0" i="0" sz="1350" u="none" cap="none" strike="noStrike">
              <a:solidFill>
                <a:schemeClr val="dk1"/>
              </a:solidFill>
              <a:latin typeface="Calibri"/>
              <a:ea typeface="Calibri"/>
              <a:cs typeface="Calibri"/>
              <a:sym typeface="Calibri"/>
            </a:endParaRPr>
          </a:p>
        </p:txBody>
      </p:sp>
      <p:sp>
        <p:nvSpPr>
          <p:cNvPr id="48" name="Google Shape;48;p2"/>
          <p:cNvSpPr txBox="1"/>
          <p:nvPr/>
        </p:nvSpPr>
        <p:spPr>
          <a:xfrm>
            <a:off x="1316736" y="1664208"/>
            <a:ext cx="5532120"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00"/>
              <a:buFont typeface="Calibri"/>
              <a:buNone/>
            </a:pPr>
            <a:r>
              <a:rPr b="0" i="0" lang="en-US" sz="1100" u="none" cap="none" strike="noStrike">
                <a:solidFill>
                  <a:srgbClr val="5A6172"/>
                </a:solidFill>
                <a:latin typeface="Calibri"/>
                <a:ea typeface="Calibri"/>
                <a:cs typeface="Calibri"/>
                <a:sym typeface="Calibri"/>
              </a:rPr>
              <a:t>Circuitos integrados híbridos. Proceso planar e isoplanar. Fotolitografía y etching. Metodología top-down.</a:t>
            </a:r>
            <a:endParaRPr b="0" i="0" sz="1100" u="none" cap="none" strike="noStrike">
              <a:solidFill>
                <a:schemeClr val="dk1"/>
              </a:solidFill>
              <a:latin typeface="Calibri"/>
              <a:ea typeface="Calibri"/>
              <a:cs typeface="Calibri"/>
              <a:sym typeface="Calibri"/>
            </a:endParaRPr>
          </a:p>
        </p:txBody>
      </p:sp>
      <p:sp>
        <p:nvSpPr>
          <p:cNvPr id="49" name="Google Shape;49;p2"/>
          <p:cNvSpPr/>
          <p:nvPr/>
        </p:nvSpPr>
        <p:spPr>
          <a:xfrm>
            <a:off x="566928" y="2450592"/>
            <a:ext cx="6492240" cy="1078992"/>
          </a:xfrm>
          <a:prstGeom prst="roundRect">
            <a:avLst>
              <a:gd fmla="val 1016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86384" y="2624328"/>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txBox="1"/>
          <p:nvPr/>
        </p:nvSpPr>
        <p:spPr>
          <a:xfrm>
            <a:off x="786384" y="26243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52" name="Google Shape;52;p2"/>
          <p:cNvSpPr txBox="1"/>
          <p:nvPr/>
        </p:nvSpPr>
        <p:spPr>
          <a:xfrm>
            <a:off x="1316736" y="2578608"/>
            <a:ext cx="5577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Modelamiento de circuitos integrados</a:t>
            </a:r>
            <a:endParaRPr b="0" i="0" sz="1350" u="none" cap="none" strike="noStrike">
              <a:solidFill>
                <a:schemeClr val="dk1"/>
              </a:solidFill>
              <a:latin typeface="Calibri"/>
              <a:ea typeface="Calibri"/>
              <a:cs typeface="Calibri"/>
              <a:sym typeface="Calibri"/>
            </a:endParaRPr>
          </a:p>
        </p:txBody>
      </p:sp>
      <p:sp>
        <p:nvSpPr>
          <p:cNvPr id="53" name="Google Shape;53;p2"/>
          <p:cNvSpPr txBox="1"/>
          <p:nvPr/>
        </p:nvSpPr>
        <p:spPr>
          <a:xfrm>
            <a:off x="1316736" y="2907792"/>
            <a:ext cx="5532120"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00"/>
              <a:buFont typeface="Calibri"/>
              <a:buNone/>
            </a:pPr>
            <a:r>
              <a:rPr b="0" i="0" lang="en-US" sz="1100" u="none" cap="none" strike="noStrike">
                <a:solidFill>
                  <a:srgbClr val="5A6172"/>
                </a:solidFill>
                <a:latin typeface="Calibri"/>
                <a:ea typeface="Calibri"/>
                <a:cs typeface="Calibri"/>
                <a:sym typeface="Calibri"/>
              </a:rPr>
              <a:t>Circuitos CMOS estáticos. Circuitos CMOS dinámicos. Circuitos a capacitores conmutados.</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566928" y="3694176"/>
            <a:ext cx="6492240" cy="1078992"/>
          </a:xfrm>
          <a:prstGeom prst="roundRect">
            <a:avLst>
              <a:gd fmla="val 1016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786384" y="386791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txBox="1"/>
          <p:nvPr/>
        </p:nvSpPr>
        <p:spPr>
          <a:xfrm>
            <a:off x="786384" y="386791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57" name="Google Shape;57;p2"/>
          <p:cNvSpPr txBox="1"/>
          <p:nvPr/>
        </p:nvSpPr>
        <p:spPr>
          <a:xfrm>
            <a:off x="1316736" y="3822192"/>
            <a:ext cx="5577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Metodología de test y verificación</a:t>
            </a:r>
            <a:endParaRPr b="0" i="0" sz="1350" u="none" cap="none" strike="noStrike">
              <a:solidFill>
                <a:schemeClr val="dk1"/>
              </a:solidFill>
              <a:latin typeface="Calibri"/>
              <a:ea typeface="Calibri"/>
              <a:cs typeface="Calibri"/>
              <a:sym typeface="Calibri"/>
            </a:endParaRPr>
          </a:p>
        </p:txBody>
      </p:sp>
      <p:sp>
        <p:nvSpPr>
          <p:cNvPr id="58" name="Google Shape;58;p2"/>
          <p:cNvSpPr txBox="1"/>
          <p:nvPr/>
        </p:nvSpPr>
        <p:spPr>
          <a:xfrm>
            <a:off x="1316736" y="4151376"/>
            <a:ext cx="5532120"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00"/>
              <a:buFont typeface="Calibri"/>
              <a:buNone/>
            </a:pPr>
            <a:r>
              <a:rPr b="0" i="0" lang="en-US" sz="1100" u="none" cap="none" strike="noStrike">
                <a:solidFill>
                  <a:srgbClr val="5A6172"/>
                </a:solidFill>
                <a:latin typeface="Calibri"/>
                <a:ea typeface="Calibri"/>
                <a:cs typeface="Calibri"/>
                <a:sym typeface="Calibri"/>
              </a:rPr>
              <a:t>Fallos y errores. Controlabilidad y observabilidad. Técnicas de testeo.</a:t>
            </a:r>
            <a:endParaRPr b="0" i="0" sz="1100" u="none" cap="none" strike="noStrike">
              <a:solidFill>
                <a:schemeClr val="dk1"/>
              </a:solidFill>
              <a:latin typeface="Calibri"/>
              <a:ea typeface="Calibri"/>
              <a:cs typeface="Calibri"/>
              <a:sym typeface="Calibri"/>
            </a:endParaRPr>
          </a:p>
        </p:txBody>
      </p:sp>
      <p:sp>
        <p:nvSpPr>
          <p:cNvPr id="59" name="Google Shape;59;p2"/>
          <p:cNvSpPr/>
          <p:nvPr/>
        </p:nvSpPr>
        <p:spPr>
          <a:xfrm>
            <a:off x="566928" y="4937760"/>
            <a:ext cx="6492240" cy="1078992"/>
          </a:xfrm>
          <a:prstGeom prst="roundRect">
            <a:avLst>
              <a:gd fmla="val 1016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86384" y="5111496"/>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txBox="1"/>
          <p:nvPr/>
        </p:nvSpPr>
        <p:spPr>
          <a:xfrm>
            <a:off x="786384" y="51114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62" name="Google Shape;62;p2"/>
          <p:cNvSpPr txBox="1"/>
          <p:nvPr/>
        </p:nvSpPr>
        <p:spPr>
          <a:xfrm>
            <a:off x="1316736" y="5065776"/>
            <a:ext cx="5577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Introducción a los nanomateriales</a:t>
            </a:r>
            <a:endParaRPr b="0" i="0" sz="1350" u="none" cap="none" strike="noStrike">
              <a:solidFill>
                <a:schemeClr val="dk1"/>
              </a:solidFill>
              <a:latin typeface="Calibri"/>
              <a:ea typeface="Calibri"/>
              <a:cs typeface="Calibri"/>
              <a:sym typeface="Calibri"/>
            </a:endParaRPr>
          </a:p>
        </p:txBody>
      </p:sp>
      <p:sp>
        <p:nvSpPr>
          <p:cNvPr id="63" name="Google Shape;63;p2"/>
          <p:cNvSpPr txBox="1"/>
          <p:nvPr/>
        </p:nvSpPr>
        <p:spPr>
          <a:xfrm>
            <a:off x="1316736" y="5394960"/>
            <a:ext cx="5532120"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00"/>
              <a:buFont typeface="Calibri"/>
              <a:buNone/>
            </a:pPr>
            <a:r>
              <a:rPr b="0" i="0" lang="en-US" sz="1100" u="none" cap="none" strike="noStrike">
                <a:solidFill>
                  <a:srgbClr val="5A6172"/>
                </a:solidFill>
                <a:latin typeface="Calibri"/>
                <a:ea typeface="Calibri"/>
                <a:cs typeface="Calibri"/>
                <a:sym typeface="Calibri"/>
              </a:rPr>
              <a:t>ASIC, FPGA, circuitos semi-custom y full-custom. Retos del diseño con nanomateriales.</a:t>
            </a:r>
            <a:endParaRPr b="0" i="0" sz="1100" u="none" cap="none" strike="noStrike">
              <a:solidFill>
                <a:schemeClr val="dk1"/>
              </a:solidFill>
              <a:latin typeface="Calibri"/>
              <a:ea typeface="Calibri"/>
              <a:cs typeface="Calibri"/>
              <a:sym typeface="Calibri"/>
            </a:endParaRPr>
          </a:p>
        </p:txBody>
      </p:sp>
      <p:sp>
        <p:nvSpPr>
          <p:cNvPr id="64" name="Google Shape;64;p2"/>
          <p:cNvSpPr txBox="1"/>
          <p:nvPr/>
        </p:nvSpPr>
        <p:spPr>
          <a:xfrm>
            <a:off x="1316736" y="2139696"/>
            <a:ext cx="5577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900"/>
              <a:buFont typeface="Calibri"/>
              <a:buNone/>
            </a:pPr>
            <a:r>
              <a:rPr b="1" i="0" lang="en-US" sz="900" u="none" cap="none" strike="noStrike">
                <a:solidFill>
                  <a:srgbClr val="F96167"/>
                </a:solidFill>
                <a:latin typeface="Calibri"/>
                <a:ea typeface="Calibri"/>
                <a:cs typeface="Calibri"/>
                <a:sym typeface="Calibri"/>
              </a:rPr>
              <a:t>Sesión de hoy</a:t>
            </a:r>
            <a:endParaRPr b="0" i="0" sz="900" u="none" cap="none" strike="noStrike">
              <a:solidFill>
                <a:schemeClr val="dk1"/>
              </a:solidFill>
              <a:latin typeface="Calibri"/>
              <a:ea typeface="Calibri"/>
              <a:cs typeface="Calibri"/>
              <a:sym typeface="Calibri"/>
            </a:endParaRPr>
          </a:p>
        </p:txBody>
      </p:sp>
      <p:sp>
        <p:nvSpPr>
          <p:cNvPr id="65" name="Google Shape;65;p2"/>
          <p:cNvSpPr/>
          <p:nvPr/>
        </p:nvSpPr>
        <p:spPr>
          <a:xfrm>
            <a:off x="7360920" y="1207008"/>
            <a:ext cx="4233672" cy="3566160"/>
          </a:xfrm>
          <a:prstGeom prst="roundRect">
            <a:avLst>
              <a:gd fmla="val 359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txBox="1"/>
          <p:nvPr/>
        </p:nvSpPr>
        <p:spPr>
          <a:xfrm>
            <a:off x="7360920" y="4224528"/>
            <a:ext cx="423367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  Test / Verificación</a:t>
            </a:r>
            <a:endParaRPr b="0" i="0" sz="1250" u="none" cap="none" strike="noStrike">
              <a:solidFill>
                <a:schemeClr val="dk1"/>
              </a:solidFill>
              <a:latin typeface="Calibri"/>
              <a:ea typeface="Calibri"/>
              <a:cs typeface="Calibri"/>
              <a:sym typeface="Calibri"/>
            </a:endParaRPr>
          </a:p>
        </p:txBody>
      </p:sp>
      <p:sp>
        <p:nvSpPr>
          <p:cNvPr id="67" name="Google Shape;67;p2"/>
          <p:cNvSpPr/>
          <p:nvPr/>
        </p:nvSpPr>
        <p:spPr>
          <a:xfrm>
            <a:off x="7744968" y="1536192"/>
            <a:ext cx="3465576" cy="2578608"/>
          </a:xfrm>
          <a:prstGeom prst="roundRect">
            <a:avLst>
              <a:gd fmla="val 4255" name="adj"/>
            </a:avLst>
          </a:prstGeom>
          <a:solidFill>
            <a:srgbClr val="3B4E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txBox="1"/>
          <p:nvPr/>
        </p:nvSpPr>
        <p:spPr>
          <a:xfrm>
            <a:off x="7744968" y="3584448"/>
            <a:ext cx="34655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  Modelamiento</a:t>
            </a:r>
            <a:endParaRPr b="0" i="0" sz="1250" u="none" cap="none" strike="noStrike">
              <a:solidFill>
                <a:schemeClr val="dk1"/>
              </a:solidFill>
              <a:latin typeface="Calibri"/>
              <a:ea typeface="Calibri"/>
              <a:cs typeface="Calibri"/>
              <a:sym typeface="Calibri"/>
            </a:endParaRPr>
          </a:p>
        </p:txBody>
      </p:sp>
      <p:sp>
        <p:nvSpPr>
          <p:cNvPr id="69" name="Google Shape;69;p2"/>
          <p:cNvSpPr/>
          <p:nvPr/>
        </p:nvSpPr>
        <p:spPr>
          <a:xfrm>
            <a:off x="8183880" y="1847088"/>
            <a:ext cx="2587752" cy="1572768"/>
          </a:xfrm>
          <a:prstGeom prst="roundRect">
            <a:avLst>
              <a:gd fmla="val 697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txBox="1"/>
          <p:nvPr/>
        </p:nvSpPr>
        <p:spPr>
          <a:xfrm>
            <a:off x="8183880" y="1847088"/>
            <a:ext cx="2587752" cy="1572768"/>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  Diseño /</a:t>
            </a:r>
            <a:endParaRPr b="0" i="0" sz="14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fabricación</a:t>
            </a:r>
            <a:endParaRPr b="0" i="0" sz="1400" u="none" cap="none" strike="noStrike">
              <a:solidFill>
                <a:schemeClr val="dk1"/>
              </a:solidFill>
              <a:latin typeface="Calibri"/>
              <a:ea typeface="Calibri"/>
              <a:cs typeface="Calibri"/>
              <a:sym typeface="Calibri"/>
            </a:endParaRPr>
          </a:p>
        </p:txBody>
      </p:sp>
      <p:sp>
        <p:nvSpPr>
          <p:cNvPr id="71" name="Google Shape;71;p2"/>
          <p:cNvSpPr/>
          <p:nvPr/>
        </p:nvSpPr>
        <p:spPr>
          <a:xfrm>
            <a:off x="7360920" y="4901184"/>
            <a:ext cx="4233672" cy="713232"/>
          </a:xfrm>
          <a:prstGeom prst="roundRect">
            <a:avLst>
              <a:gd fmla="val 15385"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txBox="1"/>
          <p:nvPr/>
        </p:nvSpPr>
        <p:spPr>
          <a:xfrm>
            <a:off x="7360920" y="4901184"/>
            <a:ext cx="4233672"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4.  Nanomateriales</a:t>
            </a:r>
            <a:endParaRPr b="0" i="0" sz="1250" u="none" cap="none" strike="noStrike">
              <a:solidFill>
                <a:schemeClr val="dk1"/>
              </a:solidFill>
              <a:latin typeface="Calibri"/>
              <a:ea typeface="Calibri"/>
              <a:cs typeface="Calibri"/>
              <a:sym typeface="Calibri"/>
            </a:endParaRPr>
          </a:p>
        </p:txBody>
      </p:sp>
      <p:sp>
        <p:nvSpPr>
          <p:cNvPr id="73" name="Google Shape;73;p2"/>
          <p:cNvSpPr txBox="1"/>
          <p:nvPr/>
        </p:nvSpPr>
        <p:spPr>
          <a:xfrm>
            <a:off x="7360920" y="5705856"/>
            <a:ext cx="423367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Las tres primeras unidades son concéntricas: no se puede verificar lo que no se ha modelado, ni modelar lo que no se sabe fabricar.</a:t>
            </a:r>
            <a:endParaRPr b="0" i="0" sz="950" u="none" cap="none" strike="noStrike">
              <a:solidFill>
                <a:schemeClr val="dk1"/>
              </a:solidFill>
              <a:latin typeface="Calibri"/>
              <a:ea typeface="Calibri"/>
              <a:cs typeface="Calibri"/>
              <a:sym typeface="Calibri"/>
            </a:endParaRPr>
          </a:p>
        </p:txBody>
      </p:sp>
      <p:sp>
        <p:nvSpPr>
          <p:cNvPr id="74" name="Google Shape;74;p2"/>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75" name="Google Shape;75;p2"/>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76" name="Google Shape;76;p2"/>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82" name="Shape 82"/>
        <p:cNvGrpSpPr/>
        <p:nvPr/>
      </p:nvGrpSpPr>
      <p:grpSpPr>
        <a:xfrm>
          <a:off x="0" y="0"/>
          <a:ext cx="0" cy="0"/>
          <a:chOff x="0" y="0"/>
          <a:chExt cx="0" cy="0"/>
        </a:xfrm>
      </p:grpSpPr>
      <p:sp>
        <p:nvSpPr>
          <p:cNvPr id="83" name="Google Shape;83;p3"/>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Objetivos de la sesión</a:t>
            </a:r>
            <a:endParaRPr b="0" i="0" sz="2700" u="none" cap="none" strike="noStrike">
              <a:solidFill>
                <a:schemeClr val="dk1"/>
              </a:solidFill>
              <a:latin typeface="Calibri"/>
              <a:ea typeface="Calibri"/>
              <a:cs typeface="Calibri"/>
              <a:sym typeface="Calibri"/>
            </a:endParaRPr>
          </a:p>
        </p:txBody>
      </p:sp>
      <p:sp>
        <p:nvSpPr>
          <p:cNvPr id="84" name="Google Shape;84;p3"/>
          <p:cNvSpPr/>
          <p:nvPr/>
        </p:nvSpPr>
        <p:spPr>
          <a:xfrm>
            <a:off x="566928" y="1463040"/>
            <a:ext cx="2606040" cy="338328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22960" y="1737360"/>
            <a:ext cx="457200" cy="45720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txBox="1"/>
          <p:nvPr/>
        </p:nvSpPr>
        <p:spPr>
          <a:xfrm>
            <a:off x="822960" y="17373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01</a:t>
            </a:r>
            <a:endParaRPr b="0" i="0" sz="1250" u="none" cap="none" strike="noStrike">
              <a:solidFill>
                <a:schemeClr val="dk1"/>
              </a:solidFill>
              <a:latin typeface="Calibri"/>
              <a:ea typeface="Calibri"/>
              <a:cs typeface="Calibri"/>
              <a:sym typeface="Calibri"/>
            </a:endParaRPr>
          </a:p>
        </p:txBody>
      </p:sp>
      <p:sp>
        <p:nvSpPr>
          <p:cNvPr id="87" name="Google Shape;87;p3"/>
          <p:cNvSpPr txBox="1"/>
          <p:nvPr/>
        </p:nvSpPr>
        <p:spPr>
          <a:xfrm>
            <a:off x="822960" y="2340864"/>
            <a:ext cx="2103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Reconocer</a:t>
            </a:r>
            <a:endParaRPr b="0" i="0" sz="1700" u="none" cap="none" strike="noStrike">
              <a:solidFill>
                <a:schemeClr val="dk1"/>
              </a:solidFill>
              <a:latin typeface="Calibri"/>
              <a:ea typeface="Calibri"/>
              <a:cs typeface="Calibri"/>
              <a:sym typeface="Calibri"/>
            </a:endParaRPr>
          </a:p>
        </p:txBody>
      </p:sp>
      <p:sp>
        <p:nvSpPr>
          <p:cNvPr id="88" name="Google Shape;88;p3"/>
          <p:cNvSpPr txBox="1"/>
          <p:nvPr/>
        </p:nvSpPr>
        <p:spPr>
          <a:xfrm>
            <a:off x="822960" y="2743200"/>
            <a:ext cx="2121408" cy="1920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Identificar las ventajas estructurales del circuito integrado frente al montaje con dispositivos discretos e interconexión por hilo.</a:t>
            </a:r>
            <a:endParaRPr b="0" i="0" sz="1150" u="none" cap="none" strike="noStrike">
              <a:solidFill>
                <a:schemeClr val="dk1"/>
              </a:solidFill>
              <a:latin typeface="Calibri"/>
              <a:ea typeface="Calibri"/>
              <a:cs typeface="Calibri"/>
              <a:sym typeface="Calibri"/>
            </a:endParaRPr>
          </a:p>
        </p:txBody>
      </p:sp>
      <p:sp>
        <p:nvSpPr>
          <p:cNvPr id="89" name="Google Shape;89;p3"/>
          <p:cNvSpPr/>
          <p:nvPr/>
        </p:nvSpPr>
        <p:spPr>
          <a:xfrm>
            <a:off x="3374136" y="1463040"/>
            <a:ext cx="2606040" cy="338328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3630168" y="1737360"/>
            <a:ext cx="457200" cy="45720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txBox="1"/>
          <p:nvPr/>
        </p:nvSpPr>
        <p:spPr>
          <a:xfrm>
            <a:off x="3630168" y="17373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02</a:t>
            </a:r>
            <a:endParaRPr b="0" i="0" sz="1250" u="none" cap="none" strike="noStrike">
              <a:solidFill>
                <a:schemeClr val="dk1"/>
              </a:solidFill>
              <a:latin typeface="Calibri"/>
              <a:ea typeface="Calibri"/>
              <a:cs typeface="Calibri"/>
              <a:sym typeface="Calibri"/>
            </a:endParaRPr>
          </a:p>
        </p:txBody>
      </p:sp>
      <p:sp>
        <p:nvSpPr>
          <p:cNvPr id="92" name="Google Shape;92;p3"/>
          <p:cNvSpPr txBox="1"/>
          <p:nvPr/>
        </p:nvSpPr>
        <p:spPr>
          <a:xfrm>
            <a:off x="3630168" y="2340864"/>
            <a:ext cx="2103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Clasificar</a:t>
            </a:r>
            <a:endParaRPr b="0" i="0" sz="1700" u="none" cap="none" strike="noStrike">
              <a:solidFill>
                <a:schemeClr val="dk1"/>
              </a:solidFill>
              <a:latin typeface="Calibri"/>
              <a:ea typeface="Calibri"/>
              <a:cs typeface="Calibri"/>
              <a:sym typeface="Calibri"/>
            </a:endParaRPr>
          </a:p>
        </p:txBody>
      </p:sp>
      <p:sp>
        <p:nvSpPr>
          <p:cNvPr id="93" name="Google Shape;93;p3"/>
          <p:cNvSpPr txBox="1"/>
          <p:nvPr/>
        </p:nvSpPr>
        <p:spPr>
          <a:xfrm>
            <a:off x="3630168" y="2743200"/>
            <a:ext cx="2121408" cy="1920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Distinguir las tecnologías monolítica, pelicular gruesa y pelicular fina, y las familias bipolar, CMOS y BiCMOS.</a:t>
            </a:r>
            <a:endParaRPr b="0" i="0" sz="1150" u="none" cap="none" strike="noStrike">
              <a:solidFill>
                <a:schemeClr val="dk1"/>
              </a:solidFill>
              <a:latin typeface="Calibri"/>
              <a:ea typeface="Calibri"/>
              <a:cs typeface="Calibri"/>
              <a:sym typeface="Calibri"/>
            </a:endParaRPr>
          </a:p>
        </p:txBody>
      </p:sp>
      <p:sp>
        <p:nvSpPr>
          <p:cNvPr id="94" name="Google Shape;94;p3"/>
          <p:cNvSpPr/>
          <p:nvPr/>
        </p:nvSpPr>
        <p:spPr>
          <a:xfrm>
            <a:off x="6181344" y="1463040"/>
            <a:ext cx="2606040" cy="338328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6437376" y="1737360"/>
            <a:ext cx="457200" cy="45720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txBox="1"/>
          <p:nvPr/>
        </p:nvSpPr>
        <p:spPr>
          <a:xfrm>
            <a:off x="6437376" y="17373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03</a:t>
            </a:r>
            <a:endParaRPr b="0" i="0" sz="1250" u="none" cap="none" strike="noStrike">
              <a:solidFill>
                <a:schemeClr val="dk1"/>
              </a:solidFill>
              <a:latin typeface="Calibri"/>
              <a:ea typeface="Calibri"/>
              <a:cs typeface="Calibri"/>
              <a:sym typeface="Calibri"/>
            </a:endParaRPr>
          </a:p>
        </p:txBody>
      </p:sp>
      <p:sp>
        <p:nvSpPr>
          <p:cNvPr id="97" name="Google Shape;97;p3"/>
          <p:cNvSpPr txBox="1"/>
          <p:nvPr/>
        </p:nvSpPr>
        <p:spPr>
          <a:xfrm>
            <a:off x="6437376" y="2340864"/>
            <a:ext cx="2103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Explicar</a:t>
            </a:r>
            <a:endParaRPr b="0" i="0" sz="1700" u="none" cap="none" strike="noStrike">
              <a:solidFill>
                <a:schemeClr val="dk1"/>
              </a:solidFill>
              <a:latin typeface="Calibri"/>
              <a:ea typeface="Calibri"/>
              <a:cs typeface="Calibri"/>
              <a:sym typeface="Calibri"/>
            </a:endParaRPr>
          </a:p>
        </p:txBody>
      </p:sp>
      <p:sp>
        <p:nvSpPr>
          <p:cNvPr id="98" name="Google Shape;98;p3"/>
          <p:cNvSpPr txBox="1"/>
          <p:nvPr/>
        </p:nvSpPr>
        <p:spPr>
          <a:xfrm>
            <a:off x="6437376" y="2743200"/>
            <a:ext cx="2121408" cy="1920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Describir la secuencia de fabricación planar: formación de películas, litografía, grabado y dopado, nivel por nivel.</a:t>
            </a:r>
            <a:endParaRPr b="0" i="0" sz="1150" u="none" cap="none" strike="noStrike">
              <a:solidFill>
                <a:schemeClr val="dk1"/>
              </a:solidFill>
              <a:latin typeface="Calibri"/>
              <a:ea typeface="Calibri"/>
              <a:cs typeface="Calibri"/>
              <a:sym typeface="Calibri"/>
            </a:endParaRPr>
          </a:p>
        </p:txBody>
      </p:sp>
      <p:sp>
        <p:nvSpPr>
          <p:cNvPr id="99" name="Google Shape;99;p3"/>
          <p:cNvSpPr/>
          <p:nvPr/>
        </p:nvSpPr>
        <p:spPr>
          <a:xfrm>
            <a:off x="8988552" y="1463040"/>
            <a:ext cx="2606040" cy="338328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9244584" y="1737360"/>
            <a:ext cx="457200" cy="45720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txBox="1"/>
          <p:nvPr/>
        </p:nvSpPr>
        <p:spPr>
          <a:xfrm>
            <a:off x="9244584" y="17373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04</a:t>
            </a:r>
            <a:endParaRPr b="0" i="0" sz="1250" u="none" cap="none" strike="noStrike">
              <a:solidFill>
                <a:schemeClr val="dk1"/>
              </a:solidFill>
              <a:latin typeface="Calibri"/>
              <a:ea typeface="Calibri"/>
              <a:cs typeface="Calibri"/>
              <a:sym typeface="Calibri"/>
            </a:endParaRPr>
          </a:p>
        </p:txBody>
      </p:sp>
      <p:sp>
        <p:nvSpPr>
          <p:cNvPr id="102" name="Google Shape;102;p3"/>
          <p:cNvSpPr txBox="1"/>
          <p:nvPr/>
        </p:nvSpPr>
        <p:spPr>
          <a:xfrm>
            <a:off x="9244584" y="2340864"/>
            <a:ext cx="2103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Evaluar</a:t>
            </a:r>
            <a:endParaRPr b="0" i="0" sz="1700" u="none" cap="none" strike="noStrike">
              <a:solidFill>
                <a:schemeClr val="dk1"/>
              </a:solidFill>
              <a:latin typeface="Calibri"/>
              <a:ea typeface="Calibri"/>
              <a:cs typeface="Calibri"/>
              <a:sym typeface="Calibri"/>
            </a:endParaRPr>
          </a:p>
        </p:txBody>
      </p:sp>
      <p:sp>
        <p:nvSpPr>
          <p:cNvPr id="103" name="Google Shape;103;p3"/>
          <p:cNvSpPr txBox="1"/>
          <p:nvPr/>
        </p:nvSpPr>
        <p:spPr>
          <a:xfrm>
            <a:off x="9244584" y="2743200"/>
            <a:ext cx="2121408" cy="1920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Justificar por qué CMOS domina hoy y cuáles son los límites físicos que enfrenta por debajo de 100 nm.</a:t>
            </a:r>
            <a:endParaRPr b="0" i="0" sz="1150" u="none" cap="none" strike="noStrike">
              <a:solidFill>
                <a:schemeClr val="dk1"/>
              </a:solidFill>
              <a:latin typeface="Calibri"/>
              <a:ea typeface="Calibri"/>
              <a:cs typeface="Calibri"/>
              <a:sym typeface="Calibri"/>
            </a:endParaRPr>
          </a:p>
        </p:txBody>
      </p:sp>
      <p:sp>
        <p:nvSpPr>
          <p:cNvPr id="104" name="Google Shape;104;p3"/>
          <p:cNvSpPr/>
          <p:nvPr/>
        </p:nvSpPr>
        <p:spPr>
          <a:xfrm>
            <a:off x="566928" y="5120640"/>
            <a:ext cx="11027664" cy="1005840"/>
          </a:xfrm>
          <a:prstGeom prst="roundRect">
            <a:avLst>
              <a:gd fmla="val 10909"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txBox="1"/>
          <p:nvPr/>
        </p:nvSpPr>
        <p:spPr>
          <a:xfrm>
            <a:off x="841248" y="5285232"/>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50"/>
              <a:buFont typeface="Calibri"/>
              <a:buNone/>
            </a:pPr>
            <a:r>
              <a:rPr b="1" i="0" lang="en-US" sz="1050" u="none" cap="none" strike="noStrike">
                <a:solidFill>
                  <a:srgbClr val="F96167"/>
                </a:solidFill>
                <a:latin typeface="Calibri"/>
                <a:ea typeface="Calibri"/>
                <a:cs typeface="Calibri"/>
                <a:sym typeface="Calibri"/>
              </a:rPr>
              <a:t>Pregunta guía</a:t>
            </a:r>
            <a:endParaRPr b="0" i="0" sz="1050" u="none" cap="none" strike="noStrike">
              <a:solidFill>
                <a:schemeClr val="dk1"/>
              </a:solidFill>
              <a:latin typeface="Calibri"/>
              <a:ea typeface="Calibri"/>
              <a:cs typeface="Calibri"/>
              <a:sym typeface="Calibri"/>
            </a:endParaRPr>
          </a:p>
        </p:txBody>
      </p:sp>
      <p:sp>
        <p:nvSpPr>
          <p:cNvPr id="106" name="Google Shape;106;p3"/>
          <p:cNvSpPr txBox="1"/>
          <p:nvPr/>
        </p:nvSpPr>
        <p:spPr>
          <a:xfrm>
            <a:off x="841248" y="5541264"/>
            <a:ext cx="10479024"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¿Por qué la industria abandonó el liderazgo bipolar y migró a CMOS, si el transistor bipolar es más rápido y entrega más corriente?</a:t>
            </a:r>
            <a:endParaRPr b="0" i="0" sz="1300" u="none" cap="none" strike="noStrike">
              <a:solidFill>
                <a:schemeClr val="dk1"/>
              </a:solidFill>
              <a:latin typeface="Calibri"/>
              <a:ea typeface="Calibri"/>
              <a:cs typeface="Calibri"/>
              <a:sym typeface="Calibri"/>
            </a:endParaRPr>
          </a:p>
        </p:txBody>
      </p:sp>
      <p:sp>
        <p:nvSpPr>
          <p:cNvPr id="107" name="Google Shape;107;p3"/>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108" name="Google Shape;108;p3"/>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109" name="Google Shape;109;p3"/>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15" name="Shape 115"/>
        <p:cNvGrpSpPr/>
        <p:nvPr/>
      </p:nvGrpSpPr>
      <p:grpSpPr>
        <a:xfrm>
          <a:off x="0" y="0"/>
          <a:ext cx="0" cy="0"/>
          <a:chOff x="0" y="0"/>
          <a:chExt cx="0" cy="0"/>
        </a:xfrm>
      </p:grpSpPr>
      <p:sp>
        <p:nvSpPr>
          <p:cNvPr id="116" name="Google Shape;116;p4"/>
          <p:cNvSpPr/>
          <p:nvPr/>
        </p:nvSpPr>
        <p:spPr>
          <a:xfrm>
            <a:off x="566928" y="2395728"/>
            <a:ext cx="1152144" cy="1152144"/>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txBox="1"/>
          <p:nvPr/>
        </p:nvSpPr>
        <p:spPr>
          <a:xfrm>
            <a:off x="566928" y="2395728"/>
            <a:ext cx="1152144" cy="1152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I</a:t>
            </a:r>
            <a:endParaRPr b="0" i="0" sz="4000" u="none" cap="none" strike="noStrike">
              <a:solidFill>
                <a:schemeClr val="dk1"/>
              </a:solidFill>
              <a:latin typeface="Calibri"/>
              <a:ea typeface="Calibri"/>
              <a:cs typeface="Calibri"/>
              <a:sym typeface="Calibri"/>
            </a:endParaRPr>
          </a:p>
        </p:txBody>
      </p:sp>
      <p:sp>
        <p:nvSpPr>
          <p:cNvPr id="118" name="Google Shape;118;p4"/>
          <p:cNvSpPr txBox="1"/>
          <p:nvPr/>
        </p:nvSpPr>
        <p:spPr>
          <a:xfrm>
            <a:off x="2139696" y="2432304"/>
            <a:ext cx="9290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Introducción</a:t>
            </a:r>
            <a:endParaRPr b="0" i="0" sz="3400" u="none" cap="none" strike="noStrike">
              <a:solidFill>
                <a:schemeClr val="dk1"/>
              </a:solidFill>
              <a:latin typeface="Calibri"/>
              <a:ea typeface="Calibri"/>
              <a:cs typeface="Calibri"/>
              <a:sym typeface="Calibri"/>
            </a:endParaRPr>
          </a:p>
        </p:txBody>
      </p:sp>
      <p:sp>
        <p:nvSpPr>
          <p:cNvPr id="119" name="Google Shape;119;p4"/>
          <p:cNvSpPr txBox="1"/>
          <p:nvPr/>
        </p:nvSpPr>
        <p:spPr>
          <a:xfrm>
            <a:off x="2139696" y="3200400"/>
            <a:ext cx="92903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Por qué existen los circuitos integrados y cómo se fabrican</a:t>
            </a:r>
            <a:endParaRPr b="0" i="0" sz="1500" u="none" cap="none" strike="noStrike">
              <a:solidFill>
                <a:schemeClr val="dk1"/>
              </a:solidFill>
              <a:latin typeface="Calibri"/>
              <a:ea typeface="Calibri"/>
              <a:cs typeface="Calibri"/>
              <a:sym typeface="Calibri"/>
            </a:endParaRPr>
          </a:p>
        </p:txBody>
      </p:sp>
      <p:sp>
        <p:nvSpPr>
          <p:cNvPr id="120" name="Google Shape;120;p4"/>
          <p:cNvSpPr txBox="1"/>
          <p:nvPr/>
        </p:nvSpPr>
        <p:spPr>
          <a:xfrm>
            <a:off x="566928" y="6336792"/>
            <a:ext cx="10570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MsC. Luz Adanaqué Infante  ·  Universidad Nacional Mayor de San Marcos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125" name="Shape 125"/>
        <p:cNvGrpSpPr/>
        <p:nvPr/>
      </p:nvGrpSpPr>
      <p:grpSpPr>
        <a:xfrm>
          <a:off x="0" y="0"/>
          <a:ext cx="0" cy="0"/>
          <a:chOff x="0" y="0"/>
          <a:chExt cx="0" cy="0"/>
        </a:xfrm>
      </p:grpSpPr>
      <p:sp>
        <p:nvSpPr>
          <p:cNvPr id="126" name="Google Shape;126;p5"/>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Introducción</a:t>
            </a:r>
            <a:endParaRPr b="0" i="0" sz="2700" u="none" cap="none" strike="noStrike">
              <a:solidFill>
                <a:schemeClr val="dk1"/>
              </a:solidFill>
              <a:latin typeface="Calibri"/>
              <a:ea typeface="Calibri"/>
              <a:cs typeface="Calibri"/>
              <a:sym typeface="Calibri"/>
            </a:endParaRPr>
          </a:p>
        </p:txBody>
      </p:sp>
      <p:sp>
        <p:nvSpPr>
          <p:cNvPr id="127" name="Google Shape;127;p5"/>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Los circuitos integrados transformaron la configuración de los sistemas electrónicos</a:t>
            </a:r>
            <a:endParaRPr b="0" i="0" sz="1250" u="none" cap="none" strike="noStrike">
              <a:solidFill>
                <a:schemeClr val="dk1"/>
              </a:solidFill>
              <a:latin typeface="Calibri"/>
              <a:ea typeface="Calibri"/>
              <a:cs typeface="Calibri"/>
              <a:sym typeface="Calibri"/>
            </a:endParaRPr>
          </a:p>
        </p:txBody>
      </p:sp>
      <p:sp>
        <p:nvSpPr>
          <p:cNvPr id="128" name="Google Shape;128;p5"/>
          <p:cNvSpPr/>
          <p:nvPr/>
        </p:nvSpPr>
        <p:spPr>
          <a:xfrm>
            <a:off x="566928" y="1572768"/>
            <a:ext cx="5449824" cy="1371600"/>
          </a:xfrm>
          <a:prstGeom prst="roundRect">
            <a:avLst>
              <a:gd fmla="val 8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41248" y="1865376"/>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txBox="1"/>
          <p:nvPr/>
        </p:nvSpPr>
        <p:spPr>
          <a:xfrm>
            <a:off x="841248" y="186537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131" name="Google Shape;131;p5"/>
          <p:cNvSpPr txBox="1"/>
          <p:nvPr/>
        </p:nvSpPr>
        <p:spPr>
          <a:xfrm>
            <a:off x="1408176" y="181051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Miniaturización</a:t>
            </a:r>
            <a:endParaRPr b="0" i="0" sz="1400" u="none" cap="none" strike="noStrike">
              <a:solidFill>
                <a:schemeClr val="dk1"/>
              </a:solidFill>
              <a:latin typeface="Calibri"/>
              <a:ea typeface="Calibri"/>
              <a:cs typeface="Calibri"/>
              <a:sym typeface="Calibri"/>
            </a:endParaRPr>
          </a:p>
        </p:txBody>
      </p:sp>
      <p:sp>
        <p:nvSpPr>
          <p:cNvPr id="132" name="Google Shape;132;p5"/>
          <p:cNvSpPr txBox="1"/>
          <p:nvPr/>
        </p:nvSpPr>
        <p:spPr>
          <a:xfrm>
            <a:off x="1408176" y="2157984"/>
            <a:ext cx="4343400"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Reducción drástica del volumen y peso de los equipos electrónicos.</a:t>
            </a:r>
            <a:endParaRPr b="0" i="0" sz="1150" u="none" cap="none" strike="noStrike">
              <a:solidFill>
                <a:schemeClr val="dk1"/>
              </a:solidFill>
              <a:latin typeface="Calibri"/>
              <a:ea typeface="Calibri"/>
              <a:cs typeface="Calibri"/>
              <a:sym typeface="Calibri"/>
            </a:endParaRPr>
          </a:p>
        </p:txBody>
      </p:sp>
      <p:sp>
        <p:nvSpPr>
          <p:cNvPr id="133" name="Google Shape;133;p5"/>
          <p:cNvSpPr/>
          <p:nvPr/>
        </p:nvSpPr>
        <p:spPr>
          <a:xfrm>
            <a:off x="6144768" y="1572768"/>
            <a:ext cx="5449824" cy="1371600"/>
          </a:xfrm>
          <a:prstGeom prst="roundRect">
            <a:avLst>
              <a:gd fmla="val 8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6419088" y="1865376"/>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nvSpPr>
        <p:spPr>
          <a:xfrm>
            <a:off x="6419088" y="186537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136" name="Google Shape;136;p5"/>
          <p:cNvSpPr txBox="1"/>
          <p:nvPr/>
        </p:nvSpPr>
        <p:spPr>
          <a:xfrm>
            <a:off x="6986016" y="181051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Confiabilidad</a:t>
            </a:r>
            <a:endParaRPr b="0" i="0" sz="1400" u="none" cap="none" strike="noStrike">
              <a:solidFill>
                <a:schemeClr val="dk1"/>
              </a:solidFill>
              <a:latin typeface="Calibri"/>
              <a:ea typeface="Calibri"/>
              <a:cs typeface="Calibri"/>
              <a:sym typeface="Calibri"/>
            </a:endParaRPr>
          </a:p>
        </p:txBody>
      </p:sp>
      <p:sp>
        <p:nvSpPr>
          <p:cNvPr id="137" name="Google Shape;137;p5"/>
          <p:cNvSpPr txBox="1"/>
          <p:nvPr/>
        </p:nvSpPr>
        <p:spPr>
          <a:xfrm>
            <a:off x="6986016" y="2157984"/>
            <a:ext cx="4343400"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El diseño se replica de forma idéntica en cada chip de la oblea.</a:t>
            </a:r>
            <a:endParaRPr b="0" i="0" sz="1150" u="none" cap="none" strike="noStrike">
              <a:solidFill>
                <a:schemeClr val="dk1"/>
              </a:solidFill>
              <a:latin typeface="Calibri"/>
              <a:ea typeface="Calibri"/>
              <a:cs typeface="Calibri"/>
              <a:sym typeface="Calibri"/>
            </a:endParaRPr>
          </a:p>
        </p:txBody>
      </p:sp>
      <p:sp>
        <p:nvSpPr>
          <p:cNvPr id="138" name="Google Shape;138;p5"/>
          <p:cNvSpPr/>
          <p:nvPr/>
        </p:nvSpPr>
        <p:spPr>
          <a:xfrm>
            <a:off x="566928" y="3145536"/>
            <a:ext cx="5449824" cy="1371600"/>
          </a:xfrm>
          <a:prstGeom prst="roundRect">
            <a:avLst>
              <a:gd fmla="val 8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41248" y="3438144"/>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txBox="1"/>
          <p:nvPr/>
        </p:nvSpPr>
        <p:spPr>
          <a:xfrm>
            <a:off x="841248" y="34381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141" name="Google Shape;141;p5"/>
          <p:cNvSpPr txBox="1"/>
          <p:nvPr/>
        </p:nvSpPr>
        <p:spPr>
          <a:xfrm>
            <a:off x="1408176" y="3383280"/>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Bajo costo</a:t>
            </a:r>
            <a:endParaRPr b="0" i="0" sz="1400" u="none" cap="none" strike="noStrike">
              <a:solidFill>
                <a:schemeClr val="dk1"/>
              </a:solidFill>
              <a:latin typeface="Calibri"/>
              <a:ea typeface="Calibri"/>
              <a:cs typeface="Calibri"/>
              <a:sym typeface="Calibri"/>
            </a:endParaRPr>
          </a:p>
        </p:txBody>
      </p:sp>
      <p:sp>
        <p:nvSpPr>
          <p:cNvPr id="142" name="Google Shape;142;p5"/>
          <p:cNvSpPr txBox="1"/>
          <p:nvPr/>
        </p:nvSpPr>
        <p:spPr>
          <a:xfrm>
            <a:off x="1408176" y="3730752"/>
            <a:ext cx="4343400"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La producción en serie amortiza el proceso sobre miles de circuitos.</a:t>
            </a:r>
            <a:endParaRPr b="0" i="0" sz="1150" u="none" cap="none" strike="noStrike">
              <a:solidFill>
                <a:schemeClr val="dk1"/>
              </a:solidFill>
              <a:latin typeface="Calibri"/>
              <a:ea typeface="Calibri"/>
              <a:cs typeface="Calibri"/>
              <a:sym typeface="Calibri"/>
            </a:endParaRPr>
          </a:p>
        </p:txBody>
      </p:sp>
      <p:sp>
        <p:nvSpPr>
          <p:cNvPr id="143" name="Google Shape;143;p5"/>
          <p:cNvSpPr/>
          <p:nvPr/>
        </p:nvSpPr>
        <p:spPr>
          <a:xfrm>
            <a:off x="6144768" y="3145536"/>
            <a:ext cx="5449824" cy="1371600"/>
          </a:xfrm>
          <a:prstGeom prst="roundRect">
            <a:avLst>
              <a:gd fmla="val 8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6419088" y="3438144"/>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txBox="1"/>
          <p:nvPr/>
        </p:nvSpPr>
        <p:spPr>
          <a:xfrm>
            <a:off x="6419088" y="34381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146" name="Google Shape;146;p5"/>
          <p:cNvSpPr txBox="1"/>
          <p:nvPr/>
        </p:nvSpPr>
        <p:spPr>
          <a:xfrm>
            <a:off x="6986016" y="3383280"/>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Alta frecuencia</a:t>
            </a:r>
            <a:endParaRPr b="0" i="0" sz="1400" u="none" cap="none" strike="noStrike">
              <a:solidFill>
                <a:schemeClr val="dk1"/>
              </a:solidFill>
              <a:latin typeface="Calibri"/>
              <a:ea typeface="Calibri"/>
              <a:cs typeface="Calibri"/>
              <a:sym typeface="Calibri"/>
            </a:endParaRPr>
          </a:p>
        </p:txBody>
      </p:sp>
      <p:sp>
        <p:nvSpPr>
          <p:cNvPr id="147" name="Google Shape;147;p5"/>
          <p:cNvSpPr txBox="1"/>
          <p:nvPr/>
        </p:nvSpPr>
        <p:spPr>
          <a:xfrm>
            <a:off x="6986016" y="3730752"/>
            <a:ext cx="4343400"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Al eliminar conductores externos se reducen las parásitas de interconexión.</a:t>
            </a:r>
            <a:endParaRPr b="0" i="0" sz="1150" u="none" cap="none" strike="noStrike">
              <a:solidFill>
                <a:schemeClr val="dk1"/>
              </a:solidFill>
              <a:latin typeface="Calibri"/>
              <a:ea typeface="Calibri"/>
              <a:cs typeface="Calibri"/>
              <a:sym typeface="Calibri"/>
            </a:endParaRPr>
          </a:p>
        </p:txBody>
      </p:sp>
      <p:sp>
        <p:nvSpPr>
          <p:cNvPr id="148" name="Google Shape;148;p5"/>
          <p:cNvSpPr/>
          <p:nvPr/>
        </p:nvSpPr>
        <p:spPr>
          <a:xfrm>
            <a:off x="566928" y="4864608"/>
            <a:ext cx="11027664" cy="1243584"/>
          </a:xfrm>
          <a:prstGeom prst="roundRect">
            <a:avLst>
              <a:gd fmla="val 8824"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886968" y="50292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50"/>
              <a:buFont typeface="Calibri"/>
              <a:buNone/>
            </a:pPr>
            <a:r>
              <a:rPr b="1" i="0" lang="en-US" sz="1050" u="none" cap="none" strike="noStrike">
                <a:solidFill>
                  <a:srgbClr val="F96167"/>
                </a:solidFill>
                <a:latin typeface="Calibri"/>
                <a:ea typeface="Calibri"/>
                <a:cs typeface="Calibri"/>
                <a:sym typeface="Calibri"/>
              </a:rPr>
              <a:t>Tendencia</a:t>
            </a:r>
            <a:endParaRPr b="0" i="0" sz="1050" u="none" cap="none" strike="noStrike">
              <a:solidFill>
                <a:schemeClr val="dk1"/>
              </a:solidFill>
              <a:latin typeface="Calibri"/>
              <a:ea typeface="Calibri"/>
              <a:cs typeface="Calibri"/>
              <a:sym typeface="Calibri"/>
            </a:endParaRPr>
          </a:p>
        </p:txBody>
      </p:sp>
      <p:sp>
        <p:nvSpPr>
          <p:cNvPr id="150" name="Google Shape;150;p5"/>
          <p:cNvSpPr txBox="1"/>
          <p:nvPr/>
        </p:nvSpPr>
        <p:spPr>
          <a:xfrm>
            <a:off x="886968" y="5303520"/>
            <a:ext cx="10387584" cy="69494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La miniaturización, la confiabilidad, el bajo costo de producción en serie y la posibilidad de trabajar a frecuencias más elevadas son las cuatro fuerzas que empujaron el desarrollo de los circuitos integrados y que siguen orientando el diseño microelectrónico actual.</a:t>
            </a:r>
            <a:endParaRPr b="0" i="0" sz="1250" u="none" cap="none" strike="noStrike">
              <a:solidFill>
                <a:schemeClr val="dk1"/>
              </a:solidFill>
              <a:latin typeface="Calibri"/>
              <a:ea typeface="Calibri"/>
              <a:cs typeface="Calibri"/>
              <a:sym typeface="Calibri"/>
            </a:endParaRPr>
          </a:p>
        </p:txBody>
      </p:sp>
      <p:sp>
        <p:nvSpPr>
          <p:cNvPr id="151" name="Google Shape;151;p5"/>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152" name="Google Shape;152;p5"/>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153" name="Google Shape;153;p5"/>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159" name="Shape 159"/>
        <p:cNvGrpSpPr/>
        <p:nvPr/>
      </p:nvGrpSpPr>
      <p:grpSpPr>
        <a:xfrm>
          <a:off x="0" y="0"/>
          <a:ext cx="0" cy="0"/>
          <a:chOff x="0" y="0"/>
          <a:chExt cx="0" cy="0"/>
        </a:xfrm>
      </p:grpSpPr>
      <p:sp>
        <p:nvSpPr>
          <p:cNvPr id="160" name="Google Shape;160;p6"/>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Ventajas del CI frente al montaje discreto</a:t>
            </a:r>
            <a:endParaRPr b="0" i="0" sz="2700" u="none" cap="none" strike="noStrike">
              <a:solidFill>
                <a:schemeClr val="dk1"/>
              </a:solidFill>
              <a:latin typeface="Calibri"/>
              <a:ea typeface="Calibri"/>
              <a:cs typeface="Calibri"/>
              <a:sym typeface="Calibri"/>
            </a:endParaRPr>
          </a:p>
        </p:txBody>
      </p:sp>
      <p:sp>
        <p:nvSpPr>
          <p:cNvPr id="161" name="Google Shape;161;p6"/>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Un CI es un conjunto de dispositivos activos y pasivos formados sobre un mismo sustrato monocristalino e interconectados por metalización</a:t>
            </a:r>
            <a:endParaRPr b="0" i="0" sz="1250" u="none" cap="none" strike="noStrike">
              <a:solidFill>
                <a:schemeClr val="dk1"/>
              </a:solidFill>
              <a:latin typeface="Calibri"/>
              <a:ea typeface="Calibri"/>
              <a:cs typeface="Calibri"/>
              <a:sym typeface="Calibri"/>
            </a:endParaRPr>
          </a:p>
        </p:txBody>
      </p:sp>
      <p:sp>
        <p:nvSpPr>
          <p:cNvPr id="162" name="Google Shape;162;p6"/>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164" name="Google Shape;164;p6"/>
          <p:cNvSpPr/>
          <p:nvPr/>
        </p:nvSpPr>
        <p:spPr>
          <a:xfrm>
            <a:off x="566928" y="1737360"/>
            <a:ext cx="3529584"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841248" y="1993392"/>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txBox="1"/>
          <p:nvPr/>
        </p:nvSpPr>
        <p:spPr>
          <a:xfrm>
            <a:off x="841248"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167" name="Google Shape;167;p6"/>
          <p:cNvSpPr txBox="1"/>
          <p:nvPr/>
        </p:nvSpPr>
        <p:spPr>
          <a:xfrm>
            <a:off x="841248" y="2505456"/>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Menos parásitas</a:t>
            </a:r>
            <a:endParaRPr b="0" i="0" sz="1500" u="none" cap="none" strike="noStrike">
              <a:solidFill>
                <a:schemeClr val="dk1"/>
              </a:solidFill>
              <a:latin typeface="Calibri"/>
              <a:ea typeface="Calibri"/>
              <a:cs typeface="Calibri"/>
              <a:sym typeface="Calibri"/>
            </a:endParaRPr>
          </a:p>
        </p:txBody>
      </p:sp>
      <p:sp>
        <p:nvSpPr>
          <p:cNvPr id="168" name="Google Shape;168;p6"/>
          <p:cNvSpPr txBox="1"/>
          <p:nvPr/>
        </p:nvSpPr>
        <p:spPr>
          <a:xfrm>
            <a:off x="841248" y="2871216"/>
            <a:ext cx="2999232"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La metalización multinivel reduce sustancialmente la longitud total del cableado y, con ella, las parásitas de interconexión.</a:t>
            </a:r>
            <a:endParaRPr b="0" i="0" sz="1150" u="none" cap="none" strike="noStrike">
              <a:solidFill>
                <a:schemeClr val="dk1"/>
              </a:solidFill>
              <a:latin typeface="Calibri"/>
              <a:ea typeface="Calibri"/>
              <a:cs typeface="Calibri"/>
              <a:sym typeface="Calibri"/>
            </a:endParaRPr>
          </a:p>
        </p:txBody>
      </p:sp>
      <p:sp>
        <p:nvSpPr>
          <p:cNvPr id="169" name="Google Shape;169;p6"/>
          <p:cNvSpPr/>
          <p:nvPr/>
        </p:nvSpPr>
        <p:spPr>
          <a:xfrm>
            <a:off x="4315968" y="1737360"/>
            <a:ext cx="3529584"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4590288" y="1993392"/>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4590288"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172" name="Google Shape;172;p6"/>
          <p:cNvSpPr txBox="1"/>
          <p:nvPr/>
        </p:nvSpPr>
        <p:spPr>
          <a:xfrm>
            <a:off x="4590288" y="2505456"/>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Uso pleno del área</a:t>
            </a:r>
            <a:endParaRPr b="0" i="0" sz="1500" u="none" cap="none" strike="noStrike">
              <a:solidFill>
                <a:schemeClr val="dk1"/>
              </a:solidFill>
              <a:latin typeface="Calibri"/>
              <a:ea typeface="Calibri"/>
              <a:cs typeface="Calibri"/>
              <a:sym typeface="Calibri"/>
            </a:endParaRPr>
          </a:p>
        </p:txBody>
      </p:sp>
      <p:sp>
        <p:nvSpPr>
          <p:cNvPr id="173" name="Google Shape;173;p6"/>
          <p:cNvSpPr txBox="1"/>
          <p:nvPr/>
        </p:nvSpPr>
        <p:spPr>
          <a:xfrm>
            <a:off x="4590288" y="2871216"/>
            <a:ext cx="2999232"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Los dispositivos pueden empaquetarse muy juntos dentro del chip, aprovechando por completo la superficie útil de la oblea.</a:t>
            </a:r>
            <a:endParaRPr b="0" i="0" sz="1150" u="none" cap="none" strike="noStrike">
              <a:solidFill>
                <a:schemeClr val="dk1"/>
              </a:solidFill>
              <a:latin typeface="Calibri"/>
              <a:ea typeface="Calibri"/>
              <a:cs typeface="Calibri"/>
              <a:sym typeface="Calibri"/>
            </a:endParaRPr>
          </a:p>
        </p:txBody>
      </p:sp>
      <p:sp>
        <p:nvSpPr>
          <p:cNvPr id="174" name="Google Shape;174;p6"/>
          <p:cNvSpPr/>
          <p:nvPr/>
        </p:nvSpPr>
        <p:spPr>
          <a:xfrm>
            <a:off x="8065008" y="1737360"/>
            <a:ext cx="3529584"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8339328" y="1993392"/>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8339328"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177" name="Google Shape;177;p6"/>
          <p:cNvSpPr txBox="1"/>
          <p:nvPr/>
        </p:nvSpPr>
        <p:spPr>
          <a:xfrm>
            <a:off x="8339328" y="2505456"/>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Menor costo de proceso</a:t>
            </a:r>
            <a:endParaRPr b="0" i="0" sz="1500" u="none" cap="none" strike="noStrike">
              <a:solidFill>
                <a:schemeClr val="dk1"/>
              </a:solidFill>
              <a:latin typeface="Calibri"/>
              <a:ea typeface="Calibri"/>
              <a:cs typeface="Calibri"/>
              <a:sym typeface="Calibri"/>
            </a:endParaRPr>
          </a:p>
        </p:txBody>
      </p:sp>
      <p:sp>
        <p:nvSpPr>
          <p:cNvPr id="178" name="Google Shape;178;p6"/>
          <p:cNvSpPr txBox="1"/>
          <p:nvPr/>
        </p:nvSpPr>
        <p:spPr>
          <a:xfrm>
            <a:off x="8339328" y="2871216"/>
            <a:ext cx="2999232"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Se elimina el wire bonding, una operación lenta y propensa a error cuando se conectan dispositivos discretos uno a uno.</a:t>
            </a:r>
            <a:endParaRPr b="0" i="0" sz="1150" u="none" cap="none" strike="noStrike">
              <a:solidFill>
                <a:schemeClr val="dk1"/>
              </a:solidFill>
              <a:latin typeface="Calibri"/>
              <a:ea typeface="Calibri"/>
              <a:cs typeface="Calibri"/>
              <a:sym typeface="Calibri"/>
            </a:endParaRPr>
          </a:p>
        </p:txBody>
      </p:sp>
      <p:sp>
        <p:nvSpPr>
          <p:cNvPr id="179" name="Google Shape;179;p6"/>
          <p:cNvSpPr/>
          <p:nvPr/>
        </p:nvSpPr>
        <p:spPr>
          <a:xfrm>
            <a:off x="566928" y="4261104"/>
            <a:ext cx="11027664" cy="1847088"/>
          </a:xfrm>
          <a:prstGeom prst="roundRect">
            <a:avLst>
              <a:gd fmla="val 5941"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txBox="1"/>
          <p:nvPr/>
        </p:nvSpPr>
        <p:spPr>
          <a:xfrm>
            <a:off x="886968" y="4443984"/>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De la oblea al encapsulado</a:t>
            </a:r>
            <a:endParaRPr b="0" i="0" sz="1300" u="none" cap="none" strike="noStrike">
              <a:solidFill>
                <a:schemeClr val="dk1"/>
              </a:solidFill>
              <a:latin typeface="Calibri"/>
              <a:ea typeface="Calibri"/>
              <a:cs typeface="Calibri"/>
              <a:sym typeface="Calibri"/>
            </a:endParaRPr>
          </a:p>
        </p:txBody>
      </p:sp>
      <p:sp>
        <p:nvSpPr>
          <p:cNvPr id="181" name="Google Shape;181;p6"/>
          <p:cNvSpPr txBox="1"/>
          <p:nvPr/>
        </p:nvSpPr>
        <p:spPr>
          <a:xfrm>
            <a:off x="886968" y="4791456"/>
            <a:ext cx="5029200" cy="118872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Tras el proceso, cada oblea contiene cientos o miles de chips idénticos, de 1 a 20 mm de lado.</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Los chips se separan por aserrado o corte láser.</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Antes de separarlos, cada chip se prueba eléctricamente y los defectuosos se marcan en un mapa.</a:t>
            </a:r>
            <a:endParaRPr b="0" i="0" sz="1150" u="none" cap="none" strike="noStrike">
              <a:solidFill>
                <a:schemeClr val="dk1"/>
              </a:solidFill>
              <a:latin typeface="Calibri"/>
              <a:ea typeface="Calibri"/>
              <a:cs typeface="Calibri"/>
              <a:sym typeface="Calibri"/>
            </a:endParaRPr>
          </a:p>
        </p:txBody>
      </p:sp>
      <p:sp>
        <p:nvSpPr>
          <p:cNvPr id="182" name="Google Shape;182;p6"/>
          <p:cNvSpPr txBox="1"/>
          <p:nvPr/>
        </p:nvSpPr>
        <p:spPr>
          <a:xfrm>
            <a:off x="5943600" y="4590288"/>
            <a:ext cx="5394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1" i="0" lang="en-US" sz="1050" u="none" cap="none" strike="noStrike">
                <a:solidFill>
                  <a:srgbClr val="5A6172"/>
                </a:solidFill>
                <a:latin typeface="Calibri"/>
                <a:ea typeface="Calibri"/>
                <a:cs typeface="Calibri"/>
                <a:sym typeface="Calibri"/>
              </a:rPr>
              <a:t>Discreto  ·  interconexión por hilo</a:t>
            </a:r>
            <a:endParaRPr b="0" i="0" sz="1050" u="none" cap="none" strike="noStrike">
              <a:solidFill>
                <a:schemeClr val="dk1"/>
              </a:solidFill>
              <a:latin typeface="Calibri"/>
              <a:ea typeface="Calibri"/>
              <a:cs typeface="Calibri"/>
              <a:sym typeface="Calibri"/>
            </a:endParaRPr>
          </a:p>
        </p:txBody>
      </p:sp>
      <p:sp>
        <p:nvSpPr>
          <p:cNvPr id="183" name="Google Shape;183;p6"/>
          <p:cNvSpPr/>
          <p:nvPr/>
        </p:nvSpPr>
        <p:spPr>
          <a:xfrm>
            <a:off x="5943600" y="4864608"/>
            <a:ext cx="5394960" cy="384048"/>
          </a:xfrm>
          <a:prstGeom prst="roundRect">
            <a:avLst>
              <a:gd fmla="val 23810" name="adj"/>
            </a:avLst>
          </a:prstGeom>
          <a:solidFill>
            <a:srgbClr val="D8DE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5943600" y="4864608"/>
            <a:ext cx="53949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453"/>
              </a:buClr>
              <a:buSzPts val="1050"/>
              <a:buFont typeface="Calibri"/>
              <a:buNone/>
            </a:pPr>
            <a:r>
              <a:rPr b="0" i="0" lang="en-US" sz="1050" u="none" cap="none" strike="noStrike">
                <a:solidFill>
                  <a:srgbClr val="3D4453"/>
                </a:solidFill>
                <a:latin typeface="Calibri"/>
                <a:ea typeface="Calibri"/>
                <a:cs typeface="Calibri"/>
                <a:sym typeface="Calibri"/>
              </a:rPr>
              <a:t>cableado largo  ·  parásitas altas  ·  costo de ensamble alto</a:t>
            </a:r>
            <a:endParaRPr b="0" i="0" sz="1050" u="none" cap="none" strike="noStrike">
              <a:solidFill>
                <a:schemeClr val="dk1"/>
              </a:solidFill>
              <a:latin typeface="Calibri"/>
              <a:ea typeface="Calibri"/>
              <a:cs typeface="Calibri"/>
              <a:sym typeface="Calibri"/>
            </a:endParaRPr>
          </a:p>
        </p:txBody>
      </p:sp>
      <p:sp>
        <p:nvSpPr>
          <p:cNvPr id="185" name="Google Shape;185;p6"/>
          <p:cNvSpPr txBox="1"/>
          <p:nvPr/>
        </p:nvSpPr>
        <p:spPr>
          <a:xfrm>
            <a:off x="5943600" y="5340096"/>
            <a:ext cx="5394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50"/>
              <a:buFont typeface="Calibri"/>
              <a:buNone/>
            </a:pPr>
            <a:r>
              <a:rPr b="1" i="0" lang="en-US" sz="1050" u="none" cap="none" strike="noStrike">
                <a:solidFill>
                  <a:srgbClr val="1E2761"/>
                </a:solidFill>
                <a:latin typeface="Calibri"/>
                <a:ea typeface="Calibri"/>
                <a:cs typeface="Calibri"/>
                <a:sym typeface="Calibri"/>
              </a:rPr>
              <a:t>Integrado  ·  metalización multinivel</a:t>
            </a:r>
            <a:endParaRPr b="0" i="0" sz="1050" u="none" cap="none" strike="noStrike">
              <a:solidFill>
                <a:schemeClr val="dk1"/>
              </a:solidFill>
              <a:latin typeface="Calibri"/>
              <a:ea typeface="Calibri"/>
              <a:cs typeface="Calibri"/>
              <a:sym typeface="Calibri"/>
            </a:endParaRPr>
          </a:p>
        </p:txBody>
      </p:sp>
      <p:sp>
        <p:nvSpPr>
          <p:cNvPr id="186" name="Google Shape;186;p6"/>
          <p:cNvSpPr/>
          <p:nvPr/>
        </p:nvSpPr>
        <p:spPr>
          <a:xfrm>
            <a:off x="5943600" y="5614416"/>
            <a:ext cx="5394960" cy="384048"/>
          </a:xfrm>
          <a:prstGeom prst="roundRect">
            <a:avLst>
              <a:gd fmla="val 2381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txBox="1"/>
          <p:nvPr/>
        </p:nvSpPr>
        <p:spPr>
          <a:xfrm>
            <a:off x="5943600" y="5614416"/>
            <a:ext cx="53949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cableado corto  ·  alta densidad  ·  sin wire bonding interno</a:t>
            </a:r>
            <a:endParaRPr b="0" i="0" sz="1050" u="none" cap="none" strike="noStrike">
              <a:solidFill>
                <a:schemeClr val="dk1"/>
              </a:solidFill>
              <a:latin typeface="Calibri"/>
              <a:ea typeface="Calibri"/>
              <a:cs typeface="Calibri"/>
              <a:sym typeface="Calibri"/>
            </a:endParaRPr>
          </a:p>
        </p:txBody>
      </p:sp>
      <p:sp>
        <p:nvSpPr>
          <p:cNvPr id="188" name="Google Shape;188;p6"/>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189" name="Google Shape;189;p6"/>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190" name="Google Shape;190;p6"/>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196" name="Shape 196"/>
        <p:cNvGrpSpPr/>
        <p:nvPr/>
      </p:nvGrpSpPr>
      <p:grpSpPr>
        <a:xfrm>
          <a:off x="0" y="0"/>
          <a:ext cx="0" cy="0"/>
          <a:chOff x="0" y="0"/>
          <a:chExt cx="0" cy="0"/>
        </a:xfrm>
      </p:grpSpPr>
      <p:sp>
        <p:nvSpPr>
          <p:cNvPr id="197" name="Google Shape;197;p7"/>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Escalas de integración</a:t>
            </a:r>
            <a:endParaRPr b="0" i="0" sz="2700" u="none" cap="none" strike="noStrike">
              <a:solidFill>
                <a:schemeClr val="dk1"/>
              </a:solidFill>
              <a:latin typeface="Calibri"/>
              <a:ea typeface="Calibri"/>
              <a:cs typeface="Calibri"/>
              <a:sym typeface="Calibri"/>
            </a:endParaRPr>
          </a:p>
        </p:txBody>
      </p:sp>
      <p:sp>
        <p:nvSpPr>
          <p:cNvPr id="198" name="Google Shape;198;p7"/>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Componentes por chip desde la invención del CI monolítico en 1959</a:t>
            </a:r>
            <a:endParaRPr b="0" i="0" sz="1250" u="none" cap="none" strike="noStrike">
              <a:solidFill>
                <a:schemeClr val="dk1"/>
              </a:solidFill>
              <a:latin typeface="Calibri"/>
              <a:ea typeface="Calibri"/>
              <a:cs typeface="Calibri"/>
              <a:sym typeface="Calibri"/>
            </a:endParaRPr>
          </a:p>
        </p:txBody>
      </p:sp>
      <p:sp>
        <p:nvSpPr>
          <p:cNvPr id="199" name="Google Shape;199;p7"/>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graphicFrame>
        <p:nvGraphicFramePr>
          <p:cNvPr id="201" name="Google Shape;201;p7"/>
          <p:cNvGraphicFramePr/>
          <p:nvPr/>
        </p:nvGraphicFramePr>
        <p:xfrm>
          <a:off x="566928" y="1627632"/>
          <a:ext cx="6903720" cy="4114800"/>
        </p:xfrm>
        <a:graphic>
          <a:graphicData uri="http://schemas.openxmlformats.org/drawingml/2006/chart">
            <c:chart r:id="rId3"/>
          </a:graphicData>
        </a:graphic>
      </p:graphicFrame>
      <p:sp>
        <p:nvSpPr>
          <p:cNvPr id="202" name="Google Shape;202;p7"/>
          <p:cNvSpPr/>
          <p:nvPr/>
        </p:nvSpPr>
        <p:spPr>
          <a:xfrm>
            <a:off x="7772400" y="1627632"/>
            <a:ext cx="3822192" cy="548640"/>
          </a:xfrm>
          <a:prstGeom prst="roundRect">
            <a:avLst>
              <a:gd fmla="val 20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txBox="1"/>
          <p:nvPr/>
        </p:nvSpPr>
        <p:spPr>
          <a:xfrm>
            <a:off x="7973568" y="1627632"/>
            <a:ext cx="822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SSI</a:t>
            </a:r>
            <a:endParaRPr b="0" i="0" sz="1250" u="none" cap="none" strike="noStrike">
              <a:solidFill>
                <a:schemeClr val="dk1"/>
              </a:solidFill>
              <a:latin typeface="Calibri"/>
              <a:ea typeface="Calibri"/>
              <a:cs typeface="Calibri"/>
              <a:sym typeface="Calibri"/>
            </a:endParaRPr>
          </a:p>
        </p:txBody>
      </p:sp>
      <p:sp>
        <p:nvSpPr>
          <p:cNvPr id="204" name="Google Shape;204;p7"/>
          <p:cNvSpPr txBox="1"/>
          <p:nvPr/>
        </p:nvSpPr>
        <p:spPr>
          <a:xfrm>
            <a:off x="8778240" y="1627632"/>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Hasta 100 componentes</a:t>
            </a:r>
            <a:endParaRPr b="0" i="0" sz="1100" u="none" cap="none" strike="noStrike">
              <a:solidFill>
                <a:schemeClr val="dk1"/>
              </a:solidFill>
              <a:latin typeface="Calibri"/>
              <a:ea typeface="Calibri"/>
              <a:cs typeface="Calibri"/>
              <a:sym typeface="Calibri"/>
            </a:endParaRPr>
          </a:p>
        </p:txBody>
      </p:sp>
      <p:sp>
        <p:nvSpPr>
          <p:cNvPr id="205" name="Google Shape;205;p7"/>
          <p:cNvSpPr/>
          <p:nvPr/>
        </p:nvSpPr>
        <p:spPr>
          <a:xfrm>
            <a:off x="7772400" y="2286000"/>
            <a:ext cx="3822192" cy="548640"/>
          </a:xfrm>
          <a:prstGeom prst="roundRect">
            <a:avLst>
              <a:gd fmla="val 20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txBox="1"/>
          <p:nvPr/>
        </p:nvSpPr>
        <p:spPr>
          <a:xfrm>
            <a:off x="7973568" y="2286000"/>
            <a:ext cx="822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MSI</a:t>
            </a:r>
            <a:endParaRPr b="0" i="0" sz="1250" u="none" cap="none" strike="noStrike">
              <a:solidFill>
                <a:schemeClr val="dk1"/>
              </a:solidFill>
              <a:latin typeface="Calibri"/>
              <a:ea typeface="Calibri"/>
              <a:cs typeface="Calibri"/>
              <a:sym typeface="Calibri"/>
            </a:endParaRPr>
          </a:p>
        </p:txBody>
      </p:sp>
      <p:sp>
        <p:nvSpPr>
          <p:cNvPr id="207" name="Google Shape;207;p7"/>
          <p:cNvSpPr txBox="1"/>
          <p:nvPr/>
        </p:nvSpPr>
        <p:spPr>
          <a:xfrm>
            <a:off x="8778240" y="228600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Hasta 1 000 componentes</a:t>
            </a:r>
            <a:endParaRPr b="0" i="0" sz="1100" u="none" cap="none" strike="noStrike">
              <a:solidFill>
                <a:schemeClr val="dk1"/>
              </a:solidFill>
              <a:latin typeface="Calibri"/>
              <a:ea typeface="Calibri"/>
              <a:cs typeface="Calibri"/>
              <a:sym typeface="Calibri"/>
            </a:endParaRPr>
          </a:p>
        </p:txBody>
      </p:sp>
      <p:sp>
        <p:nvSpPr>
          <p:cNvPr id="208" name="Google Shape;208;p7"/>
          <p:cNvSpPr/>
          <p:nvPr/>
        </p:nvSpPr>
        <p:spPr>
          <a:xfrm>
            <a:off x="7772400" y="2944368"/>
            <a:ext cx="3822192" cy="548640"/>
          </a:xfrm>
          <a:prstGeom prst="roundRect">
            <a:avLst>
              <a:gd fmla="val 20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txBox="1"/>
          <p:nvPr/>
        </p:nvSpPr>
        <p:spPr>
          <a:xfrm>
            <a:off x="7973568" y="2944368"/>
            <a:ext cx="822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LSI</a:t>
            </a:r>
            <a:endParaRPr b="0" i="0" sz="1250" u="none" cap="none" strike="noStrike">
              <a:solidFill>
                <a:schemeClr val="dk1"/>
              </a:solidFill>
              <a:latin typeface="Calibri"/>
              <a:ea typeface="Calibri"/>
              <a:cs typeface="Calibri"/>
              <a:sym typeface="Calibri"/>
            </a:endParaRPr>
          </a:p>
        </p:txBody>
      </p:sp>
      <p:sp>
        <p:nvSpPr>
          <p:cNvPr id="210" name="Google Shape;210;p7"/>
          <p:cNvSpPr txBox="1"/>
          <p:nvPr/>
        </p:nvSpPr>
        <p:spPr>
          <a:xfrm>
            <a:off x="8778240" y="2944368"/>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Hasta 100 000 componentes</a:t>
            </a:r>
            <a:endParaRPr b="0" i="0" sz="1100" u="none" cap="none" strike="noStrike">
              <a:solidFill>
                <a:schemeClr val="dk1"/>
              </a:solidFill>
              <a:latin typeface="Calibri"/>
              <a:ea typeface="Calibri"/>
              <a:cs typeface="Calibri"/>
              <a:sym typeface="Calibri"/>
            </a:endParaRPr>
          </a:p>
        </p:txBody>
      </p:sp>
      <p:sp>
        <p:nvSpPr>
          <p:cNvPr id="211" name="Google Shape;211;p7"/>
          <p:cNvSpPr/>
          <p:nvPr/>
        </p:nvSpPr>
        <p:spPr>
          <a:xfrm>
            <a:off x="7772400" y="3602736"/>
            <a:ext cx="3822192" cy="548640"/>
          </a:xfrm>
          <a:prstGeom prst="roundRect">
            <a:avLst>
              <a:gd fmla="val 20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txBox="1"/>
          <p:nvPr/>
        </p:nvSpPr>
        <p:spPr>
          <a:xfrm>
            <a:off x="7973568" y="3602736"/>
            <a:ext cx="822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VLSI</a:t>
            </a:r>
            <a:endParaRPr b="0" i="0" sz="1250" u="none" cap="none" strike="noStrike">
              <a:solidFill>
                <a:schemeClr val="dk1"/>
              </a:solidFill>
              <a:latin typeface="Calibri"/>
              <a:ea typeface="Calibri"/>
              <a:cs typeface="Calibri"/>
              <a:sym typeface="Calibri"/>
            </a:endParaRPr>
          </a:p>
        </p:txBody>
      </p:sp>
      <p:sp>
        <p:nvSpPr>
          <p:cNvPr id="213" name="Google Shape;213;p7"/>
          <p:cNvSpPr txBox="1"/>
          <p:nvPr/>
        </p:nvSpPr>
        <p:spPr>
          <a:xfrm>
            <a:off x="8778240" y="3602736"/>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Hasta 10⁷ componentes</a:t>
            </a:r>
            <a:endParaRPr b="0" i="0" sz="1100" u="none" cap="none" strike="noStrike">
              <a:solidFill>
                <a:schemeClr val="dk1"/>
              </a:solidFill>
              <a:latin typeface="Calibri"/>
              <a:ea typeface="Calibri"/>
              <a:cs typeface="Calibri"/>
              <a:sym typeface="Calibri"/>
            </a:endParaRPr>
          </a:p>
        </p:txBody>
      </p:sp>
      <p:sp>
        <p:nvSpPr>
          <p:cNvPr id="214" name="Google Shape;214;p7"/>
          <p:cNvSpPr/>
          <p:nvPr/>
        </p:nvSpPr>
        <p:spPr>
          <a:xfrm>
            <a:off x="7772400" y="4261104"/>
            <a:ext cx="3822192" cy="548640"/>
          </a:xfrm>
          <a:prstGeom prst="roundRect">
            <a:avLst>
              <a:gd fmla="val 20000"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txBox="1"/>
          <p:nvPr/>
        </p:nvSpPr>
        <p:spPr>
          <a:xfrm>
            <a:off x="7973568" y="4261104"/>
            <a:ext cx="822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50"/>
              <a:buFont typeface="Calibri"/>
              <a:buNone/>
            </a:pPr>
            <a:r>
              <a:rPr b="1" i="0" lang="en-US" sz="1250" u="none" cap="none" strike="noStrike">
                <a:solidFill>
                  <a:srgbClr val="F96167"/>
                </a:solidFill>
                <a:latin typeface="Calibri"/>
                <a:ea typeface="Calibri"/>
                <a:cs typeface="Calibri"/>
                <a:sym typeface="Calibri"/>
              </a:rPr>
              <a:t>ULSI</a:t>
            </a:r>
            <a:endParaRPr b="0" i="0" sz="1250" u="none" cap="none" strike="noStrike">
              <a:solidFill>
                <a:schemeClr val="dk1"/>
              </a:solidFill>
              <a:latin typeface="Calibri"/>
              <a:ea typeface="Calibri"/>
              <a:cs typeface="Calibri"/>
              <a:sym typeface="Calibri"/>
            </a:endParaRPr>
          </a:p>
        </p:txBody>
      </p:sp>
      <p:sp>
        <p:nvSpPr>
          <p:cNvPr id="216" name="Google Shape;216;p7"/>
          <p:cNvSpPr txBox="1"/>
          <p:nvPr/>
        </p:nvSpPr>
        <p:spPr>
          <a:xfrm>
            <a:off x="8778240" y="4261104"/>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Más de 10⁷ componentes</a:t>
            </a:r>
            <a:endParaRPr b="0" i="0" sz="1100" u="none" cap="none" strike="noStrike">
              <a:solidFill>
                <a:schemeClr val="dk1"/>
              </a:solidFill>
              <a:latin typeface="Calibri"/>
              <a:ea typeface="Calibri"/>
              <a:cs typeface="Calibri"/>
              <a:sym typeface="Calibri"/>
            </a:endParaRPr>
          </a:p>
        </p:txBody>
      </p:sp>
      <p:sp>
        <p:nvSpPr>
          <p:cNvPr id="217" name="Google Shape;217;p7"/>
          <p:cNvSpPr txBox="1"/>
          <p:nvPr/>
        </p:nvSpPr>
        <p:spPr>
          <a:xfrm>
            <a:off x="7772400" y="5029200"/>
            <a:ext cx="3822192" cy="1005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A6172"/>
              </a:buClr>
              <a:buSzPts val="1050"/>
              <a:buFont typeface="Calibri"/>
              <a:buNone/>
            </a:pPr>
            <a:r>
              <a:rPr b="0" i="1" lang="en-US" sz="1050" u="none" cap="none" strike="noStrike">
                <a:solidFill>
                  <a:srgbClr val="5A6172"/>
                </a:solidFill>
                <a:latin typeface="Calibri"/>
                <a:ea typeface="Calibri"/>
                <a:cs typeface="Calibri"/>
                <a:sym typeface="Calibri"/>
              </a:rPr>
              <a:t>Referencias ULSI citadas por Sze: un microprocesador de 48 núcleos en proceso de 45 nm con más de 1 300 millones de transistores, y una DRAM de 8 Gbit con más de 16 000 millones de componentes.</a:t>
            </a:r>
            <a:endParaRPr b="0" i="0" sz="1050" u="none" cap="none" strike="noStrike">
              <a:solidFill>
                <a:schemeClr val="dk1"/>
              </a:solidFill>
              <a:latin typeface="Calibri"/>
              <a:ea typeface="Calibri"/>
              <a:cs typeface="Calibri"/>
              <a:sym typeface="Calibri"/>
            </a:endParaRPr>
          </a:p>
        </p:txBody>
      </p:sp>
      <p:sp>
        <p:nvSpPr>
          <p:cNvPr id="218" name="Google Shape;218;p7"/>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219" name="Google Shape;219;p7"/>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220" name="Google Shape;220;p7"/>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226" name="Shape 226"/>
        <p:cNvGrpSpPr/>
        <p:nvPr/>
      </p:nvGrpSpPr>
      <p:grpSpPr>
        <a:xfrm>
          <a:off x="0" y="0"/>
          <a:ext cx="0" cy="0"/>
          <a:chOff x="0" y="0"/>
          <a:chExt cx="0" cy="0"/>
        </a:xfrm>
      </p:grpSpPr>
      <p:sp>
        <p:nvSpPr>
          <p:cNvPr id="227" name="Google Shape;227;p8"/>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Flujo cíclico experimental</a:t>
            </a:r>
            <a:endParaRPr b="0" i="0" sz="2700" u="none" cap="none" strike="noStrike">
              <a:solidFill>
                <a:schemeClr val="dk1"/>
              </a:solidFill>
              <a:latin typeface="Calibri"/>
              <a:ea typeface="Calibri"/>
              <a:cs typeface="Calibri"/>
              <a:sym typeface="Calibri"/>
            </a:endParaRPr>
          </a:p>
        </p:txBody>
      </p:sp>
      <p:sp>
        <p:nvSpPr>
          <p:cNvPr id="228" name="Google Shape;228;p8"/>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Ciclo de trabajo en el desarrollo de un circuito integrado</a:t>
            </a:r>
            <a:endParaRPr b="0" i="0" sz="1250" u="none" cap="none" strike="noStrike">
              <a:solidFill>
                <a:schemeClr val="dk1"/>
              </a:solidFill>
              <a:latin typeface="Calibri"/>
              <a:ea typeface="Calibri"/>
              <a:cs typeface="Calibri"/>
              <a:sym typeface="Calibri"/>
            </a:endParaRPr>
          </a:p>
        </p:txBody>
      </p:sp>
      <p:sp>
        <p:nvSpPr>
          <p:cNvPr id="229" name="Google Shape;229;p8"/>
          <p:cNvSpPr/>
          <p:nvPr/>
        </p:nvSpPr>
        <p:spPr>
          <a:xfrm>
            <a:off x="566928" y="1737360"/>
            <a:ext cx="2048256" cy="3200400"/>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1389888" y="1975104"/>
            <a:ext cx="420624" cy="420624"/>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txBox="1"/>
          <p:nvPr/>
        </p:nvSpPr>
        <p:spPr>
          <a:xfrm>
            <a:off x="1389888" y="19751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232" name="Google Shape;232;p8"/>
          <p:cNvSpPr txBox="1"/>
          <p:nvPr/>
        </p:nvSpPr>
        <p:spPr>
          <a:xfrm>
            <a:off x="713232" y="2523744"/>
            <a:ext cx="1755648" cy="7315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Modelamiento</a:t>
            </a:r>
            <a:endParaRPr b="0" i="0" sz="125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del dispositivo</a:t>
            </a:r>
            <a:endParaRPr b="0" i="0" sz="1250" u="none" cap="none" strike="noStrike">
              <a:solidFill>
                <a:schemeClr val="dk1"/>
              </a:solidFill>
              <a:latin typeface="Calibri"/>
              <a:ea typeface="Calibri"/>
              <a:cs typeface="Calibri"/>
              <a:sym typeface="Calibri"/>
            </a:endParaRPr>
          </a:p>
        </p:txBody>
      </p:sp>
      <p:sp>
        <p:nvSpPr>
          <p:cNvPr id="233" name="Google Shape;233;p8"/>
          <p:cNvSpPr txBox="1"/>
          <p:nvPr/>
        </p:nvSpPr>
        <p:spPr>
          <a:xfrm>
            <a:off x="731520" y="3346704"/>
            <a:ext cx="1737360" cy="13716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Ecuaciones y modelos SPICE que describen el comportamiento eléctrico.</a:t>
            </a:r>
            <a:endParaRPr b="0" i="0" sz="1050" u="none" cap="none" strike="noStrike">
              <a:solidFill>
                <a:schemeClr val="dk1"/>
              </a:solidFill>
              <a:latin typeface="Calibri"/>
              <a:ea typeface="Calibri"/>
              <a:cs typeface="Calibri"/>
              <a:sym typeface="Calibri"/>
            </a:endParaRPr>
          </a:p>
        </p:txBody>
      </p:sp>
      <p:sp>
        <p:nvSpPr>
          <p:cNvPr id="234" name="Google Shape;234;p8"/>
          <p:cNvSpPr/>
          <p:nvPr/>
        </p:nvSpPr>
        <p:spPr>
          <a:xfrm>
            <a:off x="2651760" y="3200400"/>
            <a:ext cx="128016" cy="274320"/>
          </a:xfrm>
          <a:prstGeom prst="rightArrow">
            <a:avLst>
              <a:gd fmla="val 50000" name="adj1"/>
              <a:gd fmla="val 50000" name="adj2"/>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2798064" y="1737360"/>
            <a:ext cx="2048256" cy="3200400"/>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3621024" y="1975104"/>
            <a:ext cx="420624" cy="420624"/>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txBox="1"/>
          <p:nvPr/>
        </p:nvSpPr>
        <p:spPr>
          <a:xfrm>
            <a:off x="3621024" y="19751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238" name="Google Shape;238;p8"/>
          <p:cNvSpPr txBox="1"/>
          <p:nvPr/>
        </p:nvSpPr>
        <p:spPr>
          <a:xfrm>
            <a:off x="2944368" y="2523744"/>
            <a:ext cx="1755648" cy="7315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Diseño de la</a:t>
            </a:r>
            <a:endParaRPr b="0" i="0" sz="125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tecnología</a:t>
            </a:r>
            <a:endParaRPr b="0" i="0" sz="1250" u="none" cap="none" strike="noStrike">
              <a:solidFill>
                <a:schemeClr val="dk1"/>
              </a:solidFill>
              <a:latin typeface="Calibri"/>
              <a:ea typeface="Calibri"/>
              <a:cs typeface="Calibri"/>
              <a:sym typeface="Calibri"/>
            </a:endParaRPr>
          </a:p>
        </p:txBody>
      </p:sp>
      <p:sp>
        <p:nvSpPr>
          <p:cNvPr id="239" name="Google Shape;239;p8"/>
          <p:cNvSpPr txBox="1"/>
          <p:nvPr/>
        </p:nvSpPr>
        <p:spPr>
          <a:xfrm>
            <a:off x="2962656" y="3346704"/>
            <a:ext cx="1737360" cy="13716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Definición del proceso: dopados, espesores, reglas de diseño.</a:t>
            </a:r>
            <a:endParaRPr b="0" i="0" sz="1050" u="none" cap="none" strike="noStrike">
              <a:solidFill>
                <a:schemeClr val="dk1"/>
              </a:solidFill>
              <a:latin typeface="Calibri"/>
              <a:ea typeface="Calibri"/>
              <a:cs typeface="Calibri"/>
              <a:sym typeface="Calibri"/>
            </a:endParaRPr>
          </a:p>
        </p:txBody>
      </p:sp>
      <p:sp>
        <p:nvSpPr>
          <p:cNvPr id="240" name="Google Shape;240;p8"/>
          <p:cNvSpPr/>
          <p:nvPr/>
        </p:nvSpPr>
        <p:spPr>
          <a:xfrm>
            <a:off x="4882896" y="3200400"/>
            <a:ext cx="128016" cy="274320"/>
          </a:xfrm>
          <a:prstGeom prst="rightArrow">
            <a:avLst>
              <a:gd fmla="val 50000" name="adj1"/>
              <a:gd fmla="val 50000" name="adj2"/>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5029200" y="1737360"/>
            <a:ext cx="2048256" cy="3200400"/>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5852160" y="1975104"/>
            <a:ext cx="420624" cy="420624"/>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txBox="1"/>
          <p:nvPr/>
        </p:nvSpPr>
        <p:spPr>
          <a:xfrm>
            <a:off x="5852160" y="19751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244" name="Google Shape;244;p8"/>
          <p:cNvSpPr txBox="1"/>
          <p:nvPr/>
        </p:nvSpPr>
        <p:spPr>
          <a:xfrm>
            <a:off x="5175504" y="2523744"/>
            <a:ext cx="1755648" cy="7315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Diseño del circuito</a:t>
            </a:r>
            <a:endParaRPr b="0" i="0" sz="125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e interconexiones</a:t>
            </a:r>
            <a:endParaRPr b="0" i="0" sz="1250" u="none" cap="none" strike="noStrike">
              <a:solidFill>
                <a:schemeClr val="dk1"/>
              </a:solidFill>
              <a:latin typeface="Calibri"/>
              <a:ea typeface="Calibri"/>
              <a:cs typeface="Calibri"/>
              <a:sym typeface="Calibri"/>
            </a:endParaRPr>
          </a:p>
        </p:txBody>
      </p:sp>
      <p:sp>
        <p:nvSpPr>
          <p:cNvPr id="245" name="Google Shape;245;p8"/>
          <p:cNvSpPr txBox="1"/>
          <p:nvPr/>
        </p:nvSpPr>
        <p:spPr>
          <a:xfrm>
            <a:off x="5193792" y="3346704"/>
            <a:ext cx="1737360" cy="13716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Esquemático, layout, verificación DRC y LVS.</a:t>
            </a:r>
            <a:endParaRPr b="0" i="0" sz="1050" u="none" cap="none" strike="noStrike">
              <a:solidFill>
                <a:schemeClr val="dk1"/>
              </a:solidFill>
              <a:latin typeface="Calibri"/>
              <a:ea typeface="Calibri"/>
              <a:cs typeface="Calibri"/>
              <a:sym typeface="Calibri"/>
            </a:endParaRPr>
          </a:p>
        </p:txBody>
      </p:sp>
      <p:sp>
        <p:nvSpPr>
          <p:cNvPr id="246" name="Google Shape;246;p8"/>
          <p:cNvSpPr/>
          <p:nvPr/>
        </p:nvSpPr>
        <p:spPr>
          <a:xfrm>
            <a:off x="7114032" y="3200400"/>
            <a:ext cx="128016" cy="274320"/>
          </a:xfrm>
          <a:prstGeom prst="rightArrow">
            <a:avLst>
              <a:gd fmla="val 50000" name="adj1"/>
              <a:gd fmla="val 50000" name="adj2"/>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7260336" y="1737360"/>
            <a:ext cx="2048256" cy="3200400"/>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8083296" y="1975104"/>
            <a:ext cx="420624" cy="420624"/>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txBox="1"/>
          <p:nvPr/>
        </p:nvSpPr>
        <p:spPr>
          <a:xfrm>
            <a:off x="8083296" y="19751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250" name="Google Shape;250;p8"/>
          <p:cNvSpPr txBox="1"/>
          <p:nvPr/>
        </p:nvSpPr>
        <p:spPr>
          <a:xfrm>
            <a:off x="7406640" y="2523744"/>
            <a:ext cx="1755648" cy="7315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Fabricación</a:t>
            </a:r>
            <a:endParaRPr b="0" i="0" sz="1250" u="none" cap="none" strike="noStrike">
              <a:solidFill>
                <a:schemeClr val="dk1"/>
              </a:solidFill>
              <a:latin typeface="Calibri"/>
              <a:ea typeface="Calibri"/>
              <a:cs typeface="Calibri"/>
              <a:sym typeface="Calibri"/>
            </a:endParaRPr>
          </a:p>
        </p:txBody>
      </p:sp>
      <p:sp>
        <p:nvSpPr>
          <p:cNvPr id="251" name="Google Shape;251;p8"/>
          <p:cNvSpPr txBox="1"/>
          <p:nvPr/>
        </p:nvSpPr>
        <p:spPr>
          <a:xfrm>
            <a:off x="7424928" y="3346704"/>
            <a:ext cx="1737360" cy="13716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Ejecución de la secuencia de máscaras sobre la oblea.</a:t>
            </a:r>
            <a:endParaRPr b="0" i="0" sz="1050" u="none" cap="none" strike="noStrike">
              <a:solidFill>
                <a:schemeClr val="dk1"/>
              </a:solidFill>
              <a:latin typeface="Calibri"/>
              <a:ea typeface="Calibri"/>
              <a:cs typeface="Calibri"/>
              <a:sym typeface="Calibri"/>
            </a:endParaRPr>
          </a:p>
        </p:txBody>
      </p:sp>
      <p:sp>
        <p:nvSpPr>
          <p:cNvPr id="252" name="Google Shape;252;p8"/>
          <p:cNvSpPr/>
          <p:nvPr/>
        </p:nvSpPr>
        <p:spPr>
          <a:xfrm>
            <a:off x="9345168" y="3200400"/>
            <a:ext cx="128016" cy="274320"/>
          </a:xfrm>
          <a:prstGeom prst="rightArrow">
            <a:avLst>
              <a:gd fmla="val 50000" name="adj1"/>
              <a:gd fmla="val 50000" name="adj2"/>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9491472" y="1737360"/>
            <a:ext cx="2048256" cy="3200400"/>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0314432" y="1975104"/>
            <a:ext cx="420624" cy="420624"/>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txBox="1"/>
          <p:nvPr/>
        </p:nvSpPr>
        <p:spPr>
          <a:xfrm>
            <a:off x="10314432" y="19751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256" name="Google Shape;256;p8"/>
          <p:cNvSpPr txBox="1"/>
          <p:nvPr/>
        </p:nvSpPr>
        <p:spPr>
          <a:xfrm>
            <a:off x="9637776" y="2523744"/>
            <a:ext cx="1755648" cy="7315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Caracterización y</a:t>
            </a:r>
            <a:endParaRPr b="0" i="0" sz="125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test de radiación</a:t>
            </a:r>
            <a:endParaRPr b="0" i="0" sz="1250" u="none" cap="none" strike="noStrike">
              <a:solidFill>
                <a:schemeClr val="dk1"/>
              </a:solidFill>
              <a:latin typeface="Calibri"/>
              <a:ea typeface="Calibri"/>
              <a:cs typeface="Calibri"/>
              <a:sym typeface="Calibri"/>
            </a:endParaRPr>
          </a:p>
        </p:txBody>
      </p:sp>
      <p:sp>
        <p:nvSpPr>
          <p:cNvPr id="257" name="Google Shape;257;p8"/>
          <p:cNvSpPr txBox="1"/>
          <p:nvPr/>
        </p:nvSpPr>
        <p:spPr>
          <a:xfrm>
            <a:off x="9656064" y="3346704"/>
            <a:ext cx="1737360" cy="13716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Medición del silicio real y realimentación al modelo.</a:t>
            </a:r>
            <a:endParaRPr b="0" i="0" sz="1050" u="none" cap="none" strike="noStrike">
              <a:solidFill>
                <a:schemeClr val="dk1"/>
              </a:solidFill>
              <a:latin typeface="Calibri"/>
              <a:ea typeface="Calibri"/>
              <a:cs typeface="Calibri"/>
              <a:sym typeface="Calibri"/>
            </a:endParaRPr>
          </a:p>
        </p:txBody>
      </p:sp>
      <p:sp>
        <p:nvSpPr>
          <p:cNvPr id="258" name="Google Shape;258;p8"/>
          <p:cNvSpPr/>
          <p:nvPr/>
        </p:nvSpPr>
        <p:spPr>
          <a:xfrm>
            <a:off x="566928" y="5175504"/>
            <a:ext cx="11027664" cy="932688"/>
          </a:xfrm>
          <a:prstGeom prst="roundRect">
            <a:avLst>
              <a:gd fmla="val 11765"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txBox="1"/>
          <p:nvPr/>
        </p:nvSpPr>
        <p:spPr>
          <a:xfrm>
            <a:off x="886968" y="5175504"/>
            <a:ext cx="10387584" cy="9326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El ciclo es cerrado: la caracterización del silicio fabricado corrige el modelo del dispositivo, que a su vez modifica la tecnología y el diseño. Ningún proceso llega a producción en una sola iteración.</a:t>
            </a:r>
            <a:endParaRPr b="0" i="0" sz="1250" u="none" cap="none" strike="noStrike">
              <a:solidFill>
                <a:schemeClr val="dk1"/>
              </a:solidFill>
              <a:latin typeface="Calibri"/>
              <a:ea typeface="Calibri"/>
              <a:cs typeface="Calibri"/>
              <a:sym typeface="Calibri"/>
            </a:endParaRPr>
          </a:p>
        </p:txBody>
      </p:sp>
      <p:sp>
        <p:nvSpPr>
          <p:cNvPr id="260" name="Google Shape;260;p8"/>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261" name="Google Shape;261;p8"/>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262" name="Google Shape;262;p8"/>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268" name="Shape 268"/>
        <p:cNvGrpSpPr/>
        <p:nvPr/>
      </p:nvGrpSpPr>
      <p:grpSpPr>
        <a:xfrm>
          <a:off x="0" y="0"/>
          <a:ext cx="0" cy="0"/>
          <a:chOff x="0" y="0"/>
          <a:chExt cx="0" cy="0"/>
        </a:xfrm>
      </p:grpSpPr>
      <p:sp>
        <p:nvSpPr>
          <p:cNvPr id="269" name="Google Shape;269;p9"/>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Flujo de fabricación de un circuito integrado</a:t>
            </a:r>
            <a:endParaRPr b="0" i="0" sz="2700" u="none" cap="none" strike="noStrike">
              <a:solidFill>
                <a:schemeClr val="dk1"/>
              </a:solidFill>
              <a:latin typeface="Calibri"/>
              <a:ea typeface="Calibri"/>
              <a:cs typeface="Calibri"/>
              <a:sym typeface="Calibri"/>
            </a:endParaRPr>
          </a:p>
        </p:txBody>
      </p:sp>
      <p:sp>
        <p:nvSpPr>
          <p:cNvPr id="270" name="Google Shape;270;p9"/>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Los patrones de cada máscara se transfieren secuencialmente, nivel por nivel, a la superficie de la oblea</a:t>
            </a:r>
            <a:endParaRPr b="0" i="0" sz="1250" u="none" cap="none" strike="noStrike">
              <a:solidFill>
                <a:schemeClr val="dk1"/>
              </a:solidFill>
              <a:latin typeface="Calibri"/>
              <a:ea typeface="Calibri"/>
              <a:cs typeface="Calibri"/>
              <a:sym typeface="Calibri"/>
            </a:endParaRPr>
          </a:p>
        </p:txBody>
      </p:sp>
      <p:sp>
        <p:nvSpPr>
          <p:cNvPr id="271" name="Google Shape;271;p9"/>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273" name="Google Shape;273;p9"/>
          <p:cNvSpPr/>
          <p:nvPr/>
        </p:nvSpPr>
        <p:spPr>
          <a:xfrm>
            <a:off x="566928" y="1810512"/>
            <a:ext cx="6492240" cy="731520"/>
          </a:xfrm>
          <a:prstGeom prst="roundRect">
            <a:avLst>
              <a:gd fmla="val 15000"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786384" y="1984248"/>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txBox="1"/>
          <p:nvPr/>
        </p:nvSpPr>
        <p:spPr>
          <a:xfrm>
            <a:off x="786384" y="19842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276" name="Google Shape;276;p9"/>
          <p:cNvSpPr txBox="1"/>
          <p:nvPr/>
        </p:nvSpPr>
        <p:spPr>
          <a:xfrm>
            <a:off x="1335024" y="1810512"/>
            <a:ext cx="23774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Oblea pulida</a:t>
            </a:r>
            <a:endParaRPr b="0" i="0" sz="1250" u="none" cap="none" strike="noStrike">
              <a:solidFill>
                <a:schemeClr val="dk1"/>
              </a:solidFill>
              <a:latin typeface="Calibri"/>
              <a:ea typeface="Calibri"/>
              <a:cs typeface="Calibri"/>
              <a:sym typeface="Calibri"/>
            </a:endParaRPr>
          </a:p>
        </p:txBody>
      </p:sp>
      <p:sp>
        <p:nvSpPr>
          <p:cNvPr id="277" name="Google Shape;277;p9"/>
          <p:cNvSpPr txBox="1"/>
          <p:nvPr/>
        </p:nvSpPr>
        <p:spPr>
          <a:xfrm>
            <a:off x="3767328" y="1810512"/>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Material de partida con resistividad y orientación especificadas.</a:t>
            </a:r>
            <a:endParaRPr b="0" i="0" sz="1050" u="none" cap="none" strike="noStrike">
              <a:solidFill>
                <a:schemeClr val="dk1"/>
              </a:solidFill>
              <a:latin typeface="Calibri"/>
              <a:ea typeface="Calibri"/>
              <a:cs typeface="Calibri"/>
              <a:sym typeface="Calibri"/>
            </a:endParaRPr>
          </a:p>
        </p:txBody>
      </p:sp>
      <p:sp>
        <p:nvSpPr>
          <p:cNvPr id="278" name="Google Shape;278;p9"/>
          <p:cNvSpPr/>
          <p:nvPr/>
        </p:nvSpPr>
        <p:spPr>
          <a:xfrm>
            <a:off x="566928" y="2670048"/>
            <a:ext cx="6492240" cy="731520"/>
          </a:xfrm>
          <a:prstGeom prst="roundRect">
            <a:avLst>
              <a:gd fmla="val 15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786384" y="2843784"/>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txBox="1"/>
          <p:nvPr/>
        </p:nvSpPr>
        <p:spPr>
          <a:xfrm>
            <a:off x="786384" y="28437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281" name="Google Shape;281;p9"/>
          <p:cNvSpPr txBox="1"/>
          <p:nvPr/>
        </p:nvSpPr>
        <p:spPr>
          <a:xfrm>
            <a:off x="1335024" y="2670048"/>
            <a:ext cx="23774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Formación de películas</a:t>
            </a:r>
            <a:endParaRPr b="0" i="0" sz="1250" u="none" cap="none" strike="noStrike">
              <a:solidFill>
                <a:schemeClr val="dk1"/>
              </a:solidFill>
              <a:latin typeface="Calibri"/>
              <a:ea typeface="Calibri"/>
              <a:cs typeface="Calibri"/>
              <a:sym typeface="Calibri"/>
            </a:endParaRPr>
          </a:p>
        </p:txBody>
      </p:sp>
      <p:sp>
        <p:nvSpPr>
          <p:cNvPr id="282" name="Google Shape;282;p9"/>
          <p:cNvSpPr txBox="1"/>
          <p:nvPr/>
        </p:nvSpPr>
        <p:spPr>
          <a:xfrm>
            <a:off x="3767328" y="2670048"/>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Óxido térmico, polisilicio, dieléctricos y metales depositados.</a:t>
            </a:r>
            <a:endParaRPr b="0" i="0" sz="1050" u="none" cap="none" strike="noStrike">
              <a:solidFill>
                <a:schemeClr val="dk1"/>
              </a:solidFill>
              <a:latin typeface="Calibri"/>
              <a:ea typeface="Calibri"/>
              <a:cs typeface="Calibri"/>
              <a:sym typeface="Calibri"/>
            </a:endParaRPr>
          </a:p>
        </p:txBody>
      </p:sp>
      <p:sp>
        <p:nvSpPr>
          <p:cNvPr id="283" name="Google Shape;283;p9"/>
          <p:cNvSpPr/>
          <p:nvPr/>
        </p:nvSpPr>
        <p:spPr>
          <a:xfrm>
            <a:off x="566928" y="3529584"/>
            <a:ext cx="6492240" cy="731520"/>
          </a:xfrm>
          <a:prstGeom prst="roundRect">
            <a:avLst>
              <a:gd fmla="val 15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786384" y="3703320"/>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txBox="1"/>
          <p:nvPr/>
        </p:nvSpPr>
        <p:spPr>
          <a:xfrm>
            <a:off x="786384" y="37033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286" name="Google Shape;286;p9"/>
          <p:cNvSpPr txBox="1"/>
          <p:nvPr/>
        </p:nvSpPr>
        <p:spPr>
          <a:xfrm>
            <a:off x="1335024" y="3529584"/>
            <a:ext cx="23774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Litografía</a:t>
            </a:r>
            <a:endParaRPr b="0" i="0" sz="1250" u="none" cap="none" strike="noStrike">
              <a:solidFill>
                <a:schemeClr val="dk1"/>
              </a:solidFill>
              <a:latin typeface="Calibri"/>
              <a:ea typeface="Calibri"/>
              <a:cs typeface="Calibri"/>
              <a:sym typeface="Calibri"/>
            </a:endParaRPr>
          </a:p>
        </p:txBody>
      </p:sp>
      <p:sp>
        <p:nvSpPr>
          <p:cNvPr id="287" name="Google Shape;287;p9"/>
          <p:cNvSpPr txBox="1"/>
          <p:nvPr/>
        </p:nvSpPr>
        <p:spPr>
          <a:xfrm>
            <a:off x="3767328" y="3529584"/>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Transferencia del patrón de la máscara a la fotorresina.</a:t>
            </a:r>
            <a:endParaRPr b="0" i="0" sz="1050" u="none" cap="none" strike="noStrike">
              <a:solidFill>
                <a:schemeClr val="dk1"/>
              </a:solidFill>
              <a:latin typeface="Calibri"/>
              <a:ea typeface="Calibri"/>
              <a:cs typeface="Calibri"/>
              <a:sym typeface="Calibri"/>
            </a:endParaRPr>
          </a:p>
        </p:txBody>
      </p:sp>
      <p:sp>
        <p:nvSpPr>
          <p:cNvPr id="288" name="Google Shape;288;p9"/>
          <p:cNvSpPr/>
          <p:nvPr/>
        </p:nvSpPr>
        <p:spPr>
          <a:xfrm>
            <a:off x="566928" y="4389120"/>
            <a:ext cx="6492240" cy="731520"/>
          </a:xfrm>
          <a:prstGeom prst="roundRect">
            <a:avLst>
              <a:gd fmla="val 15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786384" y="4562856"/>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txBox="1"/>
          <p:nvPr/>
        </p:nvSpPr>
        <p:spPr>
          <a:xfrm>
            <a:off x="786384" y="45628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291" name="Google Shape;291;p9"/>
          <p:cNvSpPr txBox="1"/>
          <p:nvPr/>
        </p:nvSpPr>
        <p:spPr>
          <a:xfrm>
            <a:off x="1335024" y="4389120"/>
            <a:ext cx="23774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Grabado (etching)</a:t>
            </a:r>
            <a:endParaRPr b="0" i="0" sz="1250" u="none" cap="none" strike="noStrike">
              <a:solidFill>
                <a:schemeClr val="dk1"/>
              </a:solidFill>
              <a:latin typeface="Calibri"/>
              <a:ea typeface="Calibri"/>
              <a:cs typeface="Calibri"/>
              <a:sym typeface="Calibri"/>
            </a:endParaRPr>
          </a:p>
        </p:txBody>
      </p:sp>
      <p:sp>
        <p:nvSpPr>
          <p:cNvPr id="292" name="Google Shape;292;p9"/>
          <p:cNvSpPr txBox="1"/>
          <p:nvPr/>
        </p:nvSpPr>
        <p:spPr>
          <a:xfrm>
            <a:off x="3767328" y="4389120"/>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Remoción selectiva de la película no protegida por la resina.</a:t>
            </a:r>
            <a:endParaRPr b="0" i="0" sz="1050" u="none" cap="none" strike="noStrike">
              <a:solidFill>
                <a:schemeClr val="dk1"/>
              </a:solidFill>
              <a:latin typeface="Calibri"/>
              <a:ea typeface="Calibri"/>
              <a:cs typeface="Calibri"/>
              <a:sym typeface="Calibri"/>
            </a:endParaRPr>
          </a:p>
        </p:txBody>
      </p:sp>
      <p:sp>
        <p:nvSpPr>
          <p:cNvPr id="293" name="Google Shape;293;p9"/>
          <p:cNvSpPr/>
          <p:nvPr/>
        </p:nvSpPr>
        <p:spPr>
          <a:xfrm>
            <a:off x="566928" y="5248656"/>
            <a:ext cx="6492240" cy="731520"/>
          </a:xfrm>
          <a:prstGeom prst="roundRect">
            <a:avLst>
              <a:gd fmla="val 150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786384" y="542239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txBox="1"/>
          <p:nvPr/>
        </p:nvSpPr>
        <p:spPr>
          <a:xfrm>
            <a:off x="786384" y="54223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296" name="Google Shape;296;p9"/>
          <p:cNvSpPr txBox="1"/>
          <p:nvPr/>
        </p:nvSpPr>
        <p:spPr>
          <a:xfrm>
            <a:off x="1335024" y="5248656"/>
            <a:ext cx="23774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Dopado de impurezas</a:t>
            </a:r>
            <a:endParaRPr b="0" i="0" sz="1250" u="none" cap="none" strike="noStrike">
              <a:solidFill>
                <a:schemeClr val="dk1"/>
              </a:solidFill>
              <a:latin typeface="Calibri"/>
              <a:ea typeface="Calibri"/>
              <a:cs typeface="Calibri"/>
              <a:sym typeface="Calibri"/>
            </a:endParaRPr>
          </a:p>
        </p:txBody>
      </p:sp>
      <p:sp>
        <p:nvSpPr>
          <p:cNvPr id="297" name="Google Shape;297;p9"/>
          <p:cNvSpPr txBox="1"/>
          <p:nvPr/>
        </p:nvSpPr>
        <p:spPr>
          <a:xfrm>
            <a:off x="3767328" y="5248656"/>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0" lang="en-US" sz="1050" u="none" cap="none" strike="noStrike">
                <a:solidFill>
                  <a:srgbClr val="5A6172"/>
                </a:solidFill>
                <a:latin typeface="Calibri"/>
                <a:ea typeface="Calibri"/>
                <a:cs typeface="Calibri"/>
                <a:sym typeface="Calibri"/>
              </a:rPr>
              <a:t>Difusión o implantación iónica en las áreas abiertas.</a:t>
            </a:r>
            <a:endParaRPr b="0" i="0" sz="1050" u="none" cap="none" strike="noStrike">
              <a:solidFill>
                <a:schemeClr val="dk1"/>
              </a:solidFill>
              <a:latin typeface="Calibri"/>
              <a:ea typeface="Calibri"/>
              <a:cs typeface="Calibri"/>
              <a:sym typeface="Calibri"/>
            </a:endParaRPr>
          </a:p>
        </p:txBody>
      </p:sp>
      <p:sp>
        <p:nvSpPr>
          <p:cNvPr id="298" name="Google Shape;298;p9"/>
          <p:cNvSpPr/>
          <p:nvPr/>
        </p:nvSpPr>
        <p:spPr>
          <a:xfrm>
            <a:off x="7278624" y="2377440"/>
            <a:ext cx="274320" cy="3108960"/>
          </a:xfrm>
          <a:prstGeom prst="roundRect">
            <a:avLst>
              <a:gd fmla="val 46667"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txBox="1"/>
          <p:nvPr/>
        </p:nvSpPr>
        <p:spPr>
          <a:xfrm>
            <a:off x="6967728" y="5541264"/>
            <a:ext cx="9144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172"/>
              </a:buClr>
              <a:buSzPts val="850"/>
              <a:buFont typeface="Calibri"/>
              <a:buNone/>
            </a:pPr>
            <a:r>
              <a:rPr b="0" i="1" lang="en-US" sz="850" u="none" cap="none" strike="noStrike">
                <a:solidFill>
                  <a:srgbClr val="5A6172"/>
                </a:solidFill>
                <a:latin typeface="Calibri"/>
                <a:ea typeface="Calibri"/>
                <a:cs typeface="Calibri"/>
                <a:sym typeface="Calibri"/>
              </a:rPr>
              <a:t>ciclo repetido</a:t>
            </a:r>
            <a:endParaRPr b="0" i="0" sz="850" u="none" cap="none" strike="noStrike">
              <a:solidFill>
                <a:schemeClr val="dk1"/>
              </a:solidFill>
              <a:latin typeface="Calibri"/>
              <a:ea typeface="Calibri"/>
              <a:cs typeface="Calibri"/>
              <a:sym typeface="Calibri"/>
            </a:endParaRPr>
          </a:p>
        </p:txBody>
      </p:sp>
      <p:sp>
        <p:nvSpPr>
          <p:cNvPr id="300" name="Google Shape;300;p9"/>
          <p:cNvSpPr/>
          <p:nvPr/>
        </p:nvSpPr>
        <p:spPr>
          <a:xfrm>
            <a:off x="7818120" y="1810512"/>
            <a:ext cx="3776472" cy="3383280"/>
          </a:xfrm>
          <a:prstGeom prst="roundRect">
            <a:avLst>
              <a:gd fmla="val 3243"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txBox="1"/>
          <p:nvPr/>
        </p:nvSpPr>
        <p:spPr>
          <a:xfrm>
            <a:off x="8092440" y="2011680"/>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Del silicio al sistema</a:t>
            </a:r>
            <a:endParaRPr b="0" i="0" sz="1600" u="none" cap="none" strike="noStrike">
              <a:solidFill>
                <a:schemeClr val="dk1"/>
              </a:solidFill>
              <a:latin typeface="Calibri"/>
              <a:ea typeface="Calibri"/>
              <a:cs typeface="Calibri"/>
              <a:sym typeface="Calibri"/>
            </a:endParaRPr>
          </a:p>
        </p:txBody>
      </p:sp>
      <p:sp>
        <p:nvSpPr>
          <p:cNvPr id="302" name="Google Shape;302;p9"/>
          <p:cNvSpPr/>
          <p:nvPr/>
        </p:nvSpPr>
        <p:spPr>
          <a:xfrm>
            <a:off x="8092440" y="2487168"/>
            <a:ext cx="3246120" cy="694944"/>
          </a:xfrm>
          <a:prstGeom prst="roundRect">
            <a:avLst>
              <a:gd fmla="val 13158"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txBox="1"/>
          <p:nvPr/>
        </p:nvSpPr>
        <p:spPr>
          <a:xfrm>
            <a:off x="8275320" y="2542032"/>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Oblea</a:t>
            </a:r>
            <a:endParaRPr b="0" i="0" sz="1200" u="none" cap="none" strike="noStrike">
              <a:solidFill>
                <a:schemeClr val="dk1"/>
              </a:solidFill>
              <a:latin typeface="Calibri"/>
              <a:ea typeface="Calibri"/>
              <a:cs typeface="Calibri"/>
              <a:sym typeface="Calibri"/>
            </a:endParaRPr>
          </a:p>
        </p:txBody>
      </p:sp>
      <p:sp>
        <p:nvSpPr>
          <p:cNvPr id="304" name="Google Shape;304;p9"/>
          <p:cNvSpPr txBox="1"/>
          <p:nvPr/>
        </p:nvSpPr>
        <p:spPr>
          <a:xfrm>
            <a:off x="8275320" y="2816352"/>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Cientos o miles de chips idénticos</a:t>
            </a:r>
            <a:endParaRPr b="0" i="0" sz="1000" u="none" cap="none" strike="noStrike">
              <a:solidFill>
                <a:schemeClr val="dk1"/>
              </a:solidFill>
              <a:latin typeface="Calibri"/>
              <a:ea typeface="Calibri"/>
              <a:cs typeface="Calibri"/>
              <a:sym typeface="Calibri"/>
            </a:endParaRPr>
          </a:p>
        </p:txBody>
      </p:sp>
      <p:sp>
        <p:nvSpPr>
          <p:cNvPr id="305" name="Google Shape;305;p9"/>
          <p:cNvSpPr/>
          <p:nvPr/>
        </p:nvSpPr>
        <p:spPr>
          <a:xfrm>
            <a:off x="8092440" y="3346704"/>
            <a:ext cx="3246120" cy="694944"/>
          </a:xfrm>
          <a:prstGeom prst="roundRect">
            <a:avLst>
              <a:gd fmla="val 13158"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txBox="1"/>
          <p:nvPr/>
        </p:nvSpPr>
        <p:spPr>
          <a:xfrm>
            <a:off x="8275320" y="340156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Chip (die)</a:t>
            </a:r>
            <a:endParaRPr b="0" i="0" sz="1200" u="none" cap="none" strike="noStrike">
              <a:solidFill>
                <a:schemeClr val="dk1"/>
              </a:solidFill>
              <a:latin typeface="Calibri"/>
              <a:ea typeface="Calibri"/>
              <a:cs typeface="Calibri"/>
              <a:sym typeface="Calibri"/>
            </a:endParaRPr>
          </a:p>
        </p:txBody>
      </p:sp>
      <p:sp>
        <p:nvSpPr>
          <p:cNvPr id="307" name="Google Shape;307;p9"/>
          <p:cNvSpPr txBox="1"/>
          <p:nvPr/>
        </p:nvSpPr>
        <p:spPr>
          <a:xfrm>
            <a:off x="8275320" y="367588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Típicamente de 1 a 20 mm por lado</a:t>
            </a:r>
            <a:endParaRPr b="0" i="0" sz="1000" u="none" cap="none" strike="noStrike">
              <a:solidFill>
                <a:schemeClr val="dk1"/>
              </a:solidFill>
              <a:latin typeface="Calibri"/>
              <a:ea typeface="Calibri"/>
              <a:cs typeface="Calibri"/>
              <a:sym typeface="Calibri"/>
            </a:endParaRPr>
          </a:p>
        </p:txBody>
      </p:sp>
      <p:sp>
        <p:nvSpPr>
          <p:cNvPr id="308" name="Google Shape;308;p9"/>
          <p:cNvSpPr/>
          <p:nvPr/>
        </p:nvSpPr>
        <p:spPr>
          <a:xfrm>
            <a:off x="8092440" y="4206240"/>
            <a:ext cx="3246120" cy="694944"/>
          </a:xfrm>
          <a:prstGeom prst="roundRect">
            <a:avLst>
              <a:gd fmla="val 13158"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txBox="1"/>
          <p:nvPr/>
        </p:nvSpPr>
        <p:spPr>
          <a:xfrm>
            <a:off x="8275320" y="4261104"/>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Dispositivo</a:t>
            </a:r>
            <a:endParaRPr b="0" i="0" sz="1200" u="none" cap="none" strike="noStrike">
              <a:solidFill>
                <a:schemeClr val="dk1"/>
              </a:solidFill>
              <a:latin typeface="Calibri"/>
              <a:ea typeface="Calibri"/>
              <a:cs typeface="Calibri"/>
              <a:sym typeface="Calibri"/>
            </a:endParaRPr>
          </a:p>
        </p:txBody>
      </p:sp>
      <p:sp>
        <p:nvSpPr>
          <p:cNvPr id="310" name="Google Shape;310;p9"/>
          <p:cNvSpPr txBox="1"/>
          <p:nvPr/>
        </p:nvSpPr>
        <p:spPr>
          <a:xfrm>
            <a:off x="8275320" y="4535424"/>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MOSFET o transistor bipolar individual</a:t>
            </a:r>
            <a:endParaRPr b="0" i="0" sz="1000" u="none" cap="none" strike="noStrike">
              <a:solidFill>
                <a:schemeClr val="dk1"/>
              </a:solidFill>
              <a:latin typeface="Calibri"/>
              <a:ea typeface="Calibri"/>
              <a:cs typeface="Calibri"/>
              <a:sym typeface="Calibri"/>
            </a:endParaRPr>
          </a:p>
        </p:txBody>
      </p:sp>
      <p:sp>
        <p:nvSpPr>
          <p:cNvPr id="311" name="Google Shape;311;p9"/>
          <p:cNvSpPr/>
          <p:nvPr/>
        </p:nvSpPr>
        <p:spPr>
          <a:xfrm>
            <a:off x="7818120" y="5358384"/>
            <a:ext cx="3776472" cy="749808"/>
          </a:xfrm>
          <a:prstGeom prst="roundRect">
            <a:avLst>
              <a:gd fmla="val 14634"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txBox="1"/>
          <p:nvPr/>
        </p:nvSpPr>
        <p:spPr>
          <a:xfrm>
            <a:off x="8046720" y="5358384"/>
            <a:ext cx="33375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1" lang="en-US" sz="1100" u="none" cap="none" strike="noStrike">
                <a:solidFill>
                  <a:srgbClr val="1E2761"/>
                </a:solidFill>
                <a:latin typeface="Calibri"/>
                <a:ea typeface="Calibri"/>
                <a:cs typeface="Calibri"/>
                <a:sym typeface="Calibri"/>
              </a:rPr>
              <a:t>Basta que falle una sola operación de la secuencia para inutilizar la oblea completa.</a:t>
            </a:r>
            <a:endParaRPr b="0" i="0" sz="1100" u="none" cap="none" strike="noStrike">
              <a:solidFill>
                <a:schemeClr val="dk1"/>
              </a:solidFill>
              <a:latin typeface="Calibri"/>
              <a:ea typeface="Calibri"/>
              <a:cs typeface="Calibri"/>
              <a:sym typeface="Calibri"/>
            </a:endParaRPr>
          </a:p>
        </p:txBody>
      </p:sp>
      <p:sp>
        <p:nvSpPr>
          <p:cNvPr id="313" name="Google Shape;313;p9"/>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314" name="Google Shape;314;p9"/>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315" name="Google Shape;315;p9"/>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321" name="Shape 321"/>
        <p:cNvGrpSpPr/>
        <p:nvPr/>
      </p:nvGrpSpPr>
      <p:grpSpPr>
        <a:xfrm>
          <a:off x="0" y="0"/>
          <a:ext cx="0" cy="0"/>
          <a:chOff x="0" y="0"/>
          <a:chExt cx="0" cy="0"/>
        </a:xfrm>
      </p:grpSpPr>
      <p:sp>
        <p:nvSpPr>
          <p:cNvPr id="322" name="Google Shape;322;p10"/>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Hitos tecnológicos de la microelectrónica</a:t>
            </a:r>
            <a:endParaRPr b="0" i="0" sz="2700" u="none" cap="none" strike="noStrike">
              <a:solidFill>
                <a:schemeClr val="dk1"/>
              </a:solidFill>
              <a:latin typeface="Calibri"/>
              <a:ea typeface="Calibri"/>
              <a:cs typeface="Calibri"/>
              <a:sym typeface="Calibri"/>
            </a:endParaRPr>
          </a:p>
        </p:txBody>
      </p:sp>
      <p:sp>
        <p:nvSpPr>
          <p:cNvPr id="323" name="Google Shape;323;p10"/>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Tecnologías clave aplicadas por primera vez a la fabricación de semiconductores</a:t>
            </a:r>
            <a:endParaRPr b="0" i="0" sz="1250" u="none" cap="none" strike="noStrike">
              <a:solidFill>
                <a:schemeClr val="dk1"/>
              </a:solidFill>
              <a:latin typeface="Calibri"/>
              <a:ea typeface="Calibri"/>
              <a:cs typeface="Calibri"/>
              <a:sym typeface="Calibri"/>
            </a:endParaRPr>
          </a:p>
        </p:txBody>
      </p:sp>
      <p:sp>
        <p:nvSpPr>
          <p:cNvPr id="324" name="Google Shape;324;p10"/>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0</a:t>
            </a:r>
            <a:endParaRPr b="0" i="0" sz="950" u="none" cap="none" strike="noStrike">
              <a:solidFill>
                <a:schemeClr val="dk1"/>
              </a:solidFill>
              <a:latin typeface="Calibri"/>
              <a:ea typeface="Calibri"/>
              <a:cs typeface="Calibri"/>
              <a:sym typeface="Calibri"/>
            </a:endParaRPr>
          </a:p>
        </p:txBody>
      </p:sp>
      <p:sp>
        <p:nvSpPr>
          <p:cNvPr id="326" name="Google Shape;326;p10"/>
          <p:cNvSpPr/>
          <p:nvPr/>
        </p:nvSpPr>
        <p:spPr>
          <a:xfrm>
            <a:off x="566928" y="162763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txBox="1"/>
          <p:nvPr/>
        </p:nvSpPr>
        <p:spPr>
          <a:xfrm>
            <a:off x="749808" y="162763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1957</a:t>
            </a:r>
            <a:endParaRPr b="0" i="0" sz="1150" u="none" cap="none" strike="noStrike">
              <a:solidFill>
                <a:schemeClr val="dk1"/>
              </a:solidFill>
              <a:latin typeface="Calibri"/>
              <a:ea typeface="Calibri"/>
              <a:cs typeface="Calibri"/>
              <a:sym typeface="Calibri"/>
            </a:endParaRPr>
          </a:p>
        </p:txBody>
      </p:sp>
      <p:sp>
        <p:nvSpPr>
          <p:cNvPr id="328" name="Google Shape;328;p10"/>
          <p:cNvSpPr txBox="1"/>
          <p:nvPr/>
        </p:nvSpPr>
        <p:spPr>
          <a:xfrm>
            <a:off x="1481328" y="162763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Fotorresina litográfica</a:t>
            </a:r>
            <a:endParaRPr b="0" i="0" sz="1100" u="none" cap="none" strike="noStrike">
              <a:solidFill>
                <a:schemeClr val="dk1"/>
              </a:solidFill>
              <a:latin typeface="Calibri"/>
              <a:ea typeface="Calibri"/>
              <a:cs typeface="Calibri"/>
              <a:sym typeface="Calibri"/>
            </a:endParaRPr>
          </a:p>
        </p:txBody>
      </p:sp>
      <p:sp>
        <p:nvSpPr>
          <p:cNvPr id="329" name="Google Shape;329;p10"/>
          <p:cNvSpPr txBox="1"/>
          <p:nvPr/>
        </p:nvSpPr>
        <p:spPr>
          <a:xfrm>
            <a:off x="4270248" y="162763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Andrus</a:t>
            </a:r>
            <a:endParaRPr b="0" i="0" sz="950" u="none" cap="none" strike="noStrike">
              <a:solidFill>
                <a:schemeClr val="dk1"/>
              </a:solidFill>
              <a:latin typeface="Calibri"/>
              <a:ea typeface="Calibri"/>
              <a:cs typeface="Calibri"/>
              <a:sym typeface="Calibri"/>
            </a:endParaRPr>
          </a:p>
        </p:txBody>
      </p:sp>
      <p:sp>
        <p:nvSpPr>
          <p:cNvPr id="330" name="Google Shape;330;p10"/>
          <p:cNvSpPr/>
          <p:nvPr/>
        </p:nvSpPr>
        <p:spPr>
          <a:xfrm>
            <a:off x="566928" y="213055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txBox="1"/>
          <p:nvPr/>
        </p:nvSpPr>
        <p:spPr>
          <a:xfrm>
            <a:off x="749808" y="213055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1957</a:t>
            </a:r>
            <a:endParaRPr b="0" i="0" sz="1150" u="none" cap="none" strike="noStrike">
              <a:solidFill>
                <a:schemeClr val="dk1"/>
              </a:solidFill>
              <a:latin typeface="Calibri"/>
              <a:ea typeface="Calibri"/>
              <a:cs typeface="Calibri"/>
              <a:sym typeface="Calibri"/>
            </a:endParaRPr>
          </a:p>
        </p:txBody>
      </p:sp>
      <p:sp>
        <p:nvSpPr>
          <p:cNvPr id="332" name="Google Shape;332;p10"/>
          <p:cNvSpPr txBox="1"/>
          <p:nvPr/>
        </p:nvSpPr>
        <p:spPr>
          <a:xfrm>
            <a:off x="1481328" y="213055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Enmascaramiento con óxido</a:t>
            </a:r>
            <a:endParaRPr b="0" i="0" sz="1100" u="none" cap="none" strike="noStrike">
              <a:solidFill>
                <a:schemeClr val="dk1"/>
              </a:solidFill>
              <a:latin typeface="Calibri"/>
              <a:ea typeface="Calibri"/>
              <a:cs typeface="Calibri"/>
              <a:sym typeface="Calibri"/>
            </a:endParaRPr>
          </a:p>
        </p:txBody>
      </p:sp>
      <p:sp>
        <p:nvSpPr>
          <p:cNvPr id="333" name="Google Shape;333;p10"/>
          <p:cNvSpPr txBox="1"/>
          <p:nvPr/>
        </p:nvSpPr>
        <p:spPr>
          <a:xfrm>
            <a:off x="4270248" y="213055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Frosch y Derick</a:t>
            </a:r>
            <a:endParaRPr b="0" i="0" sz="950" u="none" cap="none" strike="noStrike">
              <a:solidFill>
                <a:schemeClr val="dk1"/>
              </a:solidFill>
              <a:latin typeface="Calibri"/>
              <a:ea typeface="Calibri"/>
              <a:cs typeface="Calibri"/>
              <a:sym typeface="Calibri"/>
            </a:endParaRPr>
          </a:p>
        </p:txBody>
      </p:sp>
      <p:sp>
        <p:nvSpPr>
          <p:cNvPr id="334" name="Google Shape;334;p10"/>
          <p:cNvSpPr/>
          <p:nvPr/>
        </p:nvSpPr>
        <p:spPr>
          <a:xfrm>
            <a:off x="566928" y="263347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0"/>
          <p:cNvSpPr txBox="1"/>
          <p:nvPr/>
        </p:nvSpPr>
        <p:spPr>
          <a:xfrm>
            <a:off x="749808" y="263347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1957</a:t>
            </a:r>
            <a:endParaRPr b="0" i="0" sz="1150" u="none" cap="none" strike="noStrike">
              <a:solidFill>
                <a:schemeClr val="dk1"/>
              </a:solidFill>
              <a:latin typeface="Calibri"/>
              <a:ea typeface="Calibri"/>
              <a:cs typeface="Calibri"/>
              <a:sym typeface="Calibri"/>
            </a:endParaRPr>
          </a:p>
        </p:txBody>
      </p:sp>
      <p:sp>
        <p:nvSpPr>
          <p:cNvPr id="336" name="Google Shape;336;p10"/>
          <p:cNvSpPr txBox="1"/>
          <p:nvPr/>
        </p:nvSpPr>
        <p:spPr>
          <a:xfrm>
            <a:off x="1481328" y="263347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Crecimiento epitaxial por CVD</a:t>
            </a:r>
            <a:endParaRPr b="0" i="0" sz="1100" u="none" cap="none" strike="noStrike">
              <a:solidFill>
                <a:schemeClr val="dk1"/>
              </a:solidFill>
              <a:latin typeface="Calibri"/>
              <a:ea typeface="Calibri"/>
              <a:cs typeface="Calibri"/>
              <a:sym typeface="Calibri"/>
            </a:endParaRPr>
          </a:p>
        </p:txBody>
      </p:sp>
      <p:sp>
        <p:nvSpPr>
          <p:cNvPr id="337" name="Google Shape;337;p10"/>
          <p:cNvSpPr txBox="1"/>
          <p:nvPr/>
        </p:nvSpPr>
        <p:spPr>
          <a:xfrm>
            <a:off x="4270248" y="263347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Sheftal y col.</a:t>
            </a:r>
            <a:endParaRPr b="0" i="0" sz="950" u="none" cap="none" strike="noStrike">
              <a:solidFill>
                <a:schemeClr val="dk1"/>
              </a:solidFill>
              <a:latin typeface="Calibri"/>
              <a:ea typeface="Calibri"/>
              <a:cs typeface="Calibri"/>
              <a:sym typeface="Calibri"/>
            </a:endParaRPr>
          </a:p>
        </p:txBody>
      </p:sp>
      <p:sp>
        <p:nvSpPr>
          <p:cNvPr id="338" name="Google Shape;338;p10"/>
          <p:cNvSpPr/>
          <p:nvPr/>
        </p:nvSpPr>
        <p:spPr>
          <a:xfrm>
            <a:off x="566928" y="313639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txBox="1"/>
          <p:nvPr/>
        </p:nvSpPr>
        <p:spPr>
          <a:xfrm>
            <a:off x="749808" y="313639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1958</a:t>
            </a:r>
            <a:endParaRPr b="0" i="0" sz="1150" u="none" cap="none" strike="noStrike">
              <a:solidFill>
                <a:schemeClr val="dk1"/>
              </a:solidFill>
              <a:latin typeface="Calibri"/>
              <a:ea typeface="Calibri"/>
              <a:cs typeface="Calibri"/>
              <a:sym typeface="Calibri"/>
            </a:endParaRPr>
          </a:p>
        </p:txBody>
      </p:sp>
      <p:sp>
        <p:nvSpPr>
          <p:cNvPr id="340" name="Google Shape;340;p10"/>
          <p:cNvSpPr txBox="1"/>
          <p:nvPr/>
        </p:nvSpPr>
        <p:spPr>
          <a:xfrm>
            <a:off x="1481328" y="313639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Implantación iónica</a:t>
            </a:r>
            <a:endParaRPr b="0" i="0" sz="1100" u="none" cap="none" strike="noStrike">
              <a:solidFill>
                <a:schemeClr val="dk1"/>
              </a:solidFill>
              <a:latin typeface="Calibri"/>
              <a:ea typeface="Calibri"/>
              <a:cs typeface="Calibri"/>
              <a:sym typeface="Calibri"/>
            </a:endParaRPr>
          </a:p>
        </p:txBody>
      </p:sp>
      <p:sp>
        <p:nvSpPr>
          <p:cNvPr id="341" name="Google Shape;341;p10"/>
          <p:cNvSpPr txBox="1"/>
          <p:nvPr/>
        </p:nvSpPr>
        <p:spPr>
          <a:xfrm>
            <a:off x="4270248" y="313639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Shockley</a:t>
            </a:r>
            <a:endParaRPr b="0" i="0" sz="950" u="none" cap="none" strike="noStrike">
              <a:solidFill>
                <a:schemeClr val="dk1"/>
              </a:solidFill>
              <a:latin typeface="Calibri"/>
              <a:ea typeface="Calibri"/>
              <a:cs typeface="Calibri"/>
              <a:sym typeface="Calibri"/>
            </a:endParaRPr>
          </a:p>
        </p:txBody>
      </p:sp>
      <p:sp>
        <p:nvSpPr>
          <p:cNvPr id="342" name="Google Shape;342;p10"/>
          <p:cNvSpPr/>
          <p:nvPr/>
        </p:nvSpPr>
        <p:spPr>
          <a:xfrm>
            <a:off x="566928" y="3639312"/>
            <a:ext cx="5394960" cy="438912"/>
          </a:xfrm>
          <a:prstGeom prst="roundRect">
            <a:avLst>
              <a:gd fmla="val 16667"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0"/>
          <p:cNvSpPr txBox="1"/>
          <p:nvPr/>
        </p:nvSpPr>
        <p:spPr>
          <a:xfrm>
            <a:off x="749808" y="363931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1959</a:t>
            </a:r>
            <a:endParaRPr b="0" i="0" sz="1150" u="none" cap="none" strike="noStrike">
              <a:solidFill>
                <a:schemeClr val="dk1"/>
              </a:solidFill>
              <a:latin typeface="Calibri"/>
              <a:ea typeface="Calibri"/>
              <a:cs typeface="Calibri"/>
              <a:sym typeface="Calibri"/>
            </a:endParaRPr>
          </a:p>
        </p:txBody>
      </p:sp>
      <p:sp>
        <p:nvSpPr>
          <p:cNvPr id="344" name="Google Shape;344;p10"/>
          <p:cNvSpPr txBox="1"/>
          <p:nvPr/>
        </p:nvSpPr>
        <p:spPr>
          <a:xfrm>
            <a:off x="1481328" y="363931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Circuito integrado híbrido</a:t>
            </a:r>
            <a:endParaRPr b="0" i="0" sz="1100" u="none" cap="none" strike="noStrike">
              <a:solidFill>
                <a:schemeClr val="dk1"/>
              </a:solidFill>
              <a:latin typeface="Calibri"/>
              <a:ea typeface="Calibri"/>
              <a:cs typeface="Calibri"/>
              <a:sym typeface="Calibri"/>
            </a:endParaRPr>
          </a:p>
        </p:txBody>
      </p:sp>
      <p:sp>
        <p:nvSpPr>
          <p:cNvPr id="345" name="Google Shape;345;p10"/>
          <p:cNvSpPr txBox="1"/>
          <p:nvPr/>
        </p:nvSpPr>
        <p:spPr>
          <a:xfrm>
            <a:off x="4270248" y="363931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Kilby</a:t>
            </a:r>
            <a:endParaRPr b="0" i="0" sz="950" u="none" cap="none" strike="noStrike">
              <a:solidFill>
                <a:schemeClr val="dk1"/>
              </a:solidFill>
              <a:latin typeface="Calibri"/>
              <a:ea typeface="Calibri"/>
              <a:cs typeface="Calibri"/>
              <a:sym typeface="Calibri"/>
            </a:endParaRPr>
          </a:p>
        </p:txBody>
      </p:sp>
      <p:sp>
        <p:nvSpPr>
          <p:cNvPr id="346" name="Google Shape;346;p10"/>
          <p:cNvSpPr/>
          <p:nvPr/>
        </p:nvSpPr>
        <p:spPr>
          <a:xfrm>
            <a:off x="566928" y="4142232"/>
            <a:ext cx="5394960" cy="438912"/>
          </a:xfrm>
          <a:prstGeom prst="roundRect">
            <a:avLst>
              <a:gd fmla="val 16667"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txBox="1"/>
          <p:nvPr/>
        </p:nvSpPr>
        <p:spPr>
          <a:xfrm>
            <a:off x="749808" y="414223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1959</a:t>
            </a:r>
            <a:endParaRPr b="0" i="0" sz="1150" u="none" cap="none" strike="noStrike">
              <a:solidFill>
                <a:schemeClr val="dk1"/>
              </a:solidFill>
              <a:latin typeface="Calibri"/>
              <a:ea typeface="Calibri"/>
              <a:cs typeface="Calibri"/>
              <a:sym typeface="Calibri"/>
            </a:endParaRPr>
          </a:p>
        </p:txBody>
      </p:sp>
      <p:sp>
        <p:nvSpPr>
          <p:cNvPr id="348" name="Google Shape;348;p10"/>
          <p:cNvSpPr txBox="1"/>
          <p:nvPr/>
        </p:nvSpPr>
        <p:spPr>
          <a:xfrm>
            <a:off x="1481328" y="414223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Circuito integrado monolítico</a:t>
            </a:r>
            <a:endParaRPr b="0" i="0" sz="1100" u="none" cap="none" strike="noStrike">
              <a:solidFill>
                <a:schemeClr val="dk1"/>
              </a:solidFill>
              <a:latin typeface="Calibri"/>
              <a:ea typeface="Calibri"/>
              <a:cs typeface="Calibri"/>
              <a:sym typeface="Calibri"/>
            </a:endParaRPr>
          </a:p>
        </p:txBody>
      </p:sp>
      <p:sp>
        <p:nvSpPr>
          <p:cNvPr id="349" name="Google Shape;349;p10"/>
          <p:cNvSpPr txBox="1"/>
          <p:nvPr/>
        </p:nvSpPr>
        <p:spPr>
          <a:xfrm>
            <a:off x="4270248" y="414223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Noyce</a:t>
            </a:r>
            <a:endParaRPr b="0" i="0" sz="950" u="none" cap="none" strike="noStrike">
              <a:solidFill>
                <a:schemeClr val="dk1"/>
              </a:solidFill>
              <a:latin typeface="Calibri"/>
              <a:ea typeface="Calibri"/>
              <a:cs typeface="Calibri"/>
              <a:sym typeface="Calibri"/>
            </a:endParaRPr>
          </a:p>
        </p:txBody>
      </p:sp>
      <p:sp>
        <p:nvSpPr>
          <p:cNvPr id="350" name="Google Shape;350;p10"/>
          <p:cNvSpPr/>
          <p:nvPr/>
        </p:nvSpPr>
        <p:spPr>
          <a:xfrm>
            <a:off x="566928" y="4645152"/>
            <a:ext cx="5394960" cy="438912"/>
          </a:xfrm>
          <a:prstGeom prst="roundRect">
            <a:avLst>
              <a:gd fmla="val 16667"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txBox="1"/>
          <p:nvPr/>
        </p:nvSpPr>
        <p:spPr>
          <a:xfrm>
            <a:off x="749808" y="464515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1960</a:t>
            </a:r>
            <a:endParaRPr b="0" i="0" sz="1150" u="none" cap="none" strike="noStrike">
              <a:solidFill>
                <a:schemeClr val="dk1"/>
              </a:solidFill>
              <a:latin typeface="Calibri"/>
              <a:ea typeface="Calibri"/>
              <a:cs typeface="Calibri"/>
              <a:sym typeface="Calibri"/>
            </a:endParaRPr>
          </a:p>
        </p:txBody>
      </p:sp>
      <p:sp>
        <p:nvSpPr>
          <p:cNvPr id="352" name="Google Shape;352;p10"/>
          <p:cNvSpPr txBox="1"/>
          <p:nvPr/>
        </p:nvSpPr>
        <p:spPr>
          <a:xfrm>
            <a:off x="1481328" y="464515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Proceso planar</a:t>
            </a:r>
            <a:endParaRPr b="0" i="0" sz="1100" u="none" cap="none" strike="noStrike">
              <a:solidFill>
                <a:schemeClr val="dk1"/>
              </a:solidFill>
              <a:latin typeface="Calibri"/>
              <a:ea typeface="Calibri"/>
              <a:cs typeface="Calibri"/>
              <a:sym typeface="Calibri"/>
            </a:endParaRPr>
          </a:p>
        </p:txBody>
      </p:sp>
      <p:sp>
        <p:nvSpPr>
          <p:cNvPr id="353" name="Google Shape;353;p10"/>
          <p:cNvSpPr txBox="1"/>
          <p:nvPr/>
        </p:nvSpPr>
        <p:spPr>
          <a:xfrm>
            <a:off x="4270248" y="464515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Hoerni</a:t>
            </a:r>
            <a:endParaRPr b="0" i="0" sz="950" u="none" cap="none" strike="noStrike">
              <a:solidFill>
                <a:schemeClr val="dk1"/>
              </a:solidFill>
              <a:latin typeface="Calibri"/>
              <a:ea typeface="Calibri"/>
              <a:cs typeface="Calibri"/>
              <a:sym typeface="Calibri"/>
            </a:endParaRPr>
          </a:p>
        </p:txBody>
      </p:sp>
      <p:sp>
        <p:nvSpPr>
          <p:cNvPr id="354" name="Google Shape;354;p10"/>
          <p:cNvSpPr/>
          <p:nvPr/>
        </p:nvSpPr>
        <p:spPr>
          <a:xfrm>
            <a:off x="566928" y="5148072"/>
            <a:ext cx="5394960" cy="438912"/>
          </a:xfrm>
          <a:prstGeom prst="roundRect">
            <a:avLst>
              <a:gd fmla="val 16667"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txBox="1"/>
          <p:nvPr/>
        </p:nvSpPr>
        <p:spPr>
          <a:xfrm>
            <a:off x="749808" y="514807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1963</a:t>
            </a:r>
            <a:endParaRPr b="0" i="0" sz="1150" u="none" cap="none" strike="noStrike">
              <a:solidFill>
                <a:schemeClr val="dk1"/>
              </a:solidFill>
              <a:latin typeface="Calibri"/>
              <a:ea typeface="Calibri"/>
              <a:cs typeface="Calibri"/>
              <a:sym typeface="Calibri"/>
            </a:endParaRPr>
          </a:p>
        </p:txBody>
      </p:sp>
      <p:sp>
        <p:nvSpPr>
          <p:cNvPr id="356" name="Google Shape;356;p10"/>
          <p:cNvSpPr txBox="1"/>
          <p:nvPr/>
        </p:nvSpPr>
        <p:spPr>
          <a:xfrm>
            <a:off x="1481328" y="514807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CMOS</a:t>
            </a:r>
            <a:endParaRPr b="0" i="0" sz="1100" u="none" cap="none" strike="noStrike">
              <a:solidFill>
                <a:schemeClr val="dk1"/>
              </a:solidFill>
              <a:latin typeface="Calibri"/>
              <a:ea typeface="Calibri"/>
              <a:cs typeface="Calibri"/>
              <a:sym typeface="Calibri"/>
            </a:endParaRPr>
          </a:p>
        </p:txBody>
      </p:sp>
      <p:sp>
        <p:nvSpPr>
          <p:cNvPr id="357" name="Google Shape;357;p10"/>
          <p:cNvSpPr txBox="1"/>
          <p:nvPr/>
        </p:nvSpPr>
        <p:spPr>
          <a:xfrm>
            <a:off x="4270248" y="514807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Wanlass y Sah</a:t>
            </a:r>
            <a:endParaRPr b="0" i="0" sz="950" u="none" cap="none" strike="noStrike">
              <a:solidFill>
                <a:schemeClr val="dk1"/>
              </a:solidFill>
              <a:latin typeface="Calibri"/>
              <a:ea typeface="Calibri"/>
              <a:cs typeface="Calibri"/>
              <a:sym typeface="Calibri"/>
            </a:endParaRPr>
          </a:p>
        </p:txBody>
      </p:sp>
      <p:sp>
        <p:nvSpPr>
          <p:cNvPr id="358" name="Google Shape;358;p10"/>
          <p:cNvSpPr/>
          <p:nvPr/>
        </p:nvSpPr>
        <p:spPr>
          <a:xfrm>
            <a:off x="6144768" y="162763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txBox="1"/>
          <p:nvPr/>
        </p:nvSpPr>
        <p:spPr>
          <a:xfrm>
            <a:off x="6327648" y="162763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1967</a:t>
            </a:r>
            <a:endParaRPr b="0" i="0" sz="1150" u="none" cap="none" strike="noStrike">
              <a:solidFill>
                <a:schemeClr val="dk1"/>
              </a:solidFill>
              <a:latin typeface="Calibri"/>
              <a:ea typeface="Calibri"/>
              <a:cs typeface="Calibri"/>
              <a:sym typeface="Calibri"/>
            </a:endParaRPr>
          </a:p>
        </p:txBody>
      </p:sp>
      <p:sp>
        <p:nvSpPr>
          <p:cNvPr id="360" name="Google Shape;360;p10"/>
          <p:cNvSpPr txBox="1"/>
          <p:nvPr/>
        </p:nvSpPr>
        <p:spPr>
          <a:xfrm>
            <a:off x="7059168" y="162763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DRAM</a:t>
            </a:r>
            <a:endParaRPr b="0" i="0" sz="1100" u="none" cap="none" strike="noStrike">
              <a:solidFill>
                <a:schemeClr val="dk1"/>
              </a:solidFill>
              <a:latin typeface="Calibri"/>
              <a:ea typeface="Calibri"/>
              <a:cs typeface="Calibri"/>
              <a:sym typeface="Calibri"/>
            </a:endParaRPr>
          </a:p>
        </p:txBody>
      </p:sp>
      <p:sp>
        <p:nvSpPr>
          <p:cNvPr id="361" name="Google Shape;361;p10"/>
          <p:cNvSpPr txBox="1"/>
          <p:nvPr/>
        </p:nvSpPr>
        <p:spPr>
          <a:xfrm>
            <a:off x="9848088" y="162763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Dennard</a:t>
            </a:r>
            <a:endParaRPr b="0" i="0" sz="950" u="none" cap="none" strike="noStrike">
              <a:solidFill>
                <a:schemeClr val="dk1"/>
              </a:solidFill>
              <a:latin typeface="Calibri"/>
              <a:ea typeface="Calibri"/>
              <a:cs typeface="Calibri"/>
              <a:sym typeface="Calibri"/>
            </a:endParaRPr>
          </a:p>
        </p:txBody>
      </p:sp>
      <p:sp>
        <p:nvSpPr>
          <p:cNvPr id="362" name="Google Shape;362;p10"/>
          <p:cNvSpPr/>
          <p:nvPr/>
        </p:nvSpPr>
        <p:spPr>
          <a:xfrm>
            <a:off x="6144768" y="213055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
          <p:cNvSpPr txBox="1"/>
          <p:nvPr/>
        </p:nvSpPr>
        <p:spPr>
          <a:xfrm>
            <a:off x="6327648" y="213055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1969</a:t>
            </a:r>
            <a:endParaRPr b="0" i="0" sz="1150" u="none" cap="none" strike="noStrike">
              <a:solidFill>
                <a:schemeClr val="dk1"/>
              </a:solidFill>
              <a:latin typeface="Calibri"/>
              <a:ea typeface="Calibri"/>
              <a:cs typeface="Calibri"/>
              <a:sym typeface="Calibri"/>
            </a:endParaRPr>
          </a:p>
        </p:txBody>
      </p:sp>
      <p:sp>
        <p:nvSpPr>
          <p:cNvPr id="364" name="Google Shape;364;p10"/>
          <p:cNvSpPr txBox="1"/>
          <p:nvPr/>
        </p:nvSpPr>
        <p:spPr>
          <a:xfrm>
            <a:off x="7059168" y="213055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Puerta autoalineada de polisilicio</a:t>
            </a:r>
            <a:endParaRPr b="0" i="0" sz="1100" u="none" cap="none" strike="noStrike">
              <a:solidFill>
                <a:schemeClr val="dk1"/>
              </a:solidFill>
              <a:latin typeface="Calibri"/>
              <a:ea typeface="Calibri"/>
              <a:cs typeface="Calibri"/>
              <a:sym typeface="Calibri"/>
            </a:endParaRPr>
          </a:p>
        </p:txBody>
      </p:sp>
      <p:sp>
        <p:nvSpPr>
          <p:cNvPr id="365" name="Google Shape;365;p10"/>
          <p:cNvSpPr txBox="1"/>
          <p:nvPr/>
        </p:nvSpPr>
        <p:spPr>
          <a:xfrm>
            <a:off x="9848088" y="213055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Kerwin, Klein y Sarace</a:t>
            </a:r>
            <a:endParaRPr b="0" i="0" sz="950" u="none" cap="none" strike="noStrike">
              <a:solidFill>
                <a:schemeClr val="dk1"/>
              </a:solidFill>
              <a:latin typeface="Calibri"/>
              <a:ea typeface="Calibri"/>
              <a:cs typeface="Calibri"/>
              <a:sym typeface="Calibri"/>
            </a:endParaRPr>
          </a:p>
        </p:txBody>
      </p:sp>
      <p:sp>
        <p:nvSpPr>
          <p:cNvPr id="366" name="Google Shape;366;p10"/>
          <p:cNvSpPr/>
          <p:nvPr/>
        </p:nvSpPr>
        <p:spPr>
          <a:xfrm>
            <a:off x="6144768" y="263347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txBox="1"/>
          <p:nvPr/>
        </p:nvSpPr>
        <p:spPr>
          <a:xfrm>
            <a:off x="6327648" y="263347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1971</a:t>
            </a:r>
            <a:endParaRPr b="0" i="0" sz="1150" u="none" cap="none" strike="noStrike">
              <a:solidFill>
                <a:schemeClr val="dk1"/>
              </a:solidFill>
              <a:latin typeface="Calibri"/>
              <a:ea typeface="Calibri"/>
              <a:cs typeface="Calibri"/>
              <a:sym typeface="Calibri"/>
            </a:endParaRPr>
          </a:p>
        </p:txBody>
      </p:sp>
      <p:sp>
        <p:nvSpPr>
          <p:cNvPr id="368" name="Google Shape;368;p10"/>
          <p:cNvSpPr txBox="1"/>
          <p:nvPr/>
        </p:nvSpPr>
        <p:spPr>
          <a:xfrm>
            <a:off x="7059168" y="263347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Grabado seco (dry etching)</a:t>
            </a:r>
            <a:endParaRPr b="0" i="0" sz="1100" u="none" cap="none" strike="noStrike">
              <a:solidFill>
                <a:schemeClr val="dk1"/>
              </a:solidFill>
              <a:latin typeface="Calibri"/>
              <a:ea typeface="Calibri"/>
              <a:cs typeface="Calibri"/>
              <a:sym typeface="Calibri"/>
            </a:endParaRPr>
          </a:p>
        </p:txBody>
      </p:sp>
      <p:sp>
        <p:nvSpPr>
          <p:cNvPr id="369" name="Google Shape;369;p10"/>
          <p:cNvSpPr txBox="1"/>
          <p:nvPr/>
        </p:nvSpPr>
        <p:spPr>
          <a:xfrm>
            <a:off x="9848088" y="263347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Irving, Lemons y Bobos</a:t>
            </a:r>
            <a:endParaRPr b="0" i="0" sz="950" u="none" cap="none" strike="noStrike">
              <a:solidFill>
                <a:schemeClr val="dk1"/>
              </a:solidFill>
              <a:latin typeface="Calibri"/>
              <a:ea typeface="Calibri"/>
              <a:cs typeface="Calibri"/>
              <a:sym typeface="Calibri"/>
            </a:endParaRPr>
          </a:p>
        </p:txBody>
      </p:sp>
      <p:sp>
        <p:nvSpPr>
          <p:cNvPr id="370" name="Google Shape;370;p10"/>
          <p:cNvSpPr/>
          <p:nvPr/>
        </p:nvSpPr>
        <p:spPr>
          <a:xfrm>
            <a:off x="6144768" y="313639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txBox="1"/>
          <p:nvPr/>
        </p:nvSpPr>
        <p:spPr>
          <a:xfrm>
            <a:off x="6327648" y="313639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1971</a:t>
            </a:r>
            <a:endParaRPr b="0" i="0" sz="1150" u="none" cap="none" strike="noStrike">
              <a:solidFill>
                <a:schemeClr val="dk1"/>
              </a:solidFill>
              <a:latin typeface="Calibri"/>
              <a:ea typeface="Calibri"/>
              <a:cs typeface="Calibri"/>
              <a:sym typeface="Calibri"/>
            </a:endParaRPr>
          </a:p>
        </p:txBody>
      </p:sp>
      <p:sp>
        <p:nvSpPr>
          <p:cNvPr id="372" name="Google Shape;372;p10"/>
          <p:cNvSpPr txBox="1"/>
          <p:nvPr/>
        </p:nvSpPr>
        <p:spPr>
          <a:xfrm>
            <a:off x="7059168" y="313639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Microprocesador 4004</a:t>
            </a:r>
            <a:endParaRPr b="0" i="0" sz="1100" u="none" cap="none" strike="noStrike">
              <a:solidFill>
                <a:schemeClr val="dk1"/>
              </a:solidFill>
              <a:latin typeface="Calibri"/>
              <a:ea typeface="Calibri"/>
              <a:cs typeface="Calibri"/>
              <a:sym typeface="Calibri"/>
            </a:endParaRPr>
          </a:p>
        </p:txBody>
      </p:sp>
      <p:sp>
        <p:nvSpPr>
          <p:cNvPr id="373" name="Google Shape;373;p10"/>
          <p:cNvSpPr txBox="1"/>
          <p:nvPr/>
        </p:nvSpPr>
        <p:spPr>
          <a:xfrm>
            <a:off x="9848088" y="313639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Hoff y col.</a:t>
            </a:r>
            <a:endParaRPr b="0" i="0" sz="950" u="none" cap="none" strike="noStrike">
              <a:solidFill>
                <a:schemeClr val="dk1"/>
              </a:solidFill>
              <a:latin typeface="Calibri"/>
              <a:ea typeface="Calibri"/>
              <a:cs typeface="Calibri"/>
              <a:sym typeface="Calibri"/>
            </a:endParaRPr>
          </a:p>
        </p:txBody>
      </p:sp>
      <p:sp>
        <p:nvSpPr>
          <p:cNvPr id="374" name="Google Shape;374;p10"/>
          <p:cNvSpPr/>
          <p:nvPr/>
        </p:nvSpPr>
        <p:spPr>
          <a:xfrm>
            <a:off x="6144768" y="363931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txBox="1"/>
          <p:nvPr/>
        </p:nvSpPr>
        <p:spPr>
          <a:xfrm>
            <a:off x="6327648" y="363931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1982</a:t>
            </a:r>
            <a:endParaRPr b="0" i="0" sz="1150" u="none" cap="none" strike="noStrike">
              <a:solidFill>
                <a:schemeClr val="dk1"/>
              </a:solidFill>
              <a:latin typeface="Calibri"/>
              <a:ea typeface="Calibri"/>
              <a:cs typeface="Calibri"/>
              <a:sym typeface="Calibri"/>
            </a:endParaRPr>
          </a:p>
        </p:txBody>
      </p:sp>
      <p:sp>
        <p:nvSpPr>
          <p:cNvPr id="376" name="Google Shape;376;p10"/>
          <p:cNvSpPr txBox="1"/>
          <p:nvPr/>
        </p:nvSpPr>
        <p:spPr>
          <a:xfrm>
            <a:off x="7059168" y="363931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Aislamiento por trinchera</a:t>
            </a:r>
            <a:endParaRPr b="0" i="0" sz="1100" u="none" cap="none" strike="noStrike">
              <a:solidFill>
                <a:schemeClr val="dk1"/>
              </a:solidFill>
              <a:latin typeface="Calibri"/>
              <a:ea typeface="Calibri"/>
              <a:cs typeface="Calibri"/>
              <a:sym typeface="Calibri"/>
            </a:endParaRPr>
          </a:p>
        </p:txBody>
      </p:sp>
      <p:sp>
        <p:nvSpPr>
          <p:cNvPr id="377" name="Google Shape;377;p10"/>
          <p:cNvSpPr txBox="1"/>
          <p:nvPr/>
        </p:nvSpPr>
        <p:spPr>
          <a:xfrm>
            <a:off x="9848088" y="363931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Rung, Momose y Nagakubo</a:t>
            </a:r>
            <a:endParaRPr b="0" i="0" sz="950" u="none" cap="none" strike="noStrike">
              <a:solidFill>
                <a:schemeClr val="dk1"/>
              </a:solidFill>
              <a:latin typeface="Calibri"/>
              <a:ea typeface="Calibri"/>
              <a:cs typeface="Calibri"/>
              <a:sym typeface="Calibri"/>
            </a:endParaRPr>
          </a:p>
        </p:txBody>
      </p:sp>
      <p:sp>
        <p:nvSpPr>
          <p:cNvPr id="378" name="Google Shape;378;p10"/>
          <p:cNvSpPr/>
          <p:nvPr/>
        </p:nvSpPr>
        <p:spPr>
          <a:xfrm>
            <a:off x="6144768" y="414223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txBox="1"/>
          <p:nvPr/>
        </p:nvSpPr>
        <p:spPr>
          <a:xfrm>
            <a:off x="6327648" y="414223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1993</a:t>
            </a:r>
            <a:endParaRPr b="0" i="0" sz="1150" u="none" cap="none" strike="noStrike">
              <a:solidFill>
                <a:schemeClr val="dk1"/>
              </a:solidFill>
              <a:latin typeface="Calibri"/>
              <a:ea typeface="Calibri"/>
              <a:cs typeface="Calibri"/>
              <a:sym typeface="Calibri"/>
            </a:endParaRPr>
          </a:p>
        </p:txBody>
      </p:sp>
      <p:sp>
        <p:nvSpPr>
          <p:cNvPr id="380" name="Google Shape;380;p10"/>
          <p:cNvSpPr txBox="1"/>
          <p:nvPr/>
        </p:nvSpPr>
        <p:spPr>
          <a:xfrm>
            <a:off x="7059168" y="414223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Interconexión de cobre</a:t>
            </a:r>
            <a:endParaRPr b="0" i="0" sz="1100" u="none" cap="none" strike="noStrike">
              <a:solidFill>
                <a:schemeClr val="dk1"/>
              </a:solidFill>
              <a:latin typeface="Calibri"/>
              <a:ea typeface="Calibri"/>
              <a:cs typeface="Calibri"/>
              <a:sym typeface="Calibri"/>
            </a:endParaRPr>
          </a:p>
        </p:txBody>
      </p:sp>
      <p:sp>
        <p:nvSpPr>
          <p:cNvPr id="381" name="Google Shape;381;p10"/>
          <p:cNvSpPr txBox="1"/>
          <p:nvPr/>
        </p:nvSpPr>
        <p:spPr>
          <a:xfrm>
            <a:off x="9848088" y="414223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Paraszczak y col.</a:t>
            </a:r>
            <a:endParaRPr b="0" i="0" sz="950" u="none" cap="none" strike="noStrike">
              <a:solidFill>
                <a:schemeClr val="dk1"/>
              </a:solidFill>
              <a:latin typeface="Calibri"/>
              <a:ea typeface="Calibri"/>
              <a:cs typeface="Calibri"/>
              <a:sym typeface="Calibri"/>
            </a:endParaRPr>
          </a:p>
        </p:txBody>
      </p:sp>
      <p:sp>
        <p:nvSpPr>
          <p:cNvPr id="382" name="Google Shape;382;p10"/>
          <p:cNvSpPr/>
          <p:nvPr/>
        </p:nvSpPr>
        <p:spPr>
          <a:xfrm>
            <a:off x="6144768" y="4645152"/>
            <a:ext cx="5394960" cy="438912"/>
          </a:xfrm>
          <a:prstGeom prst="roundRect">
            <a:avLst>
              <a:gd fmla="val 16667"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0"/>
          <p:cNvSpPr txBox="1"/>
          <p:nvPr/>
        </p:nvSpPr>
        <p:spPr>
          <a:xfrm>
            <a:off x="6327648" y="4645152"/>
            <a:ext cx="685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2003</a:t>
            </a:r>
            <a:endParaRPr b="0" i="0" sz="1150" u="none" cap="none" strike="noStrike">
              <a:solidFill>
                <a:schemeClr val="dk1"/>
              </a:solidFill>
              <a:latin typeface="Calibri"/>
              <a:ea typeface="Calibri"/>
              <a:cs typeface="Calibri"/>
              <a:sym typeface="Calibri"/>
            </a:endParaRPr>
          </a:p>
        </p:txBody>
      </p:sp>
      <p:sp>
        <p:nvSpPr>
          <p:cNvPr id="384" name="Google Shape;384;p10"/>
          <p:cNvSpPr txBox="1"/>
          <p:nvPr/>
        </p:nvSpPr>
        <p:spPr>
          <a:xfrm>
            <a:off x="7059168" y="4645152"/>
            <a:ext cx="2788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Litografía de inmersión</a:t>
            </a:r>
            <a:endParaRPr b="0" i="0" sz="1100" u="none" cap="none" strike="noStrike">
              <a:solidFill>
                <a:schemeClr val="dk1"/>
              </a:solidFill>
              <a:latin typeface="Calibri"/>
              <a:ea typeface="Calibri"/>
              <a:cs typeface="Calibri"/>
              <a:sym typeface="Calibri"/>
            </a:endParaRPr>
          </a:p>
        </p:txBody>
      </p:sp>
      <p:sp>
        <p:nvSpPr>
          <p:cNvPr id="385" name="Google Shape;385;p10"/>
          <p:cNvSpPr txBox="1"/>
          <p:nvPr/>
        </p:nvSpPr>
        <p:spPr>
          <a:xfrm>
            <a:off x="9848088" y="4645152"/>
            <a:ext cx="160020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Owa y Nagasaka</a:t>
            </a:r>
            <a:endParaRPr b="0" i="0" sz="950" u="none" cap="none" strike="noStrike">
              <a:solidFill>
                <a:schemeClr val="dk1"/>
              </a:solidFill>
              <a:latin typeface="Calibri"/>
              <a:ea typeface="Calibri"/>
              <a:cs typeface="Calibri"/>
              <a:sym typeface="Calibri"/>
            </a:endParaRPr>
          </a:p>
        </p:txBody>
      </p:sp>
      <p:sp>
        <p:nvSpPr>
          <p:cNvPr id="386" name="Google Shape;386;p10"/>
          <p:cNvSpPr txBox="1"/>
          <p:nvPr/>
        </p:nvSpPr>
        <p:spPr>
          <a:xfrm>
            <a:off x="6144768" y="5157216"/>
            <a:ext cx="5394960" cy="45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A6172"/>
              </a:buClr>
              <a:buSzPts val="1050"/>
              <a:buFont typeface="Calibri"/>
              <a:buNone/>
            </a:pPr>
            <a:r>
              <a:rPr b="0" i="1" lang="en-US" sz="1050" u="none" cap="none" strike="noStrike">
                <a:solidFill>
                  <a:srgbClr val="5A6172"/>
                </a:solidFill>
                <a:latin typeface="Calibri"/>
                <a:ea typeface="Calibri"/>
                <a:cs typeface="Calibri"/>
                <a:sym typeface="Calibri"/>
              </a:rPr>
              <a:t>En apenas cuatro años (1957–1960) aparecen la fotorresina, la máscara de óxido, la epitaxia, la implantación iónica, el CI y el proceso planar.</a:t>
            </a:r>
            <a:endParaRPr b="0" i="0" sz="1050" u="none" cap="none" strike="noStrike">
              <a:solidFill>
                <a:schemeClr val="dk1"/>
              </a:solidFill>
              <a:latin typeface="Calibri"/>
              <a:ea typeface="Calibri"/>
              <a:cs typeface="Calibri"/>
              <a:sym typeface="Calibri"/>
            </a:endParaRPr>
          </a:p>
        </p:txBody>
      </p:sp>
      <p:sp>
        <p:nvSpPr>
          <p:cNvPr id="387" name="Google Shape;387;p10"/>
          <p:cNvSpPr/>
          <p:nvPr/>
        </p:nvSpPr>
        <p:spPr>
          <a:xfrm>
            <a:off x="6144768" y="5632704"/>
            <a:ext cx="5394960" cy="475488"/>
          </a:xfrm>
          <a:prstGeom prst="roundRect">
            <a:avLst>
              <a:gd fmla="val 1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txBox="1"/>
          <p:nvPr/>
        </p:nvSpPr>
        <p:spPr>
          <a:xfrm>
            <a:off x="6373368" y="5632704"/>
            <a:ext cx="4937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Hoy la litografía representa más del 35 % del costo de fabricación de un circuito integrado.</a:t>
            </a:r>
            <a:endParaRPr b="0" i="0" sz="1100" u="none" cap="none" strike="noStrike">
              <a:solidFill>
                <a:schemeClr val="dk1"/>
              </a:solidFill>
              <a:latin typeface="Calibri"/>
              <a:ea typeface="Calibri"/>
              <a:cs typeface="Calibri"/>
              <a:sym typeface="Calibri"/>
            </a:endParaRPr>
          </a:p>
        </p:txBody>
      </p:sp>
      <p:sp>
        <p:nvSpPr>
          <p:cNvPr id="389" name="Google Shape;389;p10"/>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390" name="Google Shape;390;p10"/>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0"/>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97" name="Shape 397"/>
        <p:cNvGrpSpPr/>
        <p:nvPr/>
      </p:nvGrpSpPr>
      <p:grpSpPr>
        <a:xfrm>
          <a:off x="0" y="0"/>
          <a:ext cx="0" cy="0"/>
          <a:chOff x="0" y="0"/>
          <a:chExt cx="0" cy="0"/>
        </a:xfrm>
      </p:grpSpPr>
      <p:sp>
        <p:nvSpPr>
          <p:cNvPr id="398" name="Google Shape;398;p11"/>
          <p:cNvSpPr/>
          <p:nvPr/>
        </p:nvSpPr>
        <p:spPr>
          <a:xfrm>
            <a:off x="566928" y="2395728"/>
            <a:ext cx="1152144" cy="1152144"/>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txBox="1"/>
          <p:nvPr/>
        </p:nvSpPr>
        <p:spPr>
          <a:xfrm>
            <a:off x="566928" y="2395728"/>
            <a:ext cx="1152144" cy="1152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II</a:t>
            </a:r>
            <a:endParaRPr b="0" i="0" sz="4000" u="none" cap="none" strike="noStrike">
              <a:solidFill>
                <a:schemeClr val="dk1"/>
              </a:solidFill>
              <a:latin typeface="Calibri"/>
              <a:ea typeface="Calibri"/>
              <a:cs typeface="Calibri"/>
              <a:sym typeface="Calibri"/>
            </a:endParaRPr>
          </a:p>
        </p:txBody>
      </p:sp>
      <p:sp>
        <p:nvSpPr>
          <p:cNvPr id="400" name="Google Shape;400;p11"/>
          <p:cNvSpPr txBox="1"/>
          <p:nvPr/>
        </p:nvSpPr>
        <p:spPr>
          <a:xfrm>
            <a:off x="2139696" y="2432304"/>
            <a:ext cx="9290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Tecnologías de circuitos integrados</a:t>
            </a:r>
            <a:endParaRPr b="0" i="0" sz="3400" u="none" cap="none" strike="noStrike">
              <a:solidFill>
                <a:schemeClr val="dk1"/>
              </a:solidFill>
              <a:latin typeface="Calibri"/>
              <a:ea typeface="Calibri"/>
              <a:cs typeface="Calibri"/>
              <a:sym typeface="Calibri"/>
            </a:endParaRPr>
          </a:p>
        </p:txBody>
      </p:sp>
      <p:sp>
        <p:nvSpPr>
          <p:cNvPr id="401" name="Google Shape;401;p11"/>
          <p:cNvSpPr txBox="1"/>
          <p:nvPr/>
        </p:nvSpPr>
        <p:spPr>
          <a:xfrm>
            <a:off x="2139696" y="3200400"/>
            <a:ext cx="92903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Monolíticos, peliculares y las familias bipolar, CMOS y BiCMOS</a:t>
            </a:r>
            <a:endParaRPr b="0" i="0" sz="1500" u="none" cap="none" strike="noStrike">
              <a:solidFill>
                <a:schemeClr val="dk1"/>
              </a:solidFill>
              <a:latin typeface="Calibri"/>
              <a:ea typeface="Calibri"/>
              <a:cs typeface="Calibri"/>
              <a:sym typeface="Calibri"/>
            </a:endParaRPr>
          </a:p>
        </p:txBody>
      </p:sp>
      <p:sp>
        <p:nvSpPr>
          <p:cNvPr id="402" name="Google Shape;402;p11"/>
          <p:cNvSpPr txBox="1"/>
          <p:nvPr/>
        </p:nvSpPr>
        <p:spPr>
          <a:xfrm>
            <a:off x="566928" y="6336792"/>
            <a:ext cx="10570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MsC. Luz Adanaqué Infante  ·  Universidad Nacional Mayor de San Marcos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407" name="Shape 407"/>
        <p:cNvGrpSpPr/>
        <p:nvPr/>
      </p:nvGrpSpPr>
      <p:grpSpPr>
        <a:xfrm>
          <a:off x="0" y="0"/>
          <a:ext cx="0" cy="0"/>
          <a:chOff x="0" y="0"/>
          <a:chExt cx="0" cy="0"/>
        </a:xfrm>
      </p:grpSpPr>
      <p:sp>
        <p:nvSpPr>
          <p:cNvPr id="408" name="Google Shape;408;p12"/>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Tecnologías de circuitos integrados</a:t>
            </a:r>
            <a:endParaRPr b="0" i="0" sz="2700" u="none" cap="none" strike="noStrike">
              <a:solidFill>
                <a:schemeClr val="dk1"/>
              </a:solidFill>
              <a:latin typeface="Calibri"/>
              <a:ea typeface="Calibri"/>
              <a:cs typeface="Calibri"/>
              <a:sym typeface="Calibri"/>
            </a:endParaRPr>
          </a:p>
        </p:txBody>
      </p:sp>
      <p:sp>
        <p:nvSpPr>
          <p:cNvPr id="409" name="Google Shape;409;p12"/>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Clasificación general que estructura el resto de la sesión</a:t>
            </a:r>
            <a:endParaRPr b="0" i="0" sz="1250" u="none" cap="none" strike="noStrike">
              <a:solidFill>
                <a:schemeClr val="dk1"/>
              </a:solidFill>
              <a:latin typeface="Calibri"/>
              <a:ea typeface="Calibri"/>
              <a:cs typeface="Calibri"/>
              <a:sym typeface="Calibri"/>
            </a:endParaRPr>
          </a:p>
        </p:txBody>
      </p:sp>
      <p:sp>
        <p:nvSpPr>
          <p:cNvPr id="410" name="Google Shape;410;p12"/>
          <p:cNvSpPr/>
          <p:nvPr/>
        </p:nvSpPr>
        <p:spPr>
          <a:xfrm>
            <a:off x="566928" y="1517904"/>
            <a:ext cx="11027664" cy="822960"/>
          </a:xfrm>
          <a:prstGeom prst="roundRect">
            <a:avLst>
              <a:gd fmla="val 1333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804672" y="1728216"/>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txBox="1"/>
          <p:nvPr/>
        </p:nvSpPr>
        <p:spPr>
          <a:xfrm>
            <a:off x="804672" y="172821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413" name="Google Shape;413;p12"/>
          <p:cNvSpPr txBox="1"/>
          <p:nvPr/>
        </p:nvSpPr>
        <p:spPr>
          <a:xfrm>
            <a:off x="1371600" y="1627632"/>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Circuitos integrados monolíticos</a:t>
            </a:r>
            <a:endParaRPr b="0" i="0" sz="1350" u="none" cap="none" strike="noStrike">
              <a:solidFill>
                <a:schemeClr val="dk1"/>
              </a:solidFill>
              <a:latin typeface="Calibri"/>
              <a:ea typeface="Calibri"/>
              <a:cs typeface="Calibri"/>
              <a:sym typeface="Calibri"/>
            </a:endParaRPr>
          </a:p>
        </p:txBody>
      </p:sp>
      <p:sp>
        <p:nvSpPr>
          <p:cNvPr id="414" name="Google Shape;414;p12"/>
          <p:cNvSpPr txBox="1"/>
          <p:nvPr/>
        </p:nvSpPr>
        <p:spPr>
          <a:xfrm>
            <a:off x="5504688" y="1517904"/>
            <a:ext cx="5815584"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Todos los componentes se forman dentro de una única placa de silicio monocristalino.</a:t>
            </a:r>
            <a:endParaRPr b="0" i="0" sz="1150" u="none" cap="none" strike="noStrike">
              <a:solidFill>
                <a:schemeClr val="dk1"/>
              </a:solidFill>
              <a:latin typeface="Calibri"/>
              <a:ea typeface="Calibri"/>
              <a:cs typeface="Calibri"/>
              <a:sym typeface="Calibri"/>
            </a:endParaRPr>
          </a:p>
        </p:txBody>
      </p:sp>
      <p:sp>
        <p:nvSpPr>
          <p:cNvPr id="415" name="Google Shape;415;p12"/>
          <p:cNvSpPr/>
          <p:nvPr/>
        </p:nvSpPr>
        <p:spPr>
          <a:xfrm>
            <a:off x="566928" y="2459736"/>
            <a:ext cx="11027664" cy="896112"/>
          </a:xfrm>
          <a:prstGeom prst="roundRect">
            <a:avLst>
              <a:gd fmla="val 1224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2"/>
          <p:cNvSpPr/>
          <p:nvPr/>
        </p:nvSpPr>
        <p:spPr>
          <a:xfrm>
            <a:off x="804672" y="2706624"/>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txBox="1"/>
          <p:nvPr/>
        </p:nvSpPr>
        <p:spPr>
          <a:xfrm>
            <a:off x="804672" y="270662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418" name="Google Shape;418;p12"/>
          <p:cNvSpPr txBox="1"/>
          <p:nvPr/>
        </p:nvSpPr>
        <p:spPr>
          <a:xfrm>
            <a:off x="1371600" y="2569464"/>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Circuitos integrados peliculares</a:t>
            </a:r>
            <a:endParaRPr b="0" i="0" sz="1350" u="none" cap="none" strike="noStrike">
              <a:solidFill>
                <a:schemeClr val="dk1"/>
              </a:solidFill>
              <a:latin typeface="Calibri"/>
              <a:ea typeface="Calibri"/>
              <a:cs typeface="Calibri"/>
              <a:sym typeface="Calibri"/>
            </a:endParaRPr>
          </a:p>
        </p:txBody>
      </p:sp>
      <p:sp>
        <p:nvSpPr>
          <p:cNvPr id="419" name="Google Shape;419;p12"/>
          <p:cNvSpPr txBox="1"/>
          <p:nvPr/>
        </p:nvSpPr>
        <p:spPr>
          <a:xfrm>
            <a:off x="5504688" y="2459736"/>
            <a:ext cx="5815584" cy="896112"/>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Híbridos: los pasivos de valor elevado se forman fuera del sustrato, sobre vidrio o cerámica.</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De película delgada (thin-film)  ·  De película gruesa (thick-film)</a:t>
            </a:r>
            <a:endParaRPr b="0" i="0" sz="1150" u="none" cap="none" strike="noStrike">
              <a:solidFill>
                <a:schemeClr val="dk1"/>
              </a:solidFill>
              <a:latin typeface="Calibri"/>
              <a:ea typeface="Calibri"/>
              <a:cs typeface="Calibri"/>
              <a:sym typeface="Calibri"/>
            </a:endParaRPr>
          </a:p>
        </p:txBody>
      </p:sp>
      <p:sp>
        <p:nvSpPr>
          <p:cNvPr id="420" name="Google Shape;420;p12"/>
          <p:cNvSpPr/>
          <p:nvPr/>
        </p:nvSpPr>
        <p:spPr>
          <a:xfrm>
            <a:off x="566928" y="3401568"/>
            <a:ext cx="11027664" cy="822960"/>
          </a:xfrm>
          <a:prstGeom prst="roundRect">
            <a:avLst>
              <a:gd fmla="val 1333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804672" y="3611880"/>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txBox="1"/>
          <p:nvPr/>
        </p:nvSpPr>
        <p:spPr>
          <a:xfrm>
            <a:off x="804672" y="36118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423" name="Google Shape;423;p12"/>
          <p:cNvSpPr txBox="1"/>
          <p:nvPr/>
        </p:nvSpPr>
        <p:spPr>
          <a:xfrm>
            <a:off x="1371600" y="3511296"/>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Circuitos bipolares</a:t>
            </a:r>
            <a:endParaRPr b="0" i="0" sz="1350" u="none" cap="none" strike="noStrike">
              <a:solidFill>
                <a:schemeClr val="dk1"/>
              </a:solidFill>
              <a:latin typeface="Calibri"/>
              <a:ea typeface="Calibri"/>
              <a:cs typeface="Calibri"/>
              <a:sym typeface="Calibri"/>
            </a:endParaRPr>
          </a:p>
        </p:txBody>
      </p:sp>
      <p:sp>
        <p:nvSpPr>
          <p:cNvPr id="424" name="Google Shape;424;p12"/>
          <p:cNvSpPr txBox="1"/>
          <p:nvPr/>
        </p:nvSpPr>
        <p:spPr>
          <a:xfrm>
            <a:off x="5504688" y="3401568"/>
            <a:ext cx="5815584"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Históricamente los primeros CI monolíticos; hoy relegados por su baja densidad de integración.</a:t>
            </a:r>
            <a:endParaRPr b="0" i="0" sz="1150" u="none" cap="none" strike="noStrike">
              <a:solidFill>
                <a:schemeClr val="dk1"/>
              </a:solidFill>
              <a:latin typeface="Calibri"/>
              <a:ea typeface="Calibri"/>
              <a:cs typeface="Calibri"/>
              <a:sym typeface="Calibri"/>
            </a:endParaRPr>
          </a:p>
        </p:txBody>
      </p:sp>
      <p:sp>
        <p:nvSpPr>
          <p:cNvPr id="425" name="Google Shape;425;p12"/>
          <p:cNvSpPr/>
          <p:nvPr/>
        </p:nvSpPr>
        <p:spPr>
          <a:xfrm>
            <a:off x="566928" y="4343400"/>
            <a:ext cx="11027664" cy="822960"/>
          </a:xfrm>
          <a:prstGeom prst="roundRect">
            <a:avLst>
              <a:gd fmla="val 13333"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2"/>
          <p:cNvSpPr/>
          <p:nvPr/>
        </p:nvSpPr>
        <p:spPr>
          <a:xfrm>
            <a:off x="804672" y="4553712"/>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
          <p:cNvSpPr txBox="1"/>
          <p:nvPr/>
        </p:nvSpPr>
        <p:spPr>
          <a:xfrm>
            <a:off x="804672" y="45537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428" name="Google Shape;428;p12"/>
          <p:cNvSpPr txBox="1"/>
          <p:nvPr/>
        </p:nvSpPr>
        <p:spPr>
          <a:xfrm>
            <a:off x="1371600" y="4453128"/>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Circuitos CMOS</a:t>
            </a:r>
            <a:endParaRPr b="0" i="0" sz="1350" u="none" cap="none" strike="noStrike">
              <a:solidFill>
                <a:schemeClr val="dk1"/>
              </a:solidFill>
              <a:latin typeface="Calibri"/>
              <a:ea typeface="Calibri"/>
              <a:cs typeface="Calibri"/>
              <a:sym typeface="Calibri"/>
            </a:endParaRPr>
          </a:p>
        </p:txBody>
      </p:sp>
      <p:sp>
        <p:nvSpPr>
          <p:cNvPr id="429" name="Google Shape;429;p12"/>
          <p:cNvSpPr txBox="1"/>
          <p:nvPr/>
        </p:nvSpPr>
        <p:spPr>
          <a:xfrm>
            <a:off x="5504688" y="4343400"/>
            <a:ext cx="5815584"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Tecnología dominante: consumo extraordinariamente bajo y alta densidad de integración.</a:t>
            </a:r>
            <a:endParaRPr b="0" i="0" sz="1150" u="none" cap="none" strike="noStrike">
              <a:solidFill>
                <a:schemeClr val="dk1"/>
              </a:solidFill>
              <a:latin typeface="Calibri"/>
              <a:ea typeface="Calibri"/>
              <a:cs typeface="Calibri"/>
              <a:sym typeface="Calibri"/>
            </a:endParaRPr>
          </a:p>
        </p:txBody>
      </p:sp>
      <p:sp>
        <p:nvSpPr>
          <p:cNvPr id="430" name="Google Shape;430;p12"/>
          <p:cNvSpPr/>
          <p:nvPr/>
        </p:nvSpPr>
        <p:spPr>
          <a:xfrm>
            <a:off x="566928" y="5285232"/>
            <a:ext cx="11027664" cy="822960"/>
          </a:xfrm>
          <a:prstGeom prst="roundRect">
            <a:avLst>
              <a:gd fmla="val 1333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2"/>
          <p:cNvSpPr/>
          <p:nvPr/>
        </p:nvSpPr>
        <p:spPr>
          <a:xfrm>
            <a:off x="804672" y="5495544"/>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txBox="1"/>
          <p:nvPr/>
        </p:nvSpPr>
        <p:spPr>
          <a:xfrm>
            <a:off x="804672" y="54955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433" name="Google Shape;433;p12"/>
          <p:cNvSpPr txBox="1"/>
          <p:nvPr/>
        </p:nvSpPr>
        <p:spPr>
          <a:xfrm>
            <a:off x="1371600" y="5394960"/>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Circuitos BiCMOS</a:t>
            </a:r>
            <a:endParaRPr b="0" i="0" sz="1350" u="none" cap="none" strike="noStrike">
              <a:solidFill>
                <a:schemeClr val="dk1"/>
              </a:solidFill>
              <a:latin typeface="Calibri"/>
              <a:ea typeface="Calibri"/>
              <a:cs typeface="Calibri"/>
              <a:sym typeface="Calibri"/>
            </a:endParaRPr>
          </a:p>
        </p:txBody>
      </p:sp>
      <p:sp>
        <p:nvSpPr>
          <p:cNvPr id="434" name="Google Shape;434;p12"/>
          <p:cNvSpPr txBox="1"/>
          <p:nvPr/>
        </p:nvSpPr>
        <p:spPr>
          <a:xfrm>
            <a:off x="5504688" y="5285232"/>
            <a:ext cx="5815584"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172"/>
              </a:buClr>
              <a:buSzPts val="1150"/>
              <a:buFont typeface="Calibri"/>
              <a:buNone/>
            </a:pPr>
            <a:r>
              <a:rPr b="0" i="0" lang="en-US" sz="1150" u="none" cap="none" strike="noStrike">
                <a:solidFill>
                  <a:srgbClr val="5A6172"/>
                </a:solidFill>
                <a:latin typeface="Calibri"/>
                <a:ea typeface="Calibri"/>
                <a:cs typeface="Calibri"/>
                <a:sym typeface="Calibri"/>
              </a:rPr>
              <a:t>Combinan BJT y CMOS en un mismo chip para unir velocidad y bajo consumo.</a:t>
            </a:r>
            <a:endParaRPr b="0" i="0" sz="1150" u="none" cap="none" strike="noStrike">
              <a:solidFill>
                <a:schemeClr val="dk1"/>
              </a:solidFill>
              <a:latin typeface="Calibri"/>
              <a:ea typeface="Calibri"/>
              <a:cs typeface="Calibri"/>
              <a:sym typeface="Calibri"/>
            </a:endParaRPr>
          </a:p>
        </p:txBody>
      </p:sp>
      <p:sp>
        <p:nvSpPr>
          <p:cNvPr id="435" name="Google Shape;435;p12"/>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436" name="Google Shape;436;p12"/>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437" name="Google Shape;437;p12"/>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2"/>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443" name="Shape 443"/>
        <p:cNvGrpSpPr/>
        <p:nvPr/>
      </p:nvGrpSpPr>
      <p:grpSpPr>
        <a:xfrm>
          <a:off x="0" y="0"/>
          <a:ext cx="0" cy="0"/>
          <a:chOff x="0" y="0"/>
          <a:chExt cx="0" cy="0"/>
        </a:xfrm>
      </p:grpSpPr>
      <p:sp>
        <p:nvSpPr>
          <p:cNvPr id="444" name="Google Shape;444;p13"/>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Circuitos integrados monolíticos</a:t>
            </a:r>
            <a:endParaRPr b="0" i="0" sz="2700" u="none" cap="none" strike="noStrike">
              <a:solidFill>
                <a:schemeClr val="dk1"/>
              </a:solidFill>
              <a:latin typeface="Calibri"/>
              <a:ea typeface="Calibri"/>
              <a:cs typeface="Calibri"/>
              <a:sym typeface="Calibri"/>
            </a:endParaRPr>
          </a:p>
        </p:txBody>
      </p:sp>
      <p:sp>
        <p:nvSpPr>
          <p:cNvPr id="445" name="Google Shape;445;p13"/>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Del griego monolithos, «piedra única»</a:t>
            </a:r>
            <a:endParaRPr b="0" i="0" sz="1250" u="none" cap="none" strike="noStrike">
              <a:solidFill>
                <a:schemeClr val="dk1"/>
              </a:solidFill>
              <a:latin typeface="Calibri"/>
              <a:ea typeface="Calibri"/>
              <a:cs typeface="Calibri"/>
              <a:sym typeface="Calibri"/>
            </a:endParaRPr>
          </a:p>
        </p:txBody>
      </p:sp>
      <p:sp>
        <p:nvSpPr>
          <p:cNvPr id="446" name="Google Shape;446;p13"/>
          <p:cNvSpPr/>
          <p:nvPr/>
        </p:nvSpPr>
        <p:spPr>
          <a:xfrm>
            <a:off x="566928" y="1572768"/>
            <a:ext cx="6858000" cy="4535424"/>
          </a:xfrm>
          <a:prstGeom prst="roundRect">
            <a:avLst>
              <a:gd fmla="val 241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txBox="1"/>
          <p:nvPr/>
        </p:nvSpPr>
        <p:spPr>
          <a:xfrm>
            <a:off x="932688" y="1847088"/>
            <a:ext cx="6172200" cy="4023360"/>
          </a:xfrm>
          <a:prstGeom prst="rect">
            <a:avLst/>
          </a:prstGeom>
          <a:noFill/>
          <a:ln>
            <a:noFill/>
          </a:ln>
        </p:spPr>
        <p:txBody>
          <a:bodyPr anchorCtr="0" anchor="t" bIns="0" lIns="0" spcFirstLastPara="1" rIns="0" wrap="square" tIns="0">
            <a:noAutofit/>
          </a:bodyPr>
          <a:lstStyle/>
          <a:p>
            <a:pPr indent="-333375" lvl="0" marL="342900" marR="0" rtl="0" algn="just">
              <a:lnSpc>
                <a:spcPct val="106000"/>
              </a:lnSpc>
              <a:spcBef>
                <a:spcPts val="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Se construyen sobre una sola placa de silicio, llamada monocristal o sustrato, generalmente de tipo P.</a:t>
            </a:r>
            <a:endParaRPr b="0" i="0" sz="1200" u="none" cap="none" strike="noStrike">
              <a:solidFill>
                <a:schemeClr val="dk1"/>
              </a:solidFill>
              <a:latin typeface="Calibri"/>
              <a:ea typeface="Calibri"/>
              <a:cs typeface="Calibri"/>
              <a:sym typeface="Calibri"/>
            </a:endParaRPr>
          </a:p>
          <a:p>
            <a:pPr indent="-333375" lvl="0" marL="342900" marR="0" rtl="0" algn="just">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Se configuran como una unidad inseparable que forma una estructura única, cuyos componentes van formándose simultáneamente, todos en el sustrato, y que no puede ser dividida sin destruir de forma irreversible su función eléctrica.</a:t>
            </a:r>
            <a:endParaRPr b="0" i="0" sz="1200" u="none" cap="none" strike="noStrike">
              <a:solidFill>
                <a:schemeClr val="dk1"/>
              </a:solidFill>
              <a:latin typeface="Calibri"/>
              <a:ea typeface="Calibri"/>
              <a:cs typeface="Calibri"/>
              <a:sym typeface="Calibri"/>
            </a:endParaRPr>
          </a:p>
          <a:p>
            <a:pPr indent="-333375" lvl="0" marL="342900" marR="0" rtl="0" algn="just">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El proceso de fabricación está basado en la técnica planar. Sus fases son: la preparación de las máscaras fotográficas, la elaboración del circuito y, por último, el encapsulado y la verificación.</a:t>
            </a:r>
            <a:endParaRPr b="0" i="0" sz="1200" u="none" cap="none" strike="noStrike">
              <a:solidFill>
                <a:schemeClr val="dk1"/>
              </a:solidFill>
              <a:latin typeface="Calibri"/>
              <a:ea typeface="Calibri"/>
              <a:cs typeface="Calibri"/>
              <a:sym typeface="Calibri"/>
            </a:endParaRPr>
          </a:p>
          <a:p>
            <a:pPr indent="-333375" lvl="0" marL="342900" marR="0" rtl="0" algn="just">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El correcto funcionamiento depende del riguroso control que se realice sobre el número de impurezas que se introduzcan en el silicio.</a:t>
            </a:r>
            <a:endParaRPr b="0" i="0" sz="1200" u="none" cap="none" strike="noStrike">
              <a:solidFill>
                <a:schemeClr val="dk1"/>
              </a:solidFill>
              <a:latin typeface="Calibri"/>
              <a:ea typeface="Calibri"/>
              <a:cs typeface="Calibri"/>
              <a:sym typeface="Calibri"/>
            </a:endParaRPr>
          </a:p>
        </p:txBody>
      </p:sp>
      <p:sp>
        <p:nvSpPr>
          <p:cNvPr id="448" name="Google Shape;448;p13"/>
          <p:cNvSpPr/>
          <p:nvPr/>
        </p:nvSpPr>
        <p:spPr>
          <a:xfrm>
            <a:off x="7699248" y="1572768"/>
            <a:ext cx="3895344" cy="2157984"/>
          </a:xfrm>
          <a:prstGeom prst="roundRect">
            <a:avLst>
              <a:gd fmla="val 5085"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txBox="1"/>
          <p:nvPr/>
        </p:nvSpPr>
        <p:spPr>
          <a:xfrm>
            <a:off x="7973568" y="1755648"/>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50"/>
              <a:buFont typeface="Calibri"/>
              <a:buNone/>
            </a:pPr>
            <a:r>
              <a:rPr b="1" i="0" lang="en-US" sz="1050" u="none" cap="none" strike="noStrike">
                <a:solidFill>
                  <a:srgbClr val="F96167"/>
                </a:solidFill>
                <a:latin typeface="Calibri"/>
                <a:ea typeface="Calibri"/>
                <a:cs typeface="Calibri"/>
                <a:sym typeface="Calibri"/>
              </a:rPr>
              <a:t>Idea clave</a:t>
            </a:r>
            <a:endParaRPr b="0" i="0" sz="1050" u="none" cap="none" strike="noStrike">
              <a:solidFill>
                <a:schemeClr val="dk1"/>
              </a:solidFill>
              <a:latin typeface="Calibri"/>
              <a:ea typeface="Calibri"/>
              <a:cs typeface="Calibri"/>
              <a:sym typeface="Calibri"/>
            </a:endParaRPr>
          </a:p>
        </p:txBody>
      </p:sp>
      <p:sp>
        <p:nvSpPr>
          <p:cNvPr id="450" name="Google Shape;450;p13"/>
          <p:cNvSpPr txBox="1"/>
          <p:nvPr/>
        </p:nvSpPr>
        <p:spPr>
          <a:xfrm>
            <a:off x="7973568" y="2066544"/>
            <a:ext cx="3346704"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Un solo sustrato, un solo proceso, todos los componentes a la vez.</a:t>
            </a:r>
            <a:endParaRPr b="0" i="0" sz="1800" u="none" cap="none" strike="noStrike">
              <a:solidFill>
                <a:schemeClr val="dk1"/>
              </a:solidFill>
              <a:latin typeface="Calibri"/>
              <a:ea typeface="Calibri"/>
              <a:cs typeface="Calibri"/>
              <a:sym typeface="Calibri"/>
            </a:endParaRPr>
          </a:p>
        </p:txBody>
      </p:sp>
      <p:sp>
        <p:nvSpPr>
          <p:cNvPr id="451" name="Google Shape;451;p13"/>
          <p:cNvSpPr/>
          <p:nvPr/>
        </p:nvSpPr>
        <p:spPr>
          <a:xfrm>
            <a:off x="7699248" y="3950208"/>
            <a:ext cx="3895344" cy="2157984"/>
          </a:xfrm>
          <a:prstGeom prst="roundRect">
            <a:avLst>
              <a:gd fmla="val 5085"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txBox="1"/>
          <p:nvPr/>
        </p:nvSpPr>
        <p:spPr>
          <a:xfrm>
            <a:off x="7973568" y="4151376"/>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50"/>
              <a:buFont typeface="Calibri"/>
              <a:buNone/>
            </a:pPr>
            <a:r>
              <a:rPr b="1" i="0" lang="en-US" sz="1050" u="none" cap="none" strike="noStrike">
                <a:solidFill>
                  <a:srgbClr val="F96167"/>
                </a:solidFill>
                <a:latin typeface="Calibri"/>
                <a:ea typeface="Calibri"/>
                <a:cs typeface="Calibri"/>
                <a:sym typeface="Calibri"/>
              </a:rPr>
              <a:t>Consecuencia práctica</a:t>
            </a:r>
            <a:endParaRPr b="0" i="0" sz="1050" u="none" cap="none" strike="noStrike">
              <a:solidFill>
                <a:schemeClr val="dk1"/>
              </a:solidFill>
              <a:latin typeface="Calibri"/>
              <a:ea typeface="Calibri"/>
              <a:cs typeface="Calibri"/>
              <a:sym typeface="Calibri"/>
            </a:endParaRPr>
          </a:p>
        </p:txBody>
      </p:sp>
      <p:sp>
        <p:nvSpPr>
          <p:cNvPr id="453" name="Google Shape;453;p13"/>
          <p:cNvSpPr txBox="1"/>
          <p:nvPr/>
        </p:nvSpPr>
        <p:spPr>
          <a:xfrm>
            <a:off x="7973568" y="4480560"/>
            <a:ext cx="3346704"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200"/>
              <a:buFont typeface="Calibri"/>
              <a:buNone/>
            </a:pPr>
            <a:r>
              <a:rPr b="0" i="0" lang="en-US" sz="1200" u="none" cap="none" strike="noStrike">
                <a:solidFill>
                  <a:srgbClr val="1E2761"/>
                </a:solidFill>
                <a:latin typeface="Calibri"/>
                <a:ea typeface="Calibri"/>
                <a:cs typeface="Calibri"/>
                <a:sym typeface="Calibri"/>
              </a:rPr>
              <a:t>No se puede reparar un componente individual ni sustituirlo. El rendimiento del proceso (yield) determina directamente el costo por chip funcional.</a:t>
            </a:r>
            <a:endParaRPr b="0" i="0" sz="1200" u="none" cap="none" strike="noStrike">
              <a:solidFill>
                <a:schemeClr val="dk1"/>
              </a:solidFill>
              <a:latin typeface="Calibri"/>
              <a:ea typeface="Calibri"/>
              <a:cs typeface="Calibri"/>
              <a:sym typeface="Calibri"/>
            </a:endParaRPr>
          </a:p>
        </p:txBody>
      </p:sp>
      <p:sp>
        <p:nvSpPr>
          <p:cNvPr id="454" name="Google Shape;454;p13"/>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455" name="Google Shape;455;p13"/>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456" name="Google Shape;456;p13"/>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pic>
        <p:nvPicPr>
          <p:cNvPr id="458" name="Google Shape;458;p13"/>
          <p:cNvPicPr preferRelativeResize="0"/>
          <p:nvPr/>
        </p:nvPicPr>
        <p:blipFill>
          <a:blip r:embed="rId3">
            <a:alphaModFix/>
          </a:blip>
          <a:stretch>
            <a:fillRect/>
          </a:stretch>
        </p:blipFill>
        <p:spPr>
          <a:xfrm>
            <a:off x="2644988" y="4341950"/>
            <a:ext cx="2747625" cy="1648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463" name="Shape 463"/>
        <p:cNvGrpSpPr/>
        <p:nvPr/>
      </p:nvGrpSpPr>
      <p:grpSpPr>
        <a:xfrm>
          <a:off x="0" y="0"/>
          <a:ext cx="0" cy="0"/>
          <a:chOff x="0" y="0"/>
          <a:chExt cx="0" cy="0"/>
        </a:xfrm>
      </p:grpSpPr>
      <p:sp>
        <p:nvSpPr>
          <p:cNvPr id="464" name="Google Shape;464;p14"/>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El proceso planar y la máscara de óxido</a:t>
            </a:r>
            <a:endParaRPr b="0" i="0" sz="2700" u="none" cap="none" strike="noStrike">
              <a:solidFill>
                <a:schemeClr val="dk1"/>
              </a:solidFill>
              <a:latin typeface="Calibri"/>
              <a:ea typeface="Calibri"/>
              <a:cs typeface="Calibri"/>
              <a:sym typeface="Calibri"/>
            </a:endParaRPr>
          </a:p>
        </p:txBody>
      </p:sp>
      <p:sp>
        <p:nvSpPr>
          <p:cNvPr id="465" name="Google Shape;465;p14"/>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La técnica que hizo posible el circuito integrado monolítico</a:t>
            </a:r>
            <a:endParaRPr b="0" i="0" sz="1250" u="none" cap="none" strike="noStrike">
              <a:solidFill>
                <a:schemeClr val="dk1"/>
              </a:solidFill>
              <a:latin typeface="Calibri"/>
              <a:ea typeface="Calibri"/>
              <a:cs typeface="Calibri"/>
              <a:sym typeface="Calibri"/>
            </a:endParaRPr>
          </a:p>
        </p:txBody>
      </p:sp>
      <p:sp>
        <p:nvSpPr>
          <p:cNvPr id="466" name="Google Shape;466;p14"/>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0</a:t>
            </a:r>
            <a:endParaRPr b="0" i="0" sz="950" u="none" cap="none" strike="noStrike">
              <a:solidFill>
                <a:schemeClr val="dk1"/>
              </a:solidFill>
              <a:latin typeface="Calibri"/>
              <a:ea typeface="Calibri"/>
              <a:cs typeface="Calibri"/>
              <a:sym typeface="Calibri"/>
            </a:endParaRPr>
          </a:p>
        </p:txBody>
      </p:sp>
      <p:sp>
        <p:nvSpPr>
          <p:cNvPr id="468" name="Google Shape;468;p14"/>
          <p:cNvSpPr/>
          <p:nvPr/>
        </p:nvSpPr>
        <p:spPr>
          <a:xfrm>
            <a:off x="566928" y="1737360"/>
            <a:ext cx="5358384" cy="2139696"/>
          </a:xfrm>
          <a:prstGeom prst="roundRect">
            <a:avLst>
              <a:gd fmla="val 5128"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txBox="1"/>
          <p:nvPr/>
        </p:nvSpPr>
        <p:spPr>
          <a:xfrm>
            <a:off x="859536" y="1920240"/>
            <a:ext cx="4754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Proceso planar  ·  Hoerni, 1960</a:t>
            </a:r>
            <a:endParaRPr b="0" i="0" sz="1600" u="none" cap="none" strike="noStrike">
              <a:solidFill>
                <a:schemeClr val="dk1"/>
              </a:solidFill>
              <a:latin typeface="Calibri"/>
              <a:ea typeface="Calibri"/>
              <a:cs typeface="Calibri"/>
              <a:sym typeface="Calibri"/>
            </a:endParaRPr>
          </a:p>
        </p:txBody>
      </p:sp>
      <p:sp>
        <p:nvSpPr>
          <p:cNvPr id="470" name="Google Shape;470;p14"/>
          <p:cNvSpPr txBox="1"/>
          <p:nvPr/>
        </p:nvSpPr>
        <p:spPr>
          <a:xfrm>
            <a:off x="859536" y="2304288"/>
            <a:ext cx="4791456" cy="1417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200"/>
              <a:buFont typeface="Calibri"/>
              <a:buNone/>
            </a:pPr>
            <a:r>
              <a:rPr b="0" i="0" lang="en-US" sz="1200" u="none" cap="none" strike="noStrike">
                <a:solidFill>
                  <a:srgbClr val="23262F"/>
                </a:solidFill>
                <a:latin typeface="Calibri"/>
                <a:ea typeface="Calibri"/>
                <a:cs typeface="Calibri"/>
                <a:sym typeface="Calibri"/>
              </a:rPr>
              <a:t>Se forma una capa de óxido sobre la superficie del semiconductor. Con ayuda de un proceso litográfico se remueven porciones del óxido y se abren ventanas. Los átomos de impureza difunden únicamente a través de la superficie expuesta y las uniones p-n se forman en el área de la ventana.</a:t>
            </a:r>
            <a:endParaRPr b="0" i="0" sz="1200" u="none" cap="none" strike="noStrike">
              <a:solidFill>
                <a:schemeClr val="dk1"/>
              </a:solidFill>
              <a:latin typeface="Calibri"/>
              <a:ea typeface="Calibri"/>
              <a:cs typeface="Calibri"/>
              <a:sym typeface="Calibri"/>
            </a:endParaRPr>
          </a:p>
        </p:txBody>
      </p:sp>
      <p:sp>
        <p:nvSpPr>
          <p:cNvPr id="471" name="Google Shape;471;p14"/>
          <p:cNvSpPr/>
          <p:nvPr/>
        </p:nvSpPr>
        <p:spPr>
          <a:xfrm>
            <a:off x="6236208" y="1737360"/>
            <a:ext cx="5358384" cy="2139696"/>
          </a:xfrm>
          <a:prstGeom prst="roundRect">
            <a:avLst>
              <a:gd fmla="val 5128"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txBox="1"/>
          <p:nvPr/>
        </p:nvSpPr>
        <p:spPr>
          <a:xfrm>
            <a:off x="6528816" y="1920240"/>
            <a:ext cx="4754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Enmascaramiento con óxido  ·  Frosch y Derick, 1957</a:t>
            </a:r>
            <a:endParaRPr b="0" i="0" sz="1500" u="none" cap="none" strike="noStrike">
              <a:solidFill>
                <a:schemeClr val="dk1"/>
              </a:solidFill>
              <a:latin typeface="Calibri"/>
              <a:ea typeface="Calibri"/>
              <a:cs typeface="Calibri"/>
              <a:sym typeface="Calibri"/>
            </a:endParaRPr>
          </a:p>
        </p:txBody>
      </p:sp>
      <p:sp>
        <p:nvSpPr>
          <p:cNvPr id="473" name="Google Shape;473;p14"/>
          <p:cNvSpPr txBox="1"/>
          <p:nvPr/>
        </p:nvSpPr>
        <p:spPr>
          <a:xfrm>
            <a:off x="6528816" y="2304288"/>
            <a:ext cx="4791456" cy="1417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200"/>
              <a:buFont typeface="Calibri"/>
              <a:buNone/>
            </a:pPr>
            <a:r>
              <a:rPr b="0" i="0" lang="en-US" sz="1200" u="none" cap="none" strike="noStrike">
                <a:solidFill>
                  <a:srgbClr val="23262F"/>
                </a:solidFill>
                <a:latin typeface="Calibri"/>
                <a:ea typeface="Calibri"/>
                <a:cs typeface="Calibri"/>
                <a:sym typeface="Calibri"/>
              </a:rPr>
              <a:t>Descubrieron que una capa de óxido puede impedir que la mayoría de los átomos de impureza difundan a través de ella. Este hallazgo es el que convierte al SiO₂ en el material que define selectivamente dónde ocurre el dopado.</a:t>
            </a:r>
            <a:endParaRPr b="0" i="0" sz="1200" u="none" cap="none" strike="noStrike">
              <a:solidFill>
                <a:schemeClr val="dk1"/>
              </a:solidFill>
              <a:latin typeface="Calibri"/>
              <a:ea typeface="Calibri"/>
              <a:cs typeface="Calibri"/>
              <a:sym typeface="Calibri"/>
            </a:endParaRPr>
          </a:p>
        </p:txBody>
      </p:sp>
      <p:sp>
        <p:nvSpPr>
          <p:cNvPr id="474" name="Google Shape;474;p14"/>
          <p:cNvSpPr/>
          <p:nvPr/>
        </p:nvSpPr>
        <p:spPr>
          <a:xfrm>
            <a:off x="566928" y="4023360"/>
            <a:ext cx="11027664" cy="2084832"/>
          </a:xfrm>
          <a:prstGeom prst="roundRect">
            <a:avLst>
              <a:gd fmla="val 526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txBox="1"/>
          <p:nvPr/>
        </p:nvSpPr>
        <p:spPr>
          <a:xfrm>
            <a:off x="859536" y="4169664"/>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Sección transversal del principio planar</a:t>
            </a:r>
            <a:endParaRPr b="0" i="0" sz="1150" u="none" cap="none" strike="noStrike">
              <a:solidFill>
                <a:schemeClr val="dk1"/>
              </a:solidFill>
              <a:latin typeface="Calibri"/>
              <a:ea typeface="Calibri"/>
              <a:cs typeface="Calibri"/>
              <a:sym typeface="Calibri"/>
            </a:endParaRPr>
          </a:p>
        </p:txBody>
      </p:sp>
      <p:sp>
        <p:nvSpPr>
          <p:cNvPr id="476" name="Google Shape;476;p14"/>
          <p:cNvSpPr txBox="1"/>
          <p:nvPr/>
        </p:nvSpPr>
        <p:spPr>
          <a:xfrm>
            <a:off x="2761488" y="4480560"/>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6167"/>
              </a:buClr>
              <a:buSzPts val="900"/>
              <a:buFont typeface="Calibri"/>
              <a:buNone/>
            </a:pPr>
            <a:r>
              <a:rPr b="0" i="1" lang="en-US" sz="900" u="none" cap="none" strike="noStrike">
                <a:solidFill>
                  <a:srgbClr val="F96167"/>
                </a:solidFill>
                <a:latin typeface="Calibri"/>
                <a:ea typeface="Calibri"/>
                <a:cs typeface="Calibri"/>
                <a:sym typeface="Calibri"/>
              </a:rPr>
              <a:t>ventana abierta por litografía</a:t>
            </a:r>
            <a:endParaRPr b="0" i="0" sz="900" u="none" cap="none" strike="noStrike">
              <a:solidFill>
                <a:schemeClr val="dk1"/>
              </a:solidFill>
              <a:latin typeface="Calibri"/>
              <a:ea typeface="Calibri"/>
              <a:cs typeface="Calibri"/>
              <a:sym typeface="Calibri"/>
            </a:endParaRPr>
          </a:p>
        </p:txBody>
      </p:sp>
      <p:sp>
        <p:nvSpPr>
          <p:cNvPr id="477" name="Google Shape;477;p14"/>
          <p:cNvSpPr/>
          <p:nvPr/>
        </p:nvSpPr>
        <p:spPr>
          <a:xfrm>
            <a:off x="3813048" y="4718304"/>
            <a:ext cx="274320" cy="201168"/>
          </a:xfrm>
          <a:prstGeom prst="downArrow">
            <a:avLst>
              <a:gd fmla="val 50000" name="adj1"/>
              <a:gd fmla="val 50000" name="adj2"/>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1024128" y="4992624"/>
            <a:ext cx="5852160" cy="877824"/>
          </a:xfrm>
          <a:prstGeom prst="rect">
            <a:avLst/>
          </a:prstGeom>
          <a:solidFill>
            <a:srgbClr val="C9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1024128" y="4773168"/>
            <a:ext cx="2103120" cy="219456"/>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4773168" y="4773168"/>
            <a:ext cx="2103120" cy="219456"/>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3218688" y="5020056"/>
            <a:ext cx="1463040" cy="329184"/>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txBox="1"/>
          <p:nvPr/>
        </p:nvSpPr>
        <p:spPr>
          <a:xfrm>
            <a:off x="3218688" y="5020056"/>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región difundida</a:t>
            </a:r>
            <a:endParaRPr b="0" i="0" sz="850" u="none" cap="none" strike="noStrike">
              <a:solidFill>
                <a:schemeClr val="dk1"/>
              </a:solidFill>
              <a:latin typeface="Calibri"/>
              <a:ea typeface="Calibri"/>
              <a:cs typeface="Calibri"/>
              <a:sym typeface="Calibri"/>
            </a:endParaRPr>
          </a:p>
        </p:txBody>
      </p:sp>
      <p:sp>
        <p:nvSpPr>
          <p:cNvPr id="483" name="Google Shape;483;p14"/>
          <p:cNvSpPr txBox="1"/>
          <p:nvPr/>
        </p:nvSpPr>
        <p:spPr>
          <a:xfrm>
            <a:off x="1481328" y="4773168"/>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SiO₂</a:t>
            </a:r>
            <a:endParaRPr b="0" i="0" sz="900" u="none" cap="none" strike="noStrike">
              <a:solidFill>
                <a:schemeClr val="dk1"/>
              </a:solidFill>
              <a:latin typeface="Calibri"/>
              <a:ea typeface="Calibri"/>
              <a:cs typeface="Calibri"/>
              <a:sym typeface="Calibri"/>
            </a:endParaRPr>
          </a:p>
        </p:txBody>
      </p:sp>
      <p:sp>
        <p:nvSpPr>
          <p:cNvPr id="484" name="Google Shape;484;p14"/>
          <p:cNvSpPr txBox="1"/>
          <p:nvPr/>
        </p:nvSpPr>
        <p:spPr>
          <a:xfrm>
            <a:off x="1024128" y="5449824"/>
            <a:ext cx="58521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453"/>
              </a:buClr>
              <a:buSzPts val="1050"/>
              <a:buFont typeface="Calibri"/>
              <a:buNone/>
            </a:pPr>
            <a:r>
              <a:rPr b="0" i="0" lang="en-US" sz="1050" u="none" cap="none" strike="noStrike">
                <a:solidFill>
                  <a:srgbClr val="3D4453"/>
                </a:solidFill>
                <a:latin typeface="Calibri"/>
                <a:ea typeface="Calibri"/>
                <a:cs typeface="Calibri"/>
                <a:sym typeface="Calibri"/>
              </a:rPr>
              <a:t>sustrato de silicio  (tipo P)</a:t>
            </a:r>
            <a:endParaRPr b="0" i="0" sz="1050" u="none" cap="none" strike="noStrike">
              <a:solidFill>
                <a:schemeClr val="dk1"/>
              </a:solidFill>
              <a:latin typeface="Calibri"/>
              <a:ea typeface="Calibri"/>
              <a:cs typeface="Calibri"/>
              <a:sym typeface="Calibri"/>
            </a:endParaRPr>
          </a:p>
        </p:txBody>
      </p:sp>
      <p:sp>
        <p:nvSpPr>
          <p:cNvPr id="485" name="Google Shape;485;p14"/>
          <p:cNvSpPr txBox="1"/>
          <p:nvPr/>
        </p:nvSpPr>
        <p:spPr>
          <a:xfrm>
            <a:off x="7242048" y="4480560"/>
            <a:ext cx="4114800" cy="155448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El óxido bloquea la difusión; la ventana la permite.</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Todas las uniones quedan bajo una superficie plana.</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La superficie plana permite metalizar por evaporación y grabado.</a:t>
            </a:r>
            <a:endParaRPr b="0" i="0" sz="1100" u="none" cap="none" strike="noStrike">
              <a:solidFill>
                <a:schemeClr val="dk1"/>
              </a:solidFill>
              <a:latin typeface="Calibri"/>
              <a:ea typeface="Calibri"/>
              <a:cs typeface="Calibri"/>
              <a:sym typeface="Calibri"/>
            </a:endParaRPr>
          </a:p>
        </p:txBody>
      </p:sp>
      <p:sp>
        <p:nvSpPr>
          <p:cNvPr id="486" name="Google Shape;486;p14"/>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487" name="Google Shape;487;p14"/>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488" name="Google Shape;488;p14"/>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494" name="Shape 494"/>
        <p:cNvGrpSpPr/>
        <p:nvPr/>
      </p:nvGrpSpPr>
      <p:grpSpPr>
        <a:xfrm>
          <a:off x="0" y="0"/>
          <a:ext cx="0" cy="0"/>
          <a:chOff x="0" y="0"/>
          <a:chExt cx="0" cy="0"/>
        </a:xfrm>
      </p:grpSpPr>
      <p:sp>
        <p:nvSpPr>
          <p:cNvPr id="495" name="Google Shape;495;p15"/>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Fotolitografía: resolución y profundidad de foco</a:t>
            </a:r>
            <a:endParaRPr b="0" i="0" sz="2700" u="none" cap="none" strike="noStrike">
              <a:solidFill>
                <a:schemeClr val="dk1"/>
              </a:solidFill>
              <a:latin typeface="Calibri"/>
              <a:ea typeface="Calibri"/>
              <a:cs typeface="Calibri"/>
              <a:sym typeface="Calibri"/>
            </a:endParaRPr>
          </a:p>
        </p:txBody>
      </p:sp>
      <p:sp>
        <p:nvSpPr>
          <p:cNvPr id="496" name="Google Shape;496;p15"/>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La litografía óptica usa luz ultravioleta con λ ≈ 0,2 – 0,4 µm</a:t>
            </a:r>
            <a:endParaRPr b="0" i="0" sz="1250" u="none" cap="none" strike="noStrike">
              <a:solidFill>
                <a:schemeClr val="dk1"/>
              </a:solidFill>
              <a:latin typeface="Calibri"/>
              <a:ea typeface="Calibri"/>
              <a:cs typeface="Calibri"/>
              <a:sym typeface="Calibri"/>
            </a:endParaRPr>
          </a:p>
        </p:txBody>
      </p:sp>
      <p:sp>
        <p:nvSpPr>
          <p:cNvPr id="497" name="Google Shape;497;p15"/>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13</a:t>
            </a:r>
            <a:endParaRPr b="0" i="0" sz="950" u="none" cap="none" strike="noStrike">
              <a:solidFill>
                <a:schemeClr val="dk1"/>
              </a:solidFill>
              <a:latin typeface="Calibri"/>
              <a:ea typeface="Calibri"/>
              <a:cs typeface="Calibri"/>
              <a:sym typeface="Calibri"/>
            </a:endParaRPr>
          </a:p>
        </p:txBody>
      </p:sp>
      <p:sp>
        <p:nvSpPr>
          <p:cNvPr id="499" name="Google Shape;499;p15"/>
          <p:cNvSpPr/>
          <p:nvPr/>
        </p:nvSpPr>
        <p:spPr>
          <a:xfrm>
            <a:off x="566928" y="1737360"/>
            <a:ext cx="5358384" cy="2377440"/>
          </a:xfrm>
          <a:prstGeom prst="roundRect">
            <a:avLst>
              <a:gd fmla="val 4615"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5"/>
          <p:cNvSpPr txBox="1"/>
          <p:nvPr/>
        </p:nvSpPr>
        <p:spPr>
          <a:xfrm>
            <a:off x="859536" y="190195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Resolución del sistema de proyección</a:t>
            </a:r>
            <a:endParaRPr b="0" i="0" sz="1150" u="none" cap="none" strike="noStrike">
              <a:solidFill>
                <a:schemeClr val="dk1"/>
              </a:solidFill>
              <a:latin typeface="Calibri"/>
              <a:ea typeface="Calibri"/>
              <a:cs typeface="Calibri"/>
              <a:sym typeface="Calibri"/>
            </a:endParaRPr>
          </a:p>
        </p:txBody>
      </p:sp>
      <p:sp>
        <p:nvSpPr>
          <p:cNvPr id="501" name="Google Shape;501;p15"/>
          <p:cNvSpPr txBox="1"/>
          <p:nvPr/>
        </p:nvSpPr>
        <p:spPr>
          <a:xfrm>
            <a:off x="859536" y="2231136"/>
            <a:ext cx="47548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Cambria"/>
              <a:buNone/>
            </a:pPr>
            <a:r>
              <a:rPr b="1" i="0" lang="en-US" sz="2700" u="none" cap="none" strike="noStrike">
                <a:solidFill>
                  <a:srgbClr val="FFFFFF"/>
                </a:solidFill>
                <a:latin typeface="Cambria"/>
                <a:ea typeface="Cambria"/>
                <a:cs typeface="Cambria"/>
                <a:sym typeface="Cambria"/>
              </a:rPr>
              <a:t>ℓm  =  k₁ · λ / NA</a:t>
            </a:r>
            <a:endParaRPr b="0" i="0" sz="2700" u="none" cap="none" strike="noStrike">
              <a:solidFill>
                <a:schemeClr val="dk1"/>
              </a:solidFill>
              <a:latin typeface="Calibri"/>
              <a:ea typeface="Calibri"/>
              <a:cs typeface="Calibri"/>
              <a:sym typeface="Calibri"/>
            </a:endParaRPr>
          </a:p>
        </p:txBody>
      </p:sp>
      <p:sp>
        <p:nvSpPr>
          <p:cNvPr id="502" name="Google Shape;502;p15"/>
          <p:cNvSpPr txBox="1"/>
          <p:nvPr/>
        </p:nvSpPr>
        <p:spPr>
          <a:xfrm>
            <a:off x="859536" y="2798064"/>
            <a:ext cx="47548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800"/>
              <a:buFont typeface="Cambria"/>
              <a:buNone/>
            </a:pPr>
            <a:r>
              <a:rPr b="1" i="0" lang="en-US" sz="1800" u="none" cap="none" strike="noStrike">
                <a:solidFill>
                  <a:srgbClr val="CADCFC"/>
                </a:solidFill>
                <a:latin typeface="Cambria"/>
                <a:ea typeface="Cambria"/>
                <a:cs typeface="Cambria"/>
                <a:sym typeface="Cambria"/>
              </a:rPr>
              <a:t>DOF  ≈  ± k₂ · λ / NA²</a:t>
            </a:r>
            <a:endParaRPr b="0" i="0" sz="1800" u="none" cap="none" strike="noStrike">
              <a:solidFill>
                <a:schemeClr val="dk1"/>
              </a:solidFill>
              <a:latin typeface="Calibri"/>
              <a:ea typeface="Calibri"/>
              <a:cs typeface="Calibri"/>
              <a:sym typeface="Calibri"/>
            </a:endParaRPr>
          </a:p>
        </p:txBody>
      </p:sp>
      <p:sp>
        <p:nvSpPr>
          <p:cNvPr id="503" name="Google Shape;503;p15"/>
          <p:cNvSpPr txBox="1"/>
          <p:nvPr/>
        </p:nvSpPr>
        <p:spPr>
          <a:xfrm>
            <a:off x="859536" y="3291840"/>
            <a:ext cx="4791456"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λ: longitud de onda de exposición   ·   NA = n·senθ: apertura numérica   ·   k₁, k₂: factores dependientes del proceso</a:t>
            </a:r>
            <a:endParaRPr b="0" i="0" sz="1050" u="none" cap="none" strike="noStrike">
              <a:solidFill>
                <a:schemeClr val="dk1"/>
              </a:solidFill>
              <a:latin typeface="Calibri"/>
              <a:ea typeface="Calibri"/>
              <a:cs typeface="Calibri"/>
              <a:sym typeface="Calibri"/>
            </a:endParaRPr>
          </a:p>
        </p:txBody>
      </p:sp>
      <p:sp>
        <p:nvSpPr>
          <p:cNvPr id="504" name="Google Shape;504;p15"/>
          <p:cNvSpPr/>
          <p:nvPr/>
        </p:nvSpPr>
        <p:spPr>
          <a:xfrm>
            <a:off x="6236208" y="1737360"/>
            <a:ext cx="5358384" cy="2377440"/>
          </a:xfrm>
          <a:prstGeom prst="roundRect">
            <a:avLst>
              <a:gd fmla="val 461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txBox="1"/>
          <p:nvPr/>
        </p:nvSpPr>
        <p:spPr>
          <a:xfrm>
            <a:off x="6528816" y="190195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Lectura de las dos ecuaciones</a:t>
            </a:r>
            <a:endParaRPr b="0" i="0" sz="1150" u="none" cap="none" strike="noStrike">
              <a:solidFill>
                <a:schemeClr val="dk1"/>
              </a:solidFill>
              <a:latin typeface="Calibri"/>
              <a:ea typeface="Calibri"/>
              <a:cs typeface="Calibri"/>
              <a:sym typeface="Calibri"/>
            </a:endParaRPr>
          </a:p>
        </p:txBody>
      </p:sp>
      <p:sp>
        <p:nvSpPr>
          <p:cNvPr id="506" name="Google Shape;506;p15"/>
          <p:cNvSpPr txBox="1"/>
          <p:nvPr/>
        </p:nvSpPr>
        <p:spPr>
          <a:xfrm>
            <a:off x="6528816" y="2249424"/>
            <a:ext cx="4791456" cy="173736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La resolución mejora reduciendo λ o aumentando NA.</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Pero la profundidad de foco se degrada mucho más rápido al aumentar NA (va con NA²) que al reducir λ.</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De ahí la tendencia histórica hacia fuentes de longitud de onda cada vez más corta, y no simplemente hacia lentes más abiertas.</a:t>
            </a:r>
            <a:endParaRPr b="0" i="0" sz="1150" u="none" cap="none" strike="noStrike">
              <a:solidFill>
                <a:schemeClr val="dk1"/>
              </a:solidFill>
              <a:latin typeface="Calibri"/>
              <a:ea typeface="Calibri"/>
              <a:cs typeface="Calibri"/>
              <a:sym typeface="Calibri"/>
            </a:endParaRPr>
          </a:p>
        </p:txBody>
      </p:sp>
      <p:sp>
        <p:nvSpPr>
          <p:cNvPr id="507" name="Google Shape;507;p15"/>
          <p:cNvSpPr/>
          <p:nvPr/>
        </p:nvSpPr>
        <p:spPr>
          <a:xfrm>
            <a:off x="566928" y="4261104"/>
            <a:ext cx="5358384" cy="1847088"/>
          </a:xfrm>
          <a:prstGeom prst="roundRect">
            <a:avLst>
              <a:gd fmla="val 594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5"/>
          <p:cNvSpPr txBox="1"/>
          <p:nvPr/>
        </p:nvSpPr>
        <p:spPr>
          <a:xfrm>
            <a:off x="859536" y="442569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Sala limpia</a:t>
            </a:r>
            <a:endParaRPr b="0" i="0" sz="1150" u="none" cap="none" strike="noStrike">
              <a:solidFill>
                <a:schemeClr val="dk1"/>
              </a:solidFill>
              <a:latin typeface="Calibri"/>
              <a:ea typeface="Calibri"/>
              <a:cs typeface="Calibri"/>
              <a:sym typeface="Calibri"/>
            </a:endParaRPr>
          </a:p>
        </p:txBody>
      </p:sp>
      <p:sp>
        <p:nvSpPr>
          <p:cNvPr id="509" name="Google Shape;509;p15"/>
          <p:cNvSpPr txBox="1"/>
          <p:nvPr/>
        </p:nvSpPr>
        <p:spPr>
          <a:xfrm>
            <a:off x="859536" y="4754880"/>
            <a:ext cx="4791456" cy="1243584"/>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Clase 100: 100 partículas ≥ 0,5 µm por pie cúbico (clase M 3,5 métrica).</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El área general de fabricación exige clase 100; la de litografía, clase 10 o mejor.</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00"/>
              <a:buFont typeface="Calibri"/>
              <a:buChar char="▪"/>
            </a:pPr>
            <a:r>
              <a:rPr b="0" i="0" lang="en-US" sz="1100" u="none" cap="none" strike="noStrike">
                <a:solidFill>
                  <a:srgbClr val="23262F"/>
                </a:solidFill>
                <a:latin typeface="Calibri"/>
                <a:ea typeface="Calibri"/>
                <a:cs typeface="Calibri"/>
                <a:sym typeface="Calibri"/>
              </a:rPr>
              <a:t>Una partícula sobre la fotomáscara actúa como un patrón opaco y se transfiere al circuito: pinhole, estrangulamiento o cortocircuito.</a:t>
            </a:r>
            <a:endParaRPr b="0" i="0" sz="1100" u="none" cap="none" strike="noStrike">
              <a:solidFill>
                <a:schemeClr val="dk1"/>
              </a:solidFill>
              <a:latin typeface="Calibri"/>
              <a:ea typeface="Calibri"/>
              <a:cs typeface="Calibri"/>
              <a:sym typeface="Calibri"/>
            </a:endParaRPr>
          </a:p>
        </p:txBody>
      </p:sp>
      <p:sp>
        <p:nvSpPr>
          <p:cNvPr id="510" name="Google Shape;510;p15"/>
          <p:cNvSpPr/>
          <p:nvPr/>
        </p:nvSpPr>
        <p:spPr>
          <a:xfrm>
            <a:off x="6236208" y="4261104"/>
            <a:ext cx="5358384" cy="1847088"/>
          </a:xfrm>
          <a:prstGeom prst="roundRect">
            <a:avLst>
              <a:gd fmla="val 5941"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txBox="1"/>
          <p:nvPr/>
        </p:nvSpPr>
        <p:spPr>
          <a:xfrm>
            <a:off x="6528816" y="442569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Ejemplo de clase</a:t>
            </a:r>
            <a:endParaRPr b="0" i="0" sz="1150" u="none" cap="none" strike="noStrike">
              <a:solidFill>
                <a:schemeClr val="dk1"/>
              </a:solidFill>
              <a:latin typeface="Calibri"/>
              <a:ea typeface="Calibri"/>
              <a:cs typeface="Calibri"/>
              <a:sym typeface="Calibri"/>
            </a:endParaRPr>
          </a:p>
        </p:txBody>
      </p:sp>
      <p:sp>
        <p:nvSpPr>
          <p:cNvPr id="512" name="Google Shape;512;p15"/>
          <p:cNvSpPr txBox="1"/>
          <p:nvPr/>
        </p:nvSpPr>
        <p:spPr>
          <a:xfrm>
            <a:off x="6528816" y="4754880"/>
            <a:ext cx="4791456"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050"/>
              <a:buFont typeface="Calibri"/>
              <a:buNone/>
            </a:pPr>
            <a:r>
              <a:rPr b="0" i="0" lang="en-US" sz="1050" u="none" cap="none" strike="noStrike">
                <a:solidFill>
                  <a:srgbClr val="1E2761"/>
                </a:solidFill>
                <a:latin typeface="Calibri"/>
                <a:ea typeface="Calibri"/>
                <a:cs typeface="Calibri"/>
                <a:sym typeface="Calibri"/>
              </a:rPr>
              <a:t>Al exponer una oblea de 300 mm durante 1 minuto a flujo laminar de 30 m/min en sala clase 10, pasan sobre ella unas 742 partículas de 0,5 µm o mayores. Con 800 chips en la oblea, equivale a una partícula sobre el 92 % de ellos. Solo una fracción se adhiere y solo parte de esa cae en un punto crítico, pero el cálculo explica por qué la sala limpia no es opcional.</a:t>
            </a:r>
            <a:endParaRPr b="0" i="0" sz="1050" u="none" cap="none" strike="noStrike">
              <a:solidFill>
                <a:schemeClr val="dk1"/>
              </a:solidFill>
              <a:latin typeface="Calibri"/>
              <a:ea typeface="Calibri"/>
              <a:cs typeface="Calibri"/>
              <a:sym typeface="Calibri"/>
            </a:endParaRPr>
          </a:p>
        </p:txBody>
      </p:sp>
      <p:sp>
        <p:nvSpPr>
          <p:cNvPr id="513" name="Google Shape;513;p15"/>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514" name="Google Shape;514;p15"/>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515" name="Google Shape;515;p15"/>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521" name="Shape 521"/>
        <p:cNvGrpSpPr/>
        <p:nvPr/>
      </p:nvGrpSpPr>
      <p:grpSpPr>
        <a:xfrm>
          <a:off x="0" y="0"/>
          <a:ext cx="0" cy="0"/>
          <a:chOff x="0" y="0"/>
          <a:chExt cx="0" cy="0"/>
        </a:xfrm>
      </p:grpSpPr>
      <p:sp>
        <p:nvSpPr>
          <p:cNvPr id="522" name="Google Shape;522;p16"/>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Grabado: húmedo frente a seco</a:t>
            </a:r>
            <a:endParaRPr b="0" i="0" sz="2700" u="none" cap="none" strike="noStrike">
              <a:solidFill>
                <a:schemeClr val="dk1"/>
              </a:solidFill>
              <a:latin typeface="Calibri"/>
              <a:ea typeface="Calibri"/>
              <a:cs typeface="Calibri"/>
              <a:sym typeface="Calibri"/>
            </a:endParaRPr>
          </a:p>
        </p:txBody>
      </p:sp>
      <p:sp>
        <p:nvSpPr>
          <p:cNvPr id="523" name="Google Shape;523;p16"/>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El grado de anisotropía  Af = 1 − Rl / Rv  decide la resolución alcanzable</a:t>
            </a:r>
            <a:endParaRPr b="0" i="0" sz="1250" u="none" cap="none" strike="noStrike">
              <a:solidFill>
                <a:schemeClr val="dk1"/>
              </a:solidFill>
              <a:latin typeface="Calibri"/>
              <a:ea typeface="Calibri"/>
              <a:cs typeface="Calibri"/>
              <a:sym typeface="Calibri"/>
            </a:endParaRPr>
          </a:p>
        </p:txBody>
      </p:sp>
      <p:sp>
        <p:nvSpPr>
          <p:cNvPr id="524" name="Google Shape;524;p16"/>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13</a:t>
            </a:r>
            <a:endParaRPr b="0" i="0" sz="950" u="none" cap="none" strike="noStrike">
              <a:solidFill>
                <a:schemeClr val="dk1"/>
              </a:solidFill>
              <a:latin typeface="Calibri"/>
              <a:ea typeface="Calibri"/>
              <a:cs typeface="Calibri"/>
              <a:sym typeface="Calibri"/>
            </a:endParaRPr>
          </a:p>
        </p:txBody>
      </p:sp>
      <p:sp>
        <p:nvSpPr>
          <p:cNvPr id="526" name="Google Shape;526;p16"/>
          <p:cNvSpPr/>
          <p:nvPr/>
        </p:nvSpPr>
        <p:spPr>
          <a:xfrm>
            <a:off x="566928" y="1737360"/>
            <a:ext cx="5358384" cy="3200400"/>
          </a:xfrm>
          <a:prstGeom prst="roundRect">
            <a:avLst>
              <a:gd fmla="val 342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txBox="1"/>
          <p:nvPr/>
        </p:nvSpPr>
        <p:spPr>
          <a:xfrm>
            <a:off x="859536" y="1920240"/>
            <a:ext cx="47731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Grabado químico húmedo</a:t>
            </a:r>
            <a:endParaRPr b="0" i="0" sz="1600" u="none" cap="none" strike="noStrike">
              <a:solidFill>
                <a:schemeClr val="dk1"/>
              </a:solidFill>
              <a:latin typeface="Calibri"/>
              <a:ea typeface="Calibri"/>
              <a:cs typeface="Calibri"/>
              <a:sym typeface="Calibri"/>
            </a:endParaRPr>
          </a:p>
        </p:txBody>
      </p:sp>
      <p:sp>
        <p:nvSpPr>
          <p:cNvPr id="528" name="Google Shape;528;p16"/>
          <p:cNvSpPr txBox="1"/>
          <p:nvPr/>
        </p:nvSpPr>
        <p:spPr>
          <a:xfrm>
            <a:off x="859536" y="2340864"/>
            <a:ext cx="4773168" cy="246888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Tres etapas: los reactivos difunden hacia la superficie, ocurre la reacción química y los productos se retiran por difusión.</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Generalmente isotrópico: Rl = Rv, por tanto Af = 0.</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Produce socavado (undercutting) bajo la máscara y pérdida de resolución.</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Regla práctica: el espesor de la película debe ser un tercio o menos de la resolución requerida.</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Adecuado para grabados generales de polisilicio, óxido, nitruro, metales y compuestos III-V.</a:t>
            </a:r>
            <a:endParaRPr b="0" i="0" sz="1150" u="none" cap="none" strike="noStrike">
              <a:solidFill>
                <a:schemeClr val="dk1"/>
              </a:solidFill>
              <a:latin typeface="Calibri"/>
              <a:ea typeface="Calibri"/>
              <a:cs typeface="Calibri"/>
              <a:sym typeface="Calibri"/>
            </a:endParaRPr>
          </a:p>
        </p:txBody>
      </p:sp>
      <p:sp>
        <p:nvSpPr>
          <p:cNvPr id="529" name="Google Shape;529;p16"/>
          <p:cNvSpPr/>
          <p:nvPr/>
        </p:nvSpPr>
        <p:spPr>
          <a:xfrm>
            <a:off x="6236208" y="1737360"/>
            <a:ext cx="5358384" cy="3200400"/>
          </a:xfrm>
          <a:prstGeom prst="roundRect">
            <a:avLst>
              <a:gd fmla="val 3429"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txBox="1"/>
          <p:nvPr/>
        </p:nvSpPr>
        <p:spPr>
          <a:xfrm>
            <a:off x="6528816" y="1920240"/>
            <a:ext cx="47731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600"/>
              <a:buFont typeface="Cambria"/>
              <a:buNone/>
            </a:pPr>
            <a:r>
              <a:rPr b="1" i="0" lang="en-US" sz="1600" u="none" cap="none" strike="noStrike">
                <a:solidFill>
                  <a:srgbClr val="F96167"/>
                </a:solidFill>
                <a:latin typeface="Cambria"/>
                <a:ea typeface="Cambria"/>
                <a:cs typeface="Cambria"/>
                <a:sym typeface="Cambria"/>
              </a:rPr>
              <a:t>Grabado seco (asistido por plasma)</a:t>
            </a:r>
            <a:endParaRPr b="0" i="0" sz="1600" u="none" cap="none" strike="noStrike">
              <a:solidFill>
                <a:schemeClr val="dk1"/>
              </a:solidFill>
              <a:latin typeface="Calibri"/>
              <a:ea typeface="Calibri"/>
              <a:cs typeface="Calibri"/>
              <a:sym typeface="Calibri"/>
            </a:endParaRPr>
          </a:p>
        </p:txBody>
      </p:sp>
      <p:sp>
        <p:nvSpPr>
          <p:cNvPr id="531" name="Google Shape;531;p16"/>
          <p:cNvSpPr txBox="1"/>
          <p:nvPr/>
        </p:nvSpPr>
        <p:spPr>
          <a:xfrm>
            <a:off x="6528816" y="2340864"/>
            <a:ext cx="4773168" cy="246888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Sinónimo de grabado asistido por plasma, mediante descargas a baja presión.</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Permite Af cercano a la unidad: el grabado lateral tiende a cero.</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Indispensable para la transferencia fiel de patrones en procesos ULSI.</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Variantes: plasma etching, RIE, sputter etching, MERIE, reactive ion beam y HDP etching.</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Introducido en 1971 por Irving, Lemons y Bobos.</a:t>
            </a:r>
            <a:endParaRPr b="0" i="0" sz="1150" u="none" cap="none" strike="noStrike">
              <a:solidFill>
                <a:schemeClr val="dk1"/>
              </a:solidFill>
              <a:latin typeface="Calibri"/>
              <a:ea typeface="Calibri"/>
              <a:cs typeface="Calibri"/>
              <a:sym typeface="Calibri"/>
            </a:endParaRPr>
          </a:p>
        </p:txBody>
      </p:sp>
      <p:sp>
        <p:nvSpPr>
          <p:cNvPr id="532" name="Google Shape;532;p16"/>
          <p:cNvSpPr/>
          <p:nvPr/>
        </p:nvSpPr>
        <p:spPr>
          <a:xfrm>
            <a:off x="566928" y="5138928"/>
            <a:ext cx="11027664" cy="969264"/>
          </a:xfrm>
          <a:prstGeom prst="roundRect">
            <a:avLst>
              <a:gd fmla="val 11321"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txBox="1"/>
          <p:nvPr/>
        </p:nvSpPr>
        <p:spPr>
          <a:xfrm>
            <a:off x="886968" y="5248656"/>
            <a:ext cx="103327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Uniformidad de la tasa de grabado (%)  =  (Rmáx − Rmín) / (Rmáx + Rmín) × 100 %</a:t>
            </a:r>
            <a:endParaRPr b="0" i="0" sz="1400" u="none" cap="none" strike="noStrike">
              <a:solidFill>
                <a:schemeClr val="dk1"/>
              </a:solidFill>
              <a:latin typeface="Calibri"/>
              <a:ea typeface="Calibri"/>
              <a:cs typeface="Calibri"/>
              <a:sym typeface="Calibri"/>
            </a:endParaRPr>
          </a:p>
        </p:txBody>
      </p:sp>
      <p:sp>
        <p:nvSpPr>
          <p:cNvPr id="534" name="Google Shape;534;p16"/>
          <p:cNvSpPr txBox="1"/>
          <p:nvPr/>
        </p:nvSpPr>
        <p:spPr>
          <a:xfrm>
            <a:off x="886968" y="5614416"/>
            <a:ext cx="10241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Debe cumplirse dentro de la oblea, de oblea a oblea, de lote a lote y para cualquier variación de tamaño de patrón y densidad.</a:t>
            </a:r>
            <a:endParaRPr b="0" i="0" sz="1100" u="none" cap="none" strike="noStrike">
              <a:solidFill>
                <a:schemeClr val="dk1"/>
              </a:solidFill>
              <a:latin typeface="Calibri"/>
              <a:ea typeface="Calibri"/>
              <a:cs typeface="Calibri"/>
              <a:sym typeface="Calibri"/>
            </a:endParaRPr>
          </a:p>
        </p:txBody>
      </p:sp>
      <p:sp>
        <p:nvSpPr>
          <p:cNvPr id="535" name="Google Shape;535;p16"/>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536" name="Google Shape;536;p16"/>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537" name="Google Shape;537;p16"/>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543" name="Shape 543"/>
        <p:cNvGrpSpPr/>
        <p:nvPr/>
      </p:nvGrpSpPr>
      <p:grpSpPr>
        <a:xfrm>
          <a:off x="0" y="0"/>
          <a:ext cx="0" cy="0"/>
          <a:chOff x="0" y="0"/>
          <a:chExt cx="0" cy="0"/>
        </a:xfrm>
      </p:grpSpPr>
      <p:sp>
        <p:nvSpPr>
          <p:cNvPr id="544" name="Google Shape;544;p17"/>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Circuitos integrados peliculares (film)</a:t>
            </a:r>
            <a:endParaRPr b="0" i="0" sz="2700" u="none" cap="none" strike="noStrike">
              <a:solidFill>
                <a:schemeClr val="dk1"/>
              </a:solidFill>
              <a:latin typeface="Calibri"/>
              <a:ea typeface="Calibri"/>
              <a:cs typeface="Calibri"/>
              <a:sym typeface="Calibri"/>
            </a:endParaRPr>
          </a:p>
        </p:txBody>
      </p:sp>
      <p:sp>
        <p:nvSpPr>
          <p:cNvPr id="545" name="Google Shape;545;p17"/>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Llamados también híbridos</a:t>
            </a:r>
            <a:endParaRPr b="0" i="0" sz="1250" u="none" cap="none" strike="noStrike">
              <a:solidFill>
                <a:schemeClr val="dk1"/>
              </a:solidFill>
              <a:latin typeface="Calibri"/>
              <a:ea typeface="Calibri"/>
              <a:cs typeface="Calibri"/>
              <a:sym typeface="Calibri"/>
            </a:endParaRPr>
          </a:p>
        </p:txBody>
      </p:sp>
      <p:sp>
        <p:nvSpPr>
          <p:cNvPr id="546" name="Google Shape;546;p17"/>
          <p:cNvSpPr/>
          <p:nvPr/>
        </p:nvSpPr>
        <p:spPr>
          <a:xfrm>
            <a:off x="566928" y="1627632"/>
            <a:ext cx="6766560" cy="4480560"/>
          </a:xfrm>
          <a:prstGeom prst="roundRect">
            <a:avLst>
              <a:gd fmla="val 244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7"/>
          <p:cNvSpPr txBox="1"/>
          <p:nvPr/>
        </p:nvSpPr>
        <p:spPr>
          <a:xfrm>
            <a:off x="3166974" y="1901950"/>
            <a:ext cx="3846600" cy="3931800"/>
          </a:xfrm>
          <a:prstGeom prst="rect">
            <a:avLst/>
          </a:prstGeom>
          <a:noFill/>
          <a:ln>
            <a:noFill/>
          </a:ln>
        </p:spPr>
        <p:txBody>
          <a:bodyPr anchorCtr="0" anchor="t" bIns="0" lIns="0" spcFirstLastPara="1" rIns="0" wrap="square" tIns="0">
            <a:noAutofit/>
          </a:bodyPr>
          <a:lstStyle/>
          <a:p>
            <a:pPr indent="-333375" lvl="0" marL="342900" marR="0" rtl="0" algn="l">
              <a:lnSpc>
                <a:spcPct val="106000"/>
              </a:lnSpc>
              <a:spcBef>
                <a:spcPts val="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Se denominan híbridos porque los condensadores y resistencias de valores grandes se forman al exterior del sustrato, sobre un material aislante como vidrio o cerámico.</a:t>
            </a:r>
            <a:endParaRPr b="0" i="0" sz="1200" u="none" cap="none" strike="noStrike">
              <a:solidFill>
                <a:srgbClr val="23262F"/>
              </a:solidFill>
              <a:latin typeface="Calibri"/>
              <a:ea typeface="Calibri"/>
              <a:cs typeface="Calibri"/>
              <a:sym typeface="Calibri"/>
            </a:endParaRPr>
          </a:p>
          <a:p>
            <a:pPr indent="0" lvl="0" marL="457200" marR="0" rtl="0" algn="l">
              <a:lnSpc>
                <a:spcPct val="106000"/>
              </a:lnSpc>
              <a:spcBef>
                <a:spcPts val="0"/>
              </a:spcBef>
              <a:spcAft>
                <a:spcPts val="0"/>
              </a:spcAft>
              <a:buNone/>
            </a:pPr>
            <a:r>
              <a:t/>
            </a:r>
            <a:endParaRPr sz="1200">
              <a:solidFill>
                <a:srgbClr val="23262F"/>
              </a:solidFill>
              <a:latin typeface="Calibri"/>
              <a:ea typeface="Calibri"/>
              <a:cs typeface="Calibri"/>
              <a:sym typeface="Calibri"/>
            </a:endParaRPr>
          </a:p>
          <a:p>
            <a:pPr indent="-333375"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Se desarrollan para salvar las limitaciones que la técnica planar impone a los integrados monolíticos.</a:t>
            </a:r>
            <a:endParaRPr b="0" i="0" sz="1200" u="none" cap="none" strike="noStrike">
              <a:solidFill>
                <a:srgbClr val="23262F"/>
              </a:solidFill>
              <a:latin typeface="Calibri"/>
              <a:ea typeface="Calibri"/>
              <a:cs typeface="Calibri"/>
              <a:sym typeface="Calibri"/>
            </a:endParaRPr>
          </a:p>
          <a:p>
            <a:pPr indent="0" lvl="0" marL="457200" marR="0" rtl="0" algn="l">
              <a:lnSpc>
                <a:spcPct val="106000"/>
              </a:lnSpc>
              <a:spcBef>
                <a:spcPts val="700"/>
              </a:spcBef>
              <a:spcAft>
                <a:spcPts val="0"/>
              </a:spcAft>
              <a:buNone/>
            </a:pPr>
            <a:r>
              <a:t/>
            </a:r>
            <a:endParaRPr sz="1200">
              <a:solidFill>
                <a:srgbClr val="23262F"/>
              </a:solidFill>
              <a:latin typeface="Calibri"/>
              <a:ea typeface="Calibri"/>
              <a:cs typeface="Calibri"/>
              <a:sym typeface="Calibri"/>
            </a:endParaRPr>
          </a:p>
          <a:p>
            <a:pPr indent="-333375"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Permiten resistencias y condensadores de pequeñas tolerancias y elevados valores.</a:t>
            </a:r>
            <a:endParaRPr b="0" i="0" sz="1200" u="none" cap="none" strike="noStrike">
              <a:solidFill>
                <a:srgbClr val="23262F"/>
              </a:solidFill>
              <a:latin typeface="Calibri"/>
              <a:ea typeface="Calibri"/>
              <a:cs typeface="Calibri"/>
              <a:sym typeface="Calibri"/>
            </a:endParaRPr>
          </a:p>
          <a:p>
            <a:pPr indent="0" lvl="0" marL="457200" marR="0" rtl="0" algn="l">
              <a:lnSpc>
                <a:spcPct val="106000"/>
              </a:lnSpc>
              <a:spcBef>
                <a:spcPts val="700"/>
              </a:spcBef>
              <a:spcAft>
                <a:spcPts val="0"/>
              </a:spcAft>
              <a:buNone/>
            </a:pPr>
            <a:r>
              <a:t/>
            </a:r>
            <a:endParaRPr sz="1200">
              <a:solidFill>
                <a:srgbClr val="23262F"/>
              </a:solidFill>
              <a:latin typeface="Calibri"/>
              <a:ea typeface="Calibri"/>
              <a:cs typeface="Calibri"/>
              <a:sym typeface="Calibri"/>
            </a:endParaRPr>
          </a:p>
          <a:p>
            <a:pPr indent="-333375"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Permiten la producción en serie de circuitos reducidos.</a:t>
            </a:r>
            <a:endParaRPr b="0" i="0" sz="1200" u="none" cap="none" strike="noStrike">
              <a:solidFill>
                <a:srgbClr val="23262F"/>
              </a:solidFill>
              <a:latin typeface="Calibri"/>
              <a:ea typeface="Calibri"/>
              <a:cs typeface="Calibri"/>
              <a:sym typeface="Calibri"/>
            </a:endParaRPr>
          </a:p>
          <a:p>
            <a:pPr indent="0" lvl="0" marL="457200" marR="0" rtl="0" algn="l">
              <a:lnSpc>
                <a:spcPct val="106000"/>
              </a:lnSpc>
              <a:spcBef>
                <a:spcPts val="700"/>
              </a:spcBef>
              <a:spcAft>
                <a:spcPts val="0"/>
              </a:spcAft>
              <a:buNone/>
            </a:pPr>
            <a:r>
              <a:t/>
            </a:r>
            <a:endParaRPr sz="1200">
              <a:solidFill>
                <a:srgbClr val="23262F"/>
              </a:solidFill>
              <a:latin typeface="Calibri"/>
              <a:ea typeface="Calibri"/>
              <a:cs typeface="Calibri"/>
              <a:sym typeface="Calibri"/>
            </a:endParaRPr>
          </a:p>
          <a:p>
            <a:pPr indent="-333375"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La técnica pelicular permite realizar, en un encapsulado simple, combinaciones extremadamente complejas de semiconductores.</a:t>
            </a:r>
            <a:endParaRPr b="0" i="0" sz="1200" u="none" cap="none" strike="noStrike">
              <a:solidFill>
                <a:schemeClr val="dk1"/>
              </a:solidFill>
              <a:latin typeface="Calibri"/>
              <a:ea typeface="Calibri"/>
              <a:cs typeface="Calibri"/>
              <a:sym typeface="Calibri"/>
            </a:endParaRPr>
          </a:p>
        </p:txBody>
      </p:sp>
      <p:sp>
        <p:nvSpPr>
          <p:cNvPr id="548" name="Google Shape;548;p17"/>
          <p:cNvSpPr/>
          <p:nvPr/>
        </p:nvSpPr>
        <p:spPr>
          <a:xfrm>
            <a:off x="7589520" y="1627632"/>
            <a:ext cx="4005072" cy="2139696"/>
          </a:xfrm>
          <a:prstGeom prst="roundRect">
            <a:avLst>
              <a:gd fmla="val 5128"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7"/>
          <p:cNvSpPr txBox="1"/>
          <p:nvPr/>
        </p:nvSpPr>
        <p:spPr>
          <a:xfrm>
            <a:off x="7863840" y="1828800"/>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Película gruesa</a:t>
            </a:r>
            <a:endParaRPr b="0" i="0" sz="1700" u="none" cap="none" strike="noStrike">
              <a:solidFill>
                <a:schemeClr val="dk1"/>
              </a:solidFill>
              <a:latin typeface="Calibri"/>
              <a:ea typeface="Calibri"/>
              <a:cs typeface="Calibri"/>
              <a:sym typeface="Calibri"/>
            </a:endParaRPr>
          </a:p>
        </p:txBody>
      </p:sp>
      <p:sp>
        <p:nvSpPr>
          <p:cNvPr id="550" name="Google Shape;550;p17"/>
          <p:cNvSpPr txBox="1"/>
          <p:nvPr/>
        </p:nvSpPr>
        <p:spPr>
          <a:xfrm>
            <a:off x="7863840" y="213969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00"/>
              <a:buFont typeface="Calibri"/>
              <a:buNone/>
            </a:pPr>
            <a:r>
              <a:rPr b="0" i="1" lang="en-US" sz="1100" u="none" cap="none" strike="noStrike">
                <a:solidFill>
                  <a:srgbClr val="F96167"/>
                </a:solidFill>
                <a:latin typeface="Calibri"/>
                <a:ea typeface="Calibri"/>
                <a:cs typeface="Calibri"/>
                <a:sym typeface="Calibri"/>
              </a:rPr>
              <a:t>thick-film</a:t>
            </a:r>
            <a:endParaRPr b="0" i="0" sz="1100" u="none" cap="none" strike="noStrike">
              <a:solidFill>
                <a:schemeClr val="dk1"/>
              </a:solidFill>
              <a:latin typeface="Calibri"/>
              <a:ea typeface="Calibri"/>
              <a:cs typeface="Calibri"/>
              <a:sym typeface="Calibri"/>
            </a:endParaRPr>
          </a:p>
        </p:txBody>
      </p:sp>
      <p:sp>
        <p:nvSpPr>
          <p:cNvPr id="551" name="Google Shape;551;p17"/>
          <p:cNvSpPr txBox="1"/>
          <p:nvPr/>
        </p:nvSpPr>
        <p:spPr>
          <a:xfrm>
            <a:off x="7863840" y="2487168"/>
            <a:ext cx="347472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Pasivos e interconexiones formados por procedimientos serigráficos sobre un circuito impreso.</a:t>
            </a:r>
            <a:endParaRPr b="0" i="0" sz="1150" u="none" cap="none" strike="noStrike">
              <a:solidFill>
                <a:schemeClr val="dk1"/>
              </a:solidFill>
              <a:latin typeface="Calibri"/>
              <a:ea typeface="Calibri"/>
              <a:cs typeface="Calibri"/>
              <a:sym typeface="Calibri"/>
            </a:endParaRPr>
          </a:p>
        </p:txBody>
      </p:sp>
      <p:sp>
        <p:nvSpPr>
          <p:cNvPr id="552" name="Google Shape;552;p17"/>
          <p:cNvSpPr/>
          <p:nvPr/>
        </p:nvSpPr>
        <p:spPr>
          <a:xfrm>
            <a:off x="7589520" y="3968496"/>
            <a:ext cx="4005072" cy="2139696"/>
          </a:xfrm>
          <a:prstGeom prst="roundRect">
            <a:avLst>
              <a:gd fmla="val 5128"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7"/>
          <p:cNvSpPr txBox="1"/>
          <p:nvPr/>
        </p:nvSpPr>
        <p:spPr>
          <a:xfrm>
            <a:off x="7863840" y="4169664"/>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Película fina</a:t>
            </a:r>
            <a:endParaRPr b="0" i="0" sz="1700" u="none" cap="none" strike="noStrike">
              <a:solidFill>
                <a:schemeClr val="dk1"/>
              </a:solidFill>
              <a:latin typeface="Calibri"/>
              <a:ea typeface="Calibri"/>
              <a:cs typeface="Calibri"/>
              <a:sym typeface="Calibri"/>
            </a:endParaRPr>
          </a:p>
        </p:txBody>
      </p:sp>
      <p:sp>
        <p:nvSpPr>
          <p:cNvPr id="554" name="Google Shape;554;p17"/>
          <p:cNvSpPr txBox="1"/>
          <p:nvPr/>
        </p:nvSpPr>
        <p:spPr>
          <a:xfrm>
            <a:off x="7863840" y="448056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00"/>
              <a:buFont typeface="Calibri"/>
              <a:buNone/>
            </a:pPr>
            <a:r>
              <a:rPr b="0" i="1" lang="en-US" sz="1100" u="none" cap="none" strike="noStrike">
                <a:solidFill>
                  <a:srgbClr val="F96167"/>
                </a:solidFill>
                <a:latin typeface="Calibri"/>
                <a:ea typeface="Calibri"/>
                <a:cs typeface="Calibri"/>
                <a:sym typeface="Calibri"/>
              </a:rPr>
              <a:t>thin-film</a:t>
            </a:r>
            <a:endParaRPr b="0" i="0" sz="1100" u="none" cap="none" strike="noStrike">
              <a:solidFill>
                <a:schemeClr val="dk1"/>
              </a:solidFill>
              <a:latin typeface="Calibri"/>
              <a:ea typeface="Calibri"/>
              <a:cs typeface="Calibri"/>
              <a:sym typeface="Calibri"/>
            </a:endParaRPr>
          </a:p>
        </p:txBody>
      </p:sp>
      <p:sp>
        <p:nvSpPr>
          <p:cNvPr id="555" name="Google Shape;555;p17"/>
          <p:cNvSpPr txBox="1"/>
          <p:nvPr/>
        </p:nvSpPr>
        <p:spPr>
          <a:xfrm>
            <a:off x="7863840" y="4828032"/>
            <a:ext cx="3474720"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50"/>
              <a:buFont typeface="Calibri"/>
              <a:buNone/>
            </a:pPr>
            <a:r>
              <a:rPr b="0" i="0" lang="en-US" sz="1150" u="none" cap="none" strike="noStrike">
                <a:solidFill>
                  <a:srgbClr val="23262F"/>
                </a:solidFill>
                <a:latin typeface="Calibri"/>
                <a:ea typeface="Calibri"/>
                <a:cs typeface="Calibri"/>
                <a:sym typeface="Calibri"/>
              </a:rPr>
              <a:t>Pasivos e interconexiones obtenidos por evaporación al vacío sobre sustrato de cerámica o vidrio.</a:t>
            </a:r>
            <a:endParaRPr b="0" i="0" sz="1150" u="none" cap="none" strike="noStrike">
              <a:solidFill>
                <a:schemeClr val="dk1"/>
              </a:solidFill>
              <a:latin typeface="Calibri"/>
              <a:ea typeface="Calibri"/>
              <a:cs typeface="Calibri"/>
              <a:sym typeface="Calibri"/>
            </a:endParaRPr>
          </a:p>
        </p:txBody>
      </p:sp>
      <p:sp>
        <p:nvSpPr>
          <p:cNvPr id="556" name="Google Shape;556;p17"/>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557" name="Google Shape;557;p17"/>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558" name="Google Shape;558;p17"/>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7"/>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pic>
        <p:nvPicPr>
          <p:cNvPr descr="Docencia e Investigación" id="560" name="Google Shape;560;p17"/>
          <p:cNvPicPr preferRelativeResize="0"/>
          <p:nvPr/>
        </p:nvPicPr>
        <p:blipFill>
          <a:blip r:embed="rId3">
            <a:alphaModFix/>
          </a:blip>
          <a:stretch>
            <a:fillRect/>
          </a:stretch>
        </p:blipFill>
        <p:spPr>
          <a:xfrm>
            <a:off x="936925" y="1749056"/>
            <a:ext cx="1841450" cy="2222025"/>
          </a:xfrm>
          <a:prstGeom prst="rect">
            <a:avLst/>
          </a:prstGeom>
          <a:noFill/>
          <a:ln>
            <a:noFill/>
          </a:ln>
        </p:spPr>
      </p:pic>
      <p:pic>
        <p:nvPicPr>
          <p:cNvPr descr="Docencia e Investigación" id="561" name="Google Shape;561;p17"/>
          <p:cNvPicPr preferRelativeResize="0"/>
          <p:nvPr/>
        </p:nvPicPr>
        <p:blipFill>
          <a:blip r:embed="rId4">
            <a:alphaModFix/>
          </a:blip>
          <a:stretch>
            <a:fillRect/>
          </a:stretch>
        </p:blipFill>
        <p:spPr>
          <a:xfrm>
            <a:off x="906404" y="3918839"/>
            <a:ext cx="1925275" cy="20406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566" name="Shape 566"/>
        <p:cNvGrpSpPr/>
        <p:nvPr/>
      </p:nvGrpSpPr>
      <p:grpSpPr>
        <a:xfrm>
          <a:off x="0" y="0"/>
          <a:ext cx="0" cy="0"/>
          <a:chOff x="0" y="0"/>
          <a:chExt cx="0" cy="0"/>
        </a:xfrm>
      </p:grpSpPr>
      <p:sp>
        <p:nvSpPr>
          <p:cNvPr id="567" name="Google Shape;567;p18"/>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Película gruesa frente a película fina</a:t>
            </a:r>
            <a:endParaRPr b="0" i="0" sz="2700" u="none" cap="none" strike="noStrike">
              <a:solidFill>
                <a:schemeClr val="dk1"/>
              </a:solidFill>
              <a:latin typeface="Calibri"/>
              <a:ea typeface="Calibri"/>
              <a:cs typeface="Calibri"/>
              <a:sym typeface="Calibri"/>
            </a:endParaRPr>
          </a:p>
        </p:txBody>
      </p:sp>
      <p:sp>
        <p:nvSpPr>
          <p:cNvPr id="568" name="Google Shape;568;p18"/>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Dos rutas híbridas con aplicaciones distintas</a:t>
            </a:r>
            <a:endParaRPr b="0" i="0" sz="1250" u="none" cap="none" strike="noStrike">
              <a:solidFill>
                <a:schemeClr val="dk1"/>
              </a:solidFill>
              <a:latin typeface="Calibri"/>
              <a:ea typeface="Calibri"/>
              <a:cs typeface="Calibri"/>
              <a:sym typeface="Calibri"/>
            </a:endParaRPr>
          </a:p>
        </p:txBody>
      </p:sp>
      <p:sp>
        <p:nvSpPr>
          <p:cNvPr id="569" name="Google Shape;569;p18"/>
          <p:cNvSpPr/>
          <p:nvPr/>
        </p:nvSpPr>
        <p:spPr>
          <a:xfrm>
            <a:off x="566928" y="1627632"/>
            <a:ext cx="5358384" cy="3913632"/>
          </a:xfrm>
          <a:prstGeom prst="roundRect">
            <a:avLst>
              <a:gd fmla="val 2804"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txBox="1"/>
          <p:nvPr/>
        </p:nvSpPr>
        <p:spPr>
          <a:xfrm>
            <a:off x="877824" y="1810512"/>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Circuitos a película gruesa</a:t>
            </a:r>
            <a:endParaRPr b="0" i="0" sz="1700" u="none" cap="none" strike="noStrike">
              <a:solidFill>
                <a:schemeClr val="dk1"/>
              </a:solidFill>
              <a:latin typeface="Calibri"/>
              <a:ea typeface="Calibri"/>
              <a:cs typeface="Calibri"/>
              <a:sym typeface="Calibri"/>
            </a:endParaRPr>
          </a:p>
        </p:txBody>
      </p:sp>
      <p:sp>
        <p:nvSpPr>
          <p:cNvPr id="571" name="Google Shape;571;p18"/>
          <p:cNvSpPr txBox="1"/>
          <p:nvPr/>
        </p:nvSpPr>
        <p:spPr>
          <a:xfrm>
            <a:off x="877824" y="2139696"/>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100"/>
              <a:buFont typeface="Calibri"/>
              <a:buNone/>
            </a:pPr>
            <a:r>
              <a:rPr b="0" i="1" lang="en-US" sz="1100" u="none" cap="none" strike="noStrike">
                <a:solidFill>
                  <a:srgbClr val="5A6172"/>
                </a:solidFill>
                <a:latin typeface="Calibri"/>
                <a:ea typeface="Calibri"/>
                <a:cs typeface="Calibri"/>
                <a:sym typeface="Calibri"/>
              </a:rPr>
              <a:t>thick-film</a:t>
            </a:r>
            <a:endParaRPr b="0" i="0" sz="1100" u="none" cap="none" strike="noStrike">
              <a:solidFill>
                <a:schemeClr val="dk1"/>
              </a:solidFill>
              <a:latin typeface="Calibri"/>
              <a:ea typeface="Calibri"/>
              <a:cs typeface="Calibri"/>
              <a:sym typeface="Calibri"/>
            </a:endParaRPr>
          </a:p>
        </p:txBody>
      </p:sp>
      <p:sp>
        <p:nvSpPr>
          <p:cNvPr id="572" name="Google Shape;572;p18"/>
          <p:cNvSpPr txBox="1"/>
          <p:nvPr/>
        </p:nvSpPr>
        <p:spPr>
          <a:xfrm>
            <a:off x="877824" y="2523744"/>
            <a:ext cx="4754880" cy="2834640"/>
          </a:xfrm>
          <a:prstGeom prst="rect">
            <a:avLst/>
          </a:prstGeom>
          <a:noFill/>
          <a:ln>
            <a:noFill/>
          </a:ln>
        </p:spPr>
        <p:txBody>
          <a:bodyPr anchorCtr="0" anchor="t" bIns="0" lIns="0" spcFirstLastPara="1" rIns="0" wrap="square" tIns="0">
            <a:noAutofit/>
          </a:bodyPr>
          <a:lstStyle/>
          <a:p>
            <a:pPr indent="-368300" lvl="0" marL="342900" marR="0" rtl="0" algn="just">
              <a:lnSpc>
                <a:spcPct val="106000"/>
              </a:lnSpc>
              <a:spcBef>
                <a:spcPts val="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Los elementos pasivos y las distintas interconexiones se forman sobre un circuito impreso por procedimientos serigráficos.</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Los elementos activos también son incorporados como unidades independientes.</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Tolerancias más amplias, costo de proceso menor.</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Adecuados para potencia, automoción e instrumentación robusta.</a:t>
            </a:r>
            <a:endParaRPr b="0" i="0" sz="1600" u="none" cap="none" strike="noStrike">
              <a:solidFill>
                <a:schemeClr val="dk1"/>
              </a:solidFill>
              <a:latin typeface="Calibri"/>
              <a:ea typeface="Calibri"/>
              <a:cs typeface="Calibri"/>
              <a:sym typeface="Calibri"/>
            </a:endParaRPr>
          </a:p>
        </p:txBody>
      </p:sp>
      <p:sp>
        <p:nvSpPr>
          <p:cNvPr id="573" name="Google Shape;573;p18"/>
          <p:cNvSpPr/>
          <p:nvPr/>
        </p:nvSpPr>
        <p:spPr>
          <a:xfrm>
            <a:off x="6236208" y="1627632"/>
            <a:ext cx="5358384" cy="3913632"/>
          </a:xfrm>
          <a:prstGeom prst="roundRect">
            <a:avLst>
              <a:gd fmla="val 2804"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txBox="1"/>
          <p:nvPr/>
        </p:nvSpPr>
        <p:spPr>
          <a:xfrm>
            <a:off x="6547104" y="1810512"/>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700"/>
              <a:buFont typeface="Cambria"/>
              <a:buNone/>
            </a:pPr>
            <a:r>
              <a:rPr b="1" i="0" lang="en-US" sz="1700" u="none" cap="none" strike="noStrike">
                <a:solidFill>
                  <a:srgbClr val="F96167"/>
                </a:solidFill>
                <a:latin typeface="Cambria"/>
                <a:ea typeface="Cambria"/>
                <a:cs typeface="Cambria"/>
                <a:sym typeface="Cambria"/>
              </a:rPr>
              <a:t>Circuitos a película fina</a:t>
            </a:r>
            <a:endParaRPr b="0" i="0" sz="1700" u="none" cap="none" strike="noStrike">
              <a:solidFill>
                <a:schemeClr val="dk1"/>
              </a:solidFill>
              <a:latin typeface="Calibri"/>
              <a:ea typeface="Calibri"/>
              <a:cs typeface="Calibri"/>
              <a:sym typeface="Calibri"/>
            </a:endParaRPr>
          </a:p>
        </p:txBody>
      </p:sp>
      <p:sp>
        <p:nvSpPr>
          <p:cNvPr id="575" name="Google Shape;575;p18"/>
          <p:cNvSpPr txBox="1"/>
          <p:nvPr/>
        </p:nvSpPr>
        <p:spPr>
          <a:xfrm>
            <a:off x="6547104" y="2139696"/>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100"/>
              <a:buFont typeface="Calibri"/>
              <a:buNone/>
            </a:pPr>
            <a:r>
              <a:rPr b="0" i="1" lang="en-US" sz="1100" u="none" cap="none" strike="noStrike">
                <a:solidFill>
                  <a:srgbClr val="5A6172"/>
                </a:solidFill>
                <a:latin typeface="Calibri"/>
                <a:ea typeface="Calibri"/>
                <a:cs typeface="Calibri"/>
                <a:sym typeface="Calibri"/>
              </a:rPr>
              <a:t>thin-film</a:t>
            </a:r>
            <a:endParaRPr b="0" i="0" sz="1100" u="none" cap="none" strike="noStrike">
              <a:solidFill>
                <a:schemeClr val="dk1"/>
              </a:solidFill>
              <a:latin typeface="Calibri"/>
              <a:ea typeface="Calibri"/>
              <a:cs typeface="Calibri"/>
              <a:sym typeface="Calibri"/>
            </a:endParaRPr>
          </a:p>
        </p:txBody>
      </p:sp>
      <p:sp>
        <p:nvSpPr>
          <p:cNvPr id="576" name="Google Shape;576;p18"/>
          <p:cNvSpPr txBox="1"/>
          <p:nvPr/>
        </p:nvSpPr>
        <p:spPr>
          <a:xfrm>
            <a:off x="6547104" y="2523744"/>
            <a:ext cx="4754880" cy="2834640"/>
          </a:xfrm>
          <a:prstGeom prst="rect">
            <a:avLst/>
          </a:prstGeom>
          <a:noFill/>
          <a:ln>
            <a:noFill/>
          </a:ln>
        </p:spPr>
        <p:txBody>
          <a:bodyPr anchorCtr="0" anchor="t" bIns="0" lIns="0" spcFirstLastPara="1" rIns="0" wrap="square" tIns="0">
            <a:noAutofit/>
          </a:bodyPr>
          <a:lstStyle/>
          <a:p>
            <a:pPr indent="-368300" lvl="0" marL="342900" marR="0" rtl="0" algn="just">
              <a:lnSpc>
                <a:spcPct val="106000"/>
              </a:lnSpc>
              <a:spcBef>
                <a:spcPts val="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Construidos sobre un sustrato de cerámica o de vidrio.</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Los elementos pasivos y las interconexiones se obtienen por técnicas de evaporación al vacío sobre el sustrato.</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Los elementos activos son montados y soldados sobre el sustrato como unidades independientes.</a:t>
            </a:r>
            <a:endParaRPr b="0" i="0" sz="1600" u="none" cap="none" strike="noStrike">
              <a:solidFill>
                <a:schemeClr val="dk1"/>
              </a:solidFill>
              <a:latin typeface="Calibri"/>
              <a:ea typeface="Calibri"/>
              <a:cs typeface="Calibri"/>
              <a:sym typeface="Calibri"/>
            </a:endParaRPr>
          </a:p>
          <a:p>
            <a:pPr indent="-368300" lvl="0" marL="342900" marR="0" rtl="0" algn="just">
              <a:lnSpc>
                <a:spcPct val="106000"/>
              </a:lnSpc>
              <a:spcBef>
                <a:spcPts val="700"/>
              </a:spcBef>
              <a:spcAft>
                <a:spcPts val="0"/>
              </a:spcAft>
              <a:buClr>
                <a:srgbClr val="23262F"/>
              </a:buClr>
              <a:buSzPts val="1600"/>
              <a:buFont typeface="Calibri"/>
              <a:buChar char="▪"/>
            </a:pPr>
            <a:r>
              <a:rPr b="0" i="0" lang="en-US" sz="1600" u="none" cap="none" strike="noStrike">
                <a:solidFill>
                  <a:srgbClr val="23262F"/>
                </a:solidFill>
                <a:latin typeface="Calibri"/>
                <a:ea typeface="Calibri"/>
                <a:cs typeface="Calibri"/>
                <a:sym typeface="Calibri"/>
              </a:rPr>
              <a:t>Se emplean fundamentalmente en circuitería analógica, por la gran precisión que alcanzan las resistencias (&lt; ± 0,1 %).</a:t>
            </a:r>
            <a:endParaRPr b="0" i="0" sz="1600" u="none" cap="none" strike="noStrike">
              <a:solidFill>
                <a:schemeClr val="dk1"/>
              </a:solidFill>
              <a:latin typeface="Calibri"/>
              <a:ea typeface="Calibri"/>
              <a:cs typeface="Calibri"/>
              <a:sym typeface="Calibri"/>
            </a:endParaRPr>
          </a:p>
        </p:txBody>
      </p:sp>
      <p:sp>
        <p:nvSpPr>
          <p:cNvPr id="577" name="Google Shape;577;p18"/>
          <p:cNvSpPr/>
          <p:nvPr/>
        </p:nvSpPr>
        <p:spPr>
          <a:xfrm>
            <a:off x="566928" y="5705856"/>
            <a:ext cx="11027664" cy="457200"/>
          </a:xfrm>
          <a:prstGeom prst="roundRect">
            <a:avLst>
              <a:gd fmla="val 2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txBox="1"/>
          <p:nvPr/>
        </p:nvSpPr>
        <p:spPr>
          <a:xfrm>
            <a:off x="886968" y="5705856"/>
            <a:ext cx="1038758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En ambos casos los transistores llegan como unidades independientes: la tecnología pelicular integra los pasivos, no los activos.</a:t>
            </a:r>
            <a:endParaRPr b="0" i="0" sz="1150" u="none" cap="none" strike="noStrike">
              <a:solidFill>
                <a:schemeClr val="dk1"/>
              </a:solidFill>
              <a:latin typeface="Calibri"/>
              <a:ea typeface="Calibri"/>
              <a:cs typeface="Calibri"/>
              <a:sym typeface="Calibri"/>
            </a:endParaRPr>
          </a:p>
        </p:txBody>
      </p:sp>
      <p:sp>
        <p:nvSpPr>
          <p:cNvPr id="579" name="Google Shape;579;p18"/>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580" name="Google Shape;580;p18"/>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581" name="Google Shape;581;p18"/>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587" name="Shape 587"/>
        <p:cNvGrpSpPr/>
        <p:nvPr/>
      </p:nvGrpSpPr>
      <p:grpSpPr>
        <a:xfrm>
          <a:off x="0" y="0"/>
          <a:ext cx="0" cy="0"/>
          <a:chOff x="0" y="0"/>
          <a:chExt cx="0" cy="0"/>
        </a:xfrm>
      </p:grpSpPr>
      <p:sp>
        <p:nvSpPr>
          <p:cNvPr id="588" name="Google Shape;588;p19"/>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Componentes pasivos integrados</a:t>
            </a:r>
            <a:endParaRPr b="0" i="0" sz="2700" u="none" cap="none" strike="noStrike">
              <a:solidFill>
                <a:schemeClr val="dk1"/>
              </a:solidFill>
              <a:latin typeface="Calibri"/>
              <a:ea typeface="Calibri"/>
              <a:cs typeface="Calibri"/>
              <a:sym typeface="Calibri"/>
            </a:endParaRPr>
          </a:p>
        </p:txBody>
      </p:sp>
      <p:sp>
        <p:nvSpPr>
          <p:cNvPr id="589" name="Google Shape;589;p19"/>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Cuando el pasivo sí se integra: resistencias, capacitores e inductores en el chip</a:t>
            </a:r>
            <a:endParaRPr b="0" i="0" sz="1250" u="none" cap="none" strike="noStrike">
              <a:solidFill>
                <a:schemeClr val="dk1"/>
              </a:solidFill>
              <a:latin typeface="Calibri"/>
              <a:ea typeface="Calibri"/>
              <a:cs typeface="Calibri"/>
              <a:sym typeface="Calibri"/>
            </a:endParaRPr>
          </a:p>
        </p:txBody>
      </p:sp>
      <p:sp>
        <p:nvSpPr>
          <p:cNvPr id="590" name="Google Shape;590;p19"/>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592" name="Google Shape;592;p19"/>
          <p:cNvSpPr/>
          <p:nvPr/>
        </p:nvSpPr>
        <p:spPr>
          <a:xfrm>
            <a:off x="566928" y="1737360"/>
            <a:ext cx="3529584" cy="3657600"/>
          </a:xfrm>
          <a:prstGeom prst="roundRect">
            <a:avLst>
              <a:gd fmla="val 310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txBox="1"/>
          <p:nvPr/>
        </p:nvSpPr>
        <p:spPr>
          <a:xfrm>
            <a:off x="841248" y="1920240"/>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Resistencia</a:t>
            </a:r>
            <a:endParaRPr b="0" i="0" sz="1700" u="none" cap="none" strike="noStrike">
              <a:solidFill>
                <a:schemeClr val="dk1"/>
              </a:solidFill>
              <a:latin typeface="Calibri"/>
              <a:ea typeface="Calibri"/>
              <a:cs typeface="Calibri"/>
              <a:sym typeface="Calibri"/>
            </a:endParaRPr>
          </a:p>
        </p:txBody>
      </p:sp>
      <p:sp>
        <p:nvSpPr>
          <p:cNvPr id="594" name="Google Shape;594;p19"/>
          <p:cNvSpPr/>
          <p:nvPr/>
        </p:nvSpPr>
        <p:spPr>
          <a:xfrm>
            <a:off x="841248" y="2322576"/>
            <a:ext cx="2980944" cy="475488"/>
          </a:xfrm>
          <a:prstGeom prst="roundRect">
            <a:avLst>
              <a:gd fmla="val 1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txBox="1"/>
          <p:nvPr/>
        </p:nvSpPr>
        <p:spPr>
          <a:xfrm>
            <a:off x="841248" y="2322576"/>
            <a:ext cx="29809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R = (L / W) · R□</a:t>
            </a:r>
            <a:endParaRPr b="0" i="0" sz="1400" u="none" cap="none" strike="noStrike">
              <a:solidFill>
                <a:schemeClr val="dk1"/>
              </a:solidFill>
              <a:latin typeface="Calibri"/>
              <a:ea typeface="Calibri"/>
              <a:cs typeface="Calibri"/>
              <a:sym typeface="Calibri"/>
            </a:endParaRPr>
          </a:p>
        </p:txBody>
      </p:sp>
      <p:sp>
        <p:nvSpPr>
          <p:cNvPr id="596" name="Google Shape;596;p19"/>
          <p:cNvSpPr txBox="1"/>
          <p:nvPr/>
        </p:nvSpPr>
        <p:spPr>
          <a:xfrm>
            <a:off x="841248" y="2944368"/>
            <a:ext cx="2980944" cy="22860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R□ es la resistencia de hoja, en ohmios por cuadro (Ω/□), fijada por el proceso de implantación o difusión.</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La relación L/W la fija el patrón de la máscara: la resistencia es el número de cuadros.</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Cada contacto de extremo añade ≈ 0,65 cuadro; cada codo de un patrón serpenteante también aporta 0,65.</a:t>
            </a:r>
            <a:endParaRPr b="0" i="0" sz="1050" u="none" cap="none" strike="noStrike">
              <a:solidFill>
                <a:schemeClr val="dk1"/>
              </a:solidFill>
              <a:latin typeface="Calibri"/>
              <a:ea typeface="Calibri"/>
              <a:cs typeface="Calibri"/>
              <a:sym typeface="Calibri"/>
            </a:endParaRPr>
          </a:p>
        </p:txBody>
      </p:sp>
      <p:sp>
        <p:nvSpPr>
          <p:cNvPr id="597" name="Google Shape;597;p19"/>
          <p:cNvSpPr/>
          <p:nvPr/>
        </p:nvSpPr>
        <p:spPr>
          <a:xfrm>
            <a:off x="4315968" y="1737360"/>
            <a:ext cx="3529584" cy="3657600"/>
          </a:xfrm>
          <a:prstGeom prst="roundRect">
            <a:avLst>
              <a:gd fmla="val 310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txBox="1"/>
          <p:nvPr/>
        </p:nvSpPr>
        <p:spPr>
          <a:xfrm>
            <a:off x="4590288" y="1920240"/>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Capacitor</a:t>
            </a:r>
            <a:endParaRPr b="0" i="0" sz="1700" u="none" cap="none" strike="noStrike">
              <a:solidFill>
                <a:schemeClr val="dk1"/>
              </a:solidFill>
              <a:latin typeface="Calibri"/>
              <a:ea typeface="Calibri"/>
              <a:cs typeface="Calibri"/>
              <a:sym typeface="Calibri"/>
            </a:endParaRPr>
          </a:p>
        </p:txBody>
      </p:sp>
      <p:sp>
        <p:nvSpPr>
          <p:cNvPr id="599" name="Google Shape;599;p19"/>
          <p:cNvSpPr/>
          <p:nvPr/>
        </p:nvSpPr>
        <p:spPr>
          <a:xfrm>
            <a:off x="4590288" y="2322576"/>
            <a:ext cx="2980944" cy="475488"/>
          </a:xfrm>
          <a:prstGeom prst="roundRect">
            <a:avLst>
              <a:gd fmla="val 1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9"/>
          <p:cNvSpPr txBox="1"/>
          <p:nvPr/>
        </p:nvSpPr>
        <p:spPr>
          <a:xfrm>
            <a:off x="4590288" y="2322576"/>
            <a:ext cx="29809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C = εox / d   [F/cm²]</a:t>
            </a:r>
            <a:endParaRPr b="0" i="0" sz="1400" u="none" cap="none" strike="noStrike">
              <a:solidFill>
                <a:schemeClr val="dk1"/>
              </a:solidFill>
              <a:latin typeface="Calibri"/>
              <a:ea typeface="Calibri"/>
              <a:cs typeface="Calibri"/>
              <a:sym typeface="Calibri"/>
            </a:endParaRPr>
          </a:p>
        </p:txBody>
      </p:sp>
      <p:sp>
        <p:nvSpPr>
          <p:cNvPr id="601" name="Google Shape;601;p19"/>
          <p:cNvSpPr txBox="1"/>
          <p:nvPr/>
        </p:nvSpPr>
        <p:spPr>
          <a:xfrm>
            <a:off x="4590288" y="2944368"/>
            <a:ext cx="2980944" cy="22860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Capacitor MOS: región muy dopada como placa inferior, metal superior y óxido intermedio como dieléctrico.</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Su capacidad es prácticamente independiente de la tensión aplicada y la resistencia serie es baja.</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Para aumentar C se estudian dieléctricos de mayor constante: Si₃N₄ (7) y Ta₂O₅ (25) frente al SiO₂ (3,9).</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La unión p-n también sirve de capacitor, pero varía como (VR + Vbi)^(−1/2).</a:t>
            </a:r>
            <a:endParaRPr b="0" i="0" sz="1050" u="none" cap="none" strike="noStrike">
              <a:solidFill>
                <a:schemeClr val="dk1"/>
              </a:solidFill>
              <a:latin typeface="Calibri"/>
              <a:ea typeface="Calibri"/>
              <a:cs typeface="Calibri"/>
              <a:sym typeface="Calibri"/>
            </a:endParaRPr>
          </a:p>
        </p:txBody>
      </p:sp>
      <p:sp>
        <p:nvSpPr>
          <p:cNvPr id="602" name="Google Shape;602;p19"/>
          <p:cNvSpPr/>
          <p:nvPr/>
        </p:nvSpPr>
        <p:spPr>
          <a:xfrm>
            <a:off x="8065008" y="1737360"/>
            <a:ext cx="3529584" cy="3657600"/>
          </a:xfrm>
          <a:prstGeom prst="roundRect">
            <a:avLst>
              <a:gd fmla="val 310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txBox="1"/>
          <p:nvPr/>
        </p:nvSpPr>
        <p:spPr>
          <a:xfrm>
            <a:off x="8339328" y="1920240"/>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Inductor</a:t>
            </a:r>
            <a:endParaRPr b="0" i="0" sz="1700" u="none" cap="none" strike="noStrike">
              <a:solidFill>
                <a:schemeClr val="dk1"/>
              </a:solidFill>
              <a:latin typeface="Calibri"/>
              <a:ea typeface="Calibri"/>
              <a:cs typeface="Calibri"/>
              <a:sym typeface="Calibri"/>
            </a:endParaRPr>
          </a:p>
        </p:txBody>
      </p:sp>
      <p:sp>
        <p:nvSpPr>
          <p:cNvPr id="604" name="Google Shape;604;p19"/>
          <p:cNvSpPr/>
          <p:nvPr/>
        </p:nvSpPr>
        <p:spPr>
          <a:xfrm>
            <a:off x="8339328" y="2322576"/>
            <a:ext cx="2980944" cy="475488"/>
          </a:xfrm>
          <a:prstGeom prst="roundRect">
            <a:avLst>
              <a:gd fmla="val 1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txBox="1"/>
          <p:nvPr/>
        </p:nvSpPr>
        <p:spPr>
          <a:xfrm>
            <a:off x="8339328" y="2322576"/>
            <a:ext cx="29809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Q = Lω / R</a:t>
            </a:r>
            <a:endParaRPr b="0" i="0" sz="1400" u="none" cap="none" strike="noStrike">
              <a:solidFill>
                <a:schemeClr val="dk1"/>
              </a:solidFill>
              <a:latin typeface="Calibri"/>
              <a:ea typeface="Calibri"/>
              <a:cs typeface="Calibri"/>
              <a:sym typeface="Calibri"/>
            </a:endParaRPr>
          </a:p>
        </p:txBody>
      </p:sp>
      <p:sp>
        <p:nvSpPr>
          <p:cNvPr id="606" name="Google Shape;606;p19"/>
          <p:cNvSpPr txBox="1"/>
          <p:nvPr/>
        </p:nvSpPr>
        <p:spPr>
          <a:xfrm>
            <a:off x="8339328" y="2944368"/>
            <a:ext cx="2980944" cy="22860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El método más popular es el inductor espiral de película delgada sobre dos niveles de metal.</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Estimación del inductor espiral cuadrado: L ≈ µ₀ n² r ≈ 1,2 × 10⁻⁶ n² r.</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Para elevar Q: dieléctricos de baja constante, metales de baja resistividad (Cu, Au) y sustratos aislantes.</a:t>
            </a:r>
            <a:endParaRPr b="0" i="0" sz="1050" u="none" cap="none" strike="noStrike">
              <a:solidFill>
                <a:schemeClr val="dk1"/>
              </a:solidFill>
              <a:latin typeface="Calibri"/>
              <a:ea typeface="Calibri"/>
              <a:cs typeface="Calibri"/>
              <a:sym typeface="Calibri"/>
            </a:endParaRPr>
          </a:p>
        </p:txBody>
      </p:sp>
      <p:sp>
        <p:nvSpPr>
          <p:cNvPr id="607" name="Google Shape;607;p19"/>
          <p:cNvSpPr/>
          <p:nvPr/>
        </p:nvSpPr>
        <p:spPr>
          <a:xfrm>
            <a:off x="566928" y="5541264"/>
            <a:ext cx="11027664" cy="566928"/>
          </a:xfrm>
          <a:prstGeom prst="roundRect">
            <a:avLst>
              <a:gd fmla="val 1612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txBox="1"/>
          <p:nvPr/>
        </p:nvSpPr>
        <p:spPr>
          <a:xfrm>
            <a:off x="886968" y="5541264"/>
            <a:ext cx="103875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Ejemplo:  una resistencia barra de 90 µm × 10 µm con R□ = 1 kΩ/□ contiene 9 cuadros, más 1,3 por los dos contactos de extremo, es decir 10,3 kΩ.</a:t>
            </a:r>
            <a:endParaRPr b="0" i="0" sz="1150" u="none" cap="none" strike="noStrike">
              <a:solidFill>
                <a:schemeClr val="dk1"/>
              </a:solidFill>
              <a:latin typeface="Calibri"/>
              <a:ea typeface="Calibri"/>
              <a:cs typeface="Calibri"/>
              <a:sym typeface="Calibri"/>
            </a:endParaRPr>
          </a:p>
        </p:txBody>
      </p:sp>
      <p:sp>
        <p:nvSpPr>
          <p:cNvPr id="609" name="Google Shape;609;p19"/>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610" name="Google Shape;610;p19"/>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611" name="Google Shape;611;p19"/>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17" name="Shape 617"/>
        <p:cNvGrpSpPr/>
        <p:nvPr/>
      </p:nvGrpSpPr>
      <p:grpSpPr>
        <a:xfrm>
          <a:off x="0" y="0"/>
          <a:ext cx="0" cy="0"/>
          <a:chOff x="0" y="0"/>
          <a:chExt cx="0" cy="0"/>
        </a:xfrm>
      </p:grpSpPr>
      <p:sp>
        <p:nvSpPr>
          <p:cNvPr id="618" name="Google Shape;618;p20"/>
          <p:cNvSpPr/>
          <p:nvPr/>
        </p:nvSpPr>
        <p:spPr>
          <a:xfrm>
            <a:off x="566928" y="2395728"/>
            <a:ext cx="1152144" cy="1152144"/>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txBox="1"/>
          <p:nvPr/>
        </p:nvSpPr>
        <p:spPr>
          <a:xfrm>
            <a:off x="566928" y="2395728"/>
            <a:ext cx="1152144" cy="1152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III</a:t>
            </a:r>
            <a:endParaRPr b="0" i="0" sz="4000" u="none" cap="none" strike="noStrike">
              <a:solidFill>
                <a:schemeClr val="dk1"/>
              </a:solidFill>
              <a:latin typeface="Calibri"/>
              <a:ea typeface="Calibri"/>
              <a:cs typeface="Calibri"/>
              <a:sym typeface="Calibri"/>
            </a:endParaRPr>
          </a:p>
        </p:txBody>
      </p:sp>
      <p:sp>
        <p:nvSpPr>
          <p:cNvPr id="620" name="Google Shape;620;p20"/>
          <p:cNvSpPr txBox="1"/>
          <p:nvPr/>
        </p:nvSpPr>
        <p:spPr>
          <a:xfrm>
            <a:off x="2139696" y="2432304"/>
            <a:ext cx="9290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Familias de dispositivos</a:t>
            </a:r>
            <a:endParaRPr b="0" i="0" sz="3400" u="none" cap="none" strike="noStrike">
              <a:solidFill>
                <a:schemeClr val="dk1"/>
              </a:solidFill>
              <a:latin typeface="Calibri"/>
              <a:ea typeface="Calibri"/>
              <a:cs typeface="Calibri"/>
              <a:sym typeface="Calibri"/>
            </a:endParaRPr>
          </a:p>
        </p:txBody>
      </p:sp>
      <p:sp>
        <p:nvSpPr>
          <p:cNvPr id="621" name="Google Shape;621;p20"/>
          <p:cNvSpPr txBox="1"/>
          <p:nvPr/>
        </p:nvSpPr>
        <p:spPr>
          <a:xfrm>
            <a:off x="2139696" y="3200400"/>
            <a:ext cx="92903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Bipolar, MOS, CMOS y BiCMOS: estructura, proceso y compromiso de diseño</a:t>
            </a:r>
            <a:endParaRPr b="0" i="0" sz="1500" u="none" cap="none" strike="noStrike">
              <a:solidFill>
                <a:schemeClr val="dk1"/>
              </a:solidFill>
              <a:latin typeface="Calibri"/>
              <a:ea typeface="Calibri"/>
              <a:cs typeface="Calibri"/>
              <a:sym typeface="Calibri"/>
            </a:endParaRPr>
          </a:p>
        </p:txBody>
      </p:sp>
      <p:sp>
        <p:nvSpPr>
          <p:cNvPr id="622" name="Google Shape;622;p20"/>
          <p:cNvSpPr txBox="1"/>
          <p:nvPr/>
        </p:nvSpPr>
        <p:spPr>
          <a:xfrm>
            <a:off x="566928" y="6336792"/>
            <a:ext cx="10570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MsC. Luz Adanaqué Infante  ·  Universidad Nacional Mayor de San Marcos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627" name="Shape 627"/>
        <p:cNvGrpSpPr/>
        <p:nvPr/>
      </p:nvGrpSpPr>
      <p:grpSpPr>
        <a:xfrm>
          <a:off x="0" y="0"/>
          <a:ext cx="0" cy="0"/>
          <a:chOff x="0" y="0"/>
          <a:chExt cx="0" cy="0"/>
        </a:xfrm>
      </p:grpSpPr>
      <p:sp>
        <p:nvSpPr>
          <p:cNvPr id="628" name="Google Shape;628;p21"/>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Transistores bipolares</a:t>
            </a:r>
            <a:endParaRPr b="0" i="0" sz="2700" u="none" cap="none" strike="noStrike">
              <a:solidFill>
                <a:schemeClr val="dk1"/>
              </a:solidFill>
              <a:latin typeface="Calibri"/>
              <a:ea typeface="Calibri"/>
              <a:cs typeface="Calibri"/>
              <a:sym typeface="Calibri"/>
            </a:endParaRPr>
          </a:p>
        </p:txBody>
      </p:sp>
      <p:sp>
        <p:nvSpPr>
          <p:cNvPr id="629" name="Google Shape;629;p21"/>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Se fabrica sobre un sustrato de silicio difundiendo impurezas para obtener tres regiones (npn y pnp)</a:t>
            </a:r>
            <a:endParaRPr b="0" i="0" sz="1250" u="none" cap="none" strike="noStrike">
              <a:solidFill>
                <a:schemeClr val="dk1"/>
              </a:solidFill>
              <a:latin typeface="Calibri"/>
              <a:ea typeface="Calibri"/>
              <a:cs typeface="Calibri"/>
              <a:sym typeface="Calibri"/>
            </a:endParaRPr>
          </a:p>
        </p:txBody>
      </p:sp>
      <p:sp>
        <p:nvSpPr>
          <p:cNvPr id="630" name="Google Shape;630;p21"/>
          <p:cNvSpPr/>
          <p:nvPr/>
        </p:nvSpPr>
        <p:spPr>
          <a:xfrm>
            <a:off x="566928" y="1700784"/>
            <a:ext cx="5943600"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1"/>
          <p:cNvSpPr txBox="1"/>
          <p:nvPr/>
        </p:nvSpPr>
        <p:spPr>
          <a:xfrm>
            <a:off x="877824" y="1865376"/>
            <a:ext cx="5303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50"/>
              <a:buFont typeface="Calibri"/>
              <a:buNone/>
            </a:pPr>
            <a:r>
              <a:rPr b="1" i="0" lang="en-US" sz="1250" u="none" cap="none" strike="noStrike">
                <a:solidFill>
                  <a:srgbClr val="F96167"/>
                </a:solidFill>
                <a:latin typeface="Calibri"/>
                <a:ea typeface="Calibri"/>
                <a:cs typeface="Calibri"/>
                <a:sym typeface="Calibri"/>
              </a:rPr>
              <a:t>Consta de tres partes</a:t>
            </a:r>
            <a:endParaRPr b="0" i="0" sz="1250" u="none" cap="none" strike="noStrike">
              <a:solidFill>
                <a:schemeClr val="dk1"/>
              </a:solidFill>
              <a:latin typeface="Calibri"/>
              <a:ea typeface="Calibri"/>
              <a:cs typeface="Calibri"/>
              <a:sym typeface="Calibri"/>
            </a:endParaRPr>
          </a:p>
        </p:txBody>
      </p:sp>
      <p:sp>
        <p:nvSpPr>
          <p:cNvPr id="632" name="Google Shape;632;p21"/>
          <p:cNvSpPr txBox="1"/>
          <p:nvPr/>
        </p:nvSpPr>
        <p:spPr>
          <a:xfrm>
            <a:off x="877825" y="2231125"/>
            <a:ext cx="2425800" cy="15546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Colector: zona menos dopada que el emisor.</a:t>
            </a:r>
            <a:endParaRPr b="0" i="0" sz="12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Base: estrecha y poco dopada, para dejar pasar toda la corriente.</a:t>
            </a:r>
            <a:endParaRPr b="0" i="0" sz="12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200"/>
              <a:buFont typeface="Calibri"/>
              <a:buChar char="▪"/>
            </a:pPr>
            <a:r>
              <a:rPr b="0" i="0" lang="en-US" sz="1200" u="none" cap="none" strike="noStrike">
                <a:solidFill>
                  <a:srgbClr val="23262F"/>
                </a:solidFill>
                <a:latin typeface="Calibri"/>
                <a:ea typeface="Calibri"/>
                <a:cs typeface="Calibri"/>
                <a:sym typeface="Calibri"/>
              </a:rPr>
              <a:t>Emisor: zona muy dopada (n⁺) para entregar portadores a la corriente.</a:t>
            </a:r>
            <a:endParaRPr b="0" i="0" sz="1200" u="none" cap="none" strike="noStrike">
              <a:solidFill>
                <a:schemeClr val="dk1"/>
              </a:solidFill>
              <a:latin typeface="Calibri"/>
              <a:ea typeface="Calibri"/>
              <a:cs typeface="Calibri"/>
              <a:sym typeface="Calibri"/>
            </a:endParaRPr>
          </a:p>
        </p:txBody>
      </p:sp>
      <p:sp>
        <p:nvSpPr>
          <p:cNvPr id="633" name="Google Shape;633;p21"/>
          <p:cNvSpPr/>
          <p:nvPr/>
        </p:nvSpPr>
        <p:spPr>
          <a:xfrm>
            <a:off x="6839712" y="1700784"/>
            <a:ext cx="4754880" cy="658368"/>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txBox="1"/>
          <p:nvPr/>
        </p:nvSpPr>
        <p:spPr>
          <a:xfrm>
            <a:off x="6839712" y="1700784"/>
            <a:ext cx="47548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La corriente de base IB controla la corriente IEC</a:t>
            </a:r>
            <a:endParaRPr b="0" i="0" sz="1350" u="none" cap="none" strike="noStrike">
              <a:solidFill>
                <a:schemeClr val="dk1"/>
              </a:solidFill>
              <a:latin typeface="Calibri"/>
              <a:ea typeface="Calibri"/>
              <a:cs typeface="Calibri"/>
              <a:sym typeface="Calibri"/>
            </a:endParaRPr>
          </a:p>
        </p:txBody>
      </p:sp>
      <p:sp>
        <p:nvSpPr>
          <p:cNvPr id="635" name="Google Shape;635;p21"/>
          <p:cNvSpPr/>
          <p:nvPr/>
        </p:nvSpPr>
        <p:spPr>
          <a:xfrm>
            <a:off x="6839712" y="2505456"/>
            <a:ext cx="4754880" cy="1481328"/>
          </a:xfrm>
          <a:prstGeom prst="roundRect">
            <a:avLst>
              <a:gd fmla="val 7407"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1"/>
          <p:cNvSpPr txBox="1"/>
          <p:nvPr/>
        </p:nvSpPr>
        <p:spPr>
          <a:xfrm>
            <a:off x="7114032" y="2706624"/>
            <a:ext cx="4206240"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En un CI los transistores npn son mayoría: la mayor movilidad de los electrones en la base da mayor velocidad que en los pnp.</a:t>
            </a:r>
            <a:endParaRPr b="0" i="0" sz="1150" u="none" cap="none" strike="noStrike">
              <a:solidFill>
                <a:schemeClr val="dk1"/>
              </a:solidFill>
              <a:latin typeface="Calibri"/>
              <a:ea typeface="Calibri"/>
              <a:cs typeface="Calibri"/>
              <a:sym typeface="Calibri"/>
            </a:endParaRPr>
          </a:p>
        </p:txBody>
      </p:sp>
      <p:sp>
        <p:nvSpPr>
          <p:cNvPr id="637" name="Google Shape;637;p21"/>
          <p:cNvSpPr/>
          <p:nvPr/>
        </p:nvSpPr>
        <p:spPr>
          <a:xfrm>
            <a:off x="566928" y="4224528"/>
            <a:ext cx="11027664" cy="1883664"/>
          </a:xfrm>
          <a:prstGeom prst="roundRect">
            <a:avLst>
              <a:gd fmla="val 582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1"/>
          <p:cNvSpPr txBox="1"/>
          <p:nvPr/>
        </p:nvSpPr>
        <p:spPr>
          <a:xfrm>
            <a:off x="877824" y="43891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50"/>
              <a:buFont typeface="Calibri"/>
              <a:buNone/>
            </a:pPr>
            <a:r>
              <a:rPr b="1" i="0" lang="en-US" sz="1250" u="none" cap="none" strike="noStrike">
                <a:solidFill>
                  <a:srgbClr val="F96167"/>
                </a:solidFill>
                <a:latin typeface="Calibri"/>
                <a:ea typeface="Calibri"/>
                <a:cs typeface="Calibri"/>
                <a:sym typeface="Calibri"/>
              </a:rPr>
              <a:t>Regiones de funcionamiento</a:t>
            </a:r>
            <a:endParaRPr b="0" i="0" sz="1250" u="none" cap="none" strike="noStrike">
              <a:solidFill>
                <a:schemeClr val="dk1"/>
              </a:solidFill>
              <a:latin typeface="Calibri"/>
              <a:ea typeface="Calibri"/>
              <a:cs typeface="Calibri"/>
              <a:sym typeface="Calibri"/>
            </a:endParaRPr>
          </a:p>
        </p:txBody>
      </p:sp>
      <p:sp>
        <p:nvSpPr>
          <p:cNvPr id="639" name="Google Shape;639;p21"/>
          <p:cNvSpPr/>
          <p:nvPr/>
        </p:nvSpPr>
        <p:spPr>
          <a:xfrm>
            <a:off x="877824"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txBox="1"/>
          <p:nvPr/>
        </p:nvSpPr>
        <p:spPr>
          <a:xfrm>
            <a:off x="1060704"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Corte</a:t>
            </a:r>
            <a:endParaRPr b="0" i="0" sz="1250" u="none" cap="none" strike="noStrike">
              <a:solidFill>
                <a:schemeClr val="dk1"/>
              </a:solidFill>
              <a:latin typeface="Calibri"/>
              <a:ea typeface="Calibri"/>
              <a:cs typeface="Calibri"/>
              <a:sym typeface="Calibri"/>
            </a:endParaRPr>
          </a:p>
        </p:txBody>
      </p:sp>
      <p:sp>
        <p:nvSpPr>
          <p:cNvPr id="641" name="Google Shape;641;p21"/>
          <p:cNvSpPr txBox="1"/>
          <p:nvPr/>
        </p:nvSpPr>
        <p:spPr>
          <a:xfrm>
            <a:off x="1060704" y="5120640"/>
            <a:ext cx="2999232" cy="69494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No circula corriente (IE ≤ 0). Basta con VBE = 0.</a:t>
            </a:r>
            <a:endParaRPr b="0" i="0" sz="1100" u="none" cap="none" strike="noStrike">
              <a:solidFill>
                <a:schemeClr val="dk1"/>
              </a:solidFill>
              <a:latin typeface="Calibri"/>
              <a:ea typeface="Calibri"/>
              <a:cs typeface="Calibri"/>
              <a:sym typeface="Calibri"/>
            </a:endParaRPr>
          </a:p>
        </p:txBody>
      </p:sp>
      <p:sp>
        <p:nvSpPr>
          <p:cNvPr id="642" name="Google Shape;642;p21"/>
          <p:cNvSpPr/>
          <p:nvPr/>
        </p:nvSpPr>
        <p:spPr>
          <a:xfrm>
            <a:off x="4407408"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1"/>
          <p:cNvSpPr txBox="1"/>
          <p:nvPr/>
        </p:nvSpPr>
        <p:spPr>
          <a:xfrm>
            <a:off x="4590288"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Activa</a:t>
            </a:r>
            <a:endParaRPr b="0" i="0" sz="1250" u="none" cap="none" strike="noStrike">
              <a:solidFill>
                <a:schemeClr val="dk1"/>
              </a:solidFill>
              <a:latin typeface="Calibri"/>
              <a:ea typeface="Calibri"/>
              <a:cs typeface="Calibri"/>
              <a:sym typeface="Calibri"/>
            </a:endParaRPr>
          </a:p>
        </p:txBody>
      </p:sp>
      <p:sp>
        <p:nvSpPr>
          <p:cNvPr id="644" name="Google Shape;644;p21"/>
          <p:cNvSpPr txBox="1"/>
          <p:nvPr/>
        </p:nvSpPr>
        <p:spPr>
          <a:xfrm>
            <a:off x="4590288" y="5120640"/>
            <a:ext cx="2999232" cy="69494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Colector-emisor en inversa y base-emisor en directa.  IC = β · IB</a:t>
            </a:r>
            <a:endParaRPr b="0" i="0" sz="1100" u="none" cap="none" strike="noStrike">
              <a:solidFill>
                <a:schemeClr val="dk1"/>
              </a:solidFill>
              <a:latin typeface="Calibri"/>
              <a:ea typeface="Calibri"/>
              <a:cs typeface="Calibri"/>
              <a:sym typeface="Calibri"/>
            </a:endParaRPr>
          </a:p>
        </p:txBody>
      </p:sp>
      <p:sp>
        <p:nvSpPr>
          <p:cNvPr id="645" name="Google Shape;645;p21"/>
          <p:cNvSpPr/>
          <p:nvPr/>
        </p:nvSpPr>
        <p:spPr>
          <a:xfrm>
            <a:off x="7936992"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1"/>
          <p:cNvSpPr txBox="1"/>
          <p:nvPr/>
        </p:nvSpPr>
        <p:spPr>
          <a:xfrm>
            <a:off x="8119872"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Saturación</a:t>
            </a:r>
            <a:endParaRPr b="0" i="0" sz="1250" u="none" cap="none" strike="noStrike">
              <a:solidFill>
                <a:schemeClr val="dk1"/>
              </a:solidFill>
              <a:latin typeface="Calibri"/>
              <a:ea typeface="Calibri"/>
              <a:cs typeface="Calibri"/>
              <a:sym typeface="Calibri"/>
            </a:endParaRPr>
          </a:p>
        </p:txBody>
      </p:sp>
      <p:sp>
        <p:nvSpPr>
          <p:cNvPr id="647" name="Google Shape;647;p21"/>
          <p:cNvSpPr txBox="1"/>
          <p:nvPr/>
        </p:nvSpPr>
        <p:spPr>
          <a:xfrm>
            <a:off x="8119872" y="5120640"/>
            <a:ext cx="2999232" cy="69494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Los dos diodos se polarizan en directa; ya no se cumple IC = β · IB.</a:t>
            </a:r>
            <a:endParaRPr b="0" i="0" sz="1100" u="none" cap="none" strike="noStrike">
              <a:solidFill>
                <a:schemeClr val="dk1"/>
              </a:solidFill>
              <a:latin typeface="Calibri"/>
              <a:ea typeface="Calibri"/>
              <a:cs typeface="Calibri"/>
              <a:sym typeface="Calibri"/>
            </a:endParaRPr>
          </a:p>
        </p:txBody>
      </p:sp>
      <p:sp>
        <p:nvSpPr>
          <p:cNvPr id="648" name="Google Shape;648;p21"/>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649" name="Google Shape;649;p21"/>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650" name="Google Shape;650;p21"/>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1"/>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pic>
        <p:nvPicPr>
          <p:cNvPr id="652" name="Google Shape;652;p21"/>
          <p:cNvPicPr preferRelativeResize="0"/>
          <p:nvPr/>
        </p:nvPicPr>
        <p:blipFill>
          <a:blip r:embed="rId3">
            <a:alphaModFix/>
          </a:blip>
          <a:stretch>
            <a:fillRect/>
          </a:stretch>
        </p:blipFill>
        <p:spPr>
          <a:xfrm>
            <a:off x="3448484" y="1901951"/>
            <a:ext cx="2842265" cy="1883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657" name="Shape 657"/>
        <p:cNvGrpSpPr/>
        <p:nvPr/>
      </p:nvGrpSpPr>
      <p:grpSpPr>
        <a:xfrm>
          <a:off x="0" y="0"/>
          <a:ext cx="0" cy="0"/>
          <a:chOff x="0" y="0"/>
          <a:chExt cx="0" cy="0"/>
        </a:xfrm>
      </p:grpSpPr>
      <p:sp>
        <p:nvSpPr>
          <p:cNvPr id="658" name="Google Shape;658;p22"/>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Circuitos integrados bipolares</a:t>
            </a:r>
            <a:endParaRPr b="0" i="0" sz="2700" u="none" cap="none" strike="noStrike">
              <a:solidFill>
                <a:schemeClr val="dk1"/>
              </a:solidFill>
              <a:latin typeface="Calibri"/>
              <a:ea typeface="Calibri"/>
              <a:cs typeface="Calibri"/>
              <a:sym typeface="Calibri"/>
            </a:endParaRPr>
          </a:p>
        </p:txBody>
      </p:sp>
      <p:sp>
        <p:nvSpPr>
          <p:cNvPr id="659" name="Google Shape;659;p22"/>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Los primeros circuitos integrados monolíticos de la historia</a:t>
            </a:r>
            <a:endParaRPr b="0" i="0" sz="1250" u="none" cap="none" strike="noStrike">
              <a:solidFill>
                <a:schemeClr val="dk1"/>
              </a:solidFill>
              <a:latin typeface="Calibri"/>
              <a:ea typeface="Calibri"/>
              <a:cs typeface="Calibri"/>
              <a:sym typeface="Calibri"/>
            </a:endParaRPr>
          </a:p>
        </p:txBody>
      </p:sp>
      <p:sp>
        <p:nvSpPr>
          <p:cNvPr id="660" name="Google Shape;660;p22"/>
          <p:cNvSpPr/>
          <p:nvPr/>
        </p:nvSpPr>
        <p:spPr>
          <a:xfrm>
            <a:off x="566928" y="1664208"/>
            <a:ext cx="6675120" cy="4443984"/>
          </a:xfrm>
          <a:prstGeom prst="roundRect">
            <a:avLst>
              <a:gd fmla="val 246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txBox="1"/>
          <p:nvPr/>
        </p:nvSpPr>
        <p:spPr>
          <a:xfrm>
            <a:off x="704875" y="1965900"/>
            <a:ext cx="2519100" cy="3840600"/>
          </a:xfrm>
          <a:prstGeom prst="rect">
            <a:avLst/>
          </a:prstGeom>
          <a:noFill/>
          <a:ln>
            <a:noFill/>
          </a:ln>
        </p:spPr>
        <p:txBody>
          <a:bodyPr anchorCtr="0" anchor="t" bIns="0" lIns="0" spcFirstLastPara="1" rIns="0" wrap="square" tIns="0">
            <a:noAutofit/>
          </a:bodyPr>
          <a:lstStyle/>
          <a:p>
            <a:pPr indent="0" lvl="0" marL="457200" marR="0" rtl="0" algn="l">
              <a:lnSpc>
                <a:spcPct val="106000"/>
              </a:lnSpc>
              <a:spcBef>
                <a:spcPts val="0"/>
              </a:spcBef>
              <a:spcAft>
                <a:spcPts val="0"/>
              </a:spcAft>
              <a:buNone/>
            </a:pPr>
            <a:r>
              <a:t/>
            </a:r>
            <a:endParaRPr sz="1300">
              <a:solidFill>
                <a:srgbClr val="23262F"/>
              </a:solidFill>
              <a:latin typeface="Calibri"/>
              <a:ea typeface="Calibri"/>
              <a:cs typeface="Calibri"/>
              <a:sym typeface="Calibri"/>
            </a:endParaRPr>
          </a:p>
          <a:p>
            <a:pPr indent="0" lvl="0" marL="457200" marR="0" rtl="0" algn="l">
              <a:lnSpc>
                <a:spcPct val="106000"/>
              </a:lnSpc>
              <a:spcBef>
                <a:spcPts val="0"/>
              </a:spcBef>
              <a:spcAft>
                <a:spcPts val="0"/>
              </a:spcAft>
              <a:buNone/>
            </a:pPr>
            <a:r>
              <a:t/>
            </a:r>
            <a:endParaRPr sz="1300">
              <a:solidFill>
                <a:srgbClr val="23262F"/>
              </a:solidFill>
              <a:latin typeface="Calibri"/>
              <a:ea typeface="Calibri"/>
              <a:cs typeface="Calibri"/>
              <a:sym typeface="Calibri"/>
            </a:endParaRPr>
          </a:p>
          <a:p>
            <a:pPr indent="-311150" lvl="0" marL="457200" marR="0" rtl="0" algn="l">
              <a:lnSpc>
                <a:spcPct val="106000"/>
              </a:lnSpc>
              <a:spcBef>
                <a:spcPts val="0"/>
              </a:spcBef>
              <a:spcAft>
                <a:spcPts val="0"/>
              </a:spcAft>
              <a:buClr>
                <a:srgbClr val="23262F"/>
              </a:buClr>
              <a:buSzPts val="1300"/>
              <a:buFont typeface="Calibri"/>
              <a:buChar char="-"/>
            </a:pPr>
            <a:r>
              <a:rPr b="0" i="0" lang="en-US" sz="1300" u="none" cap="none" strike="noStrike">
                <a:solidFill>
                  <a:srgbClr val="23262F"/>
                </a:solidFill>
                <a:latin typeface="Calibri"/>
                <a:ea typeface="Calibri"/>
                <a:cs typeface="Calibri"/>
                <a:sym typeface="Calibri"/>
              </a:rPr>
              <a:t>Son históricamente los primeros circuitos integrados monolíticos.</a:t>
            </a:r>
            <a:endParaRPr sz="1300">
              <a:solidFill>
                <a:schemeClr val="dk1"/>
              </a:solidFill>
              <a:latin typeface="Calibri"/>
              <a:ea typeface="Calibri"/>
              <a:cs typeface="Calibri"/>
              <a:sym typeface="Calibri"/>
            </a:endParaRPr>
          </a:p>
          <a:p>
            <a:pPr indent="-311150" lvl="0" marL="457200" marR="0" rtl="0" algn="l">
              <a:lnSpc>
                <a:spcPct val="106000"/>
              </a:lnSpc>
              <a:spcBef>
                <a:spcPts val="0"/>
              </a:spcBef>
              <a:spcAft>
                <a:spcPts val="0"/>
              </a:spcAft>
              <a:buClr>
                <a:srgbClr val="23262F"/>
              </a:buClr>
              <a:buSzPts val="1300"/>
              <a:buFont typeface="Calibri"/>
              <a:buChar char="-"/>
            </a:pPr>
            <a:r>
              <a:rPr lang="en-US" sz="1300">
                <a:solidFill>
                  <a:srgbClr val="23262F"/>
                </a:solidFill>
                <a:latin typeface="Calibri"/>
                <a:ea typeface="Calibri"/>
                <a:cs typeface="Calibri"/>
                <a:sym typeface="Calibri"/>
              </a:rPr>
              <a:t>B</a:t>
            </a:r>
            <a:r>
              <a:rPr b="0" i="0" lang="en-US" sz="1300" u="none" cap="none" strike="noStrike">
                <a:solidFill>
                  <a:srgbClr val="23262F"/>
                </a:solidFill>
                <a:latin typeface="Calibri"/>
                <a:ea typeface="Calibri"/>
                <a:cs typeface="Calibri"/>
                <a:sym typeface="Calibri"/>
              </a:rPr>
              <a:t>aja densidad de integración.</a:t>
            </a:r>
            <a:endParaRPr sz="1300">
              <a:solidFill>
                <a:schemeClr val="dk1"/>
              </a:solidFill>
              <a:latin typeface="Calibri"/>
              <a:ea typeface="Calibri"/>
              <a:cs typeface="Calibri"/>
              <a:sym typeface="Calibri"/>
            </a:endParaRPr>
          </a:p>
          <a:p>
            <a:pPr indent="-311150" lvl="0" marL="457200" marR="0" rtl="0" algn="l">
              <a:lnSpc>
                <a:spcPct val="106000"/>
              </a:lnSpc>
              <a:spcBef>
                <a:spcPts val="0"/>
              </a:spcBef>
              <a:spcAft>
                <a:spcPts val="0"/>
              </a:spcAft>
              <a:buClr>
                <a:srgbClr val="23262F"/>
              </a:buClr>
              <a:buSzPts val="1300"/>
              <a:buFont typeface="Calibri"/>
              <a:buChar char="-"/>
            </a:pPr>
            <a:r>
              <a:rPr b="0" i="0" lang="en-US" sz="1300" u="none" cap="none" strike="noStrike">
                <a:solidFill>
                  <a:srgbClr val="23262F"/>
                </a:solidFill>
                <a:latin typeface="Calibri"/>
                <a:ea typeface="Calibri"/>
                <a:cs typeface="Calibri"/>
                <a:sym typeface="Calibri"/>
              </a:rPr>
              <a:t>Usan componentes activos (transistores npn, pnp, diodos) y elementos pasivos (R y C).</a:t>
            </a:r>
            <a:endParaRPr sz="1300">
              <a:solidFill>
                <a:schemeClr val="dk1"/>
              </a:solidFill>
              <a:latin typeface="Calibri"/>
              <a:ea typeface="Calibri"/>
              <a:cs typeface="Calibri"/>
              <a:sym typeface="Calibri"/>
            </a:endParaRPr>
          </a:p>
          <a:p>
            <a:pPr indent="-311150" lvl="0" marL="457200" marR="0" rtl="0" algn="l">
              <a:lnSpc>
                <a:spcPct val="106000"/>
              </a:lnSpc>
              <a:spcBef>
                <a:spcPts val="0"/>
              </a:spcBef>
              <a:spcAft>
                <a:spcPts val="0"/>
              </a:spcAft>
              <a:buClr>
                <a:srgbClr val="23262F"/>
              </a:buClr>
              <a:buSzPts val="1300"/>
              <a:buFont typeface="Calibri"/>
              <a:buChar char="-"/>
            </a:pPr>
            <a:r>
              <a:rPr b="0" i="0" lang="en-US" sz="1300" u="none" cap="none" strike="noStrike">
                <a:solidFill>
                  <a:srgbClr val="23262F"/>
                </a:solidFill>
                <a:latin typeface="Calibri"/>
                <a:ea typeface="Calibri"/>
                <a:cs typeface="Calibri"/>
                <a:sym typeface="Calibri"/>
              </a:rPr>
              <a:t>En el CI todos los contactos de electrodo se ubican en la cara superior de la oblea y cada transistor debe aislarse eléctricamente para evitar la interacción entre dispositivos.</a:t>
            </a:r>
            <a:endParaRPr b="0" i="0" sz="1300" u="none" cap="none" strike="noStrike">
              <a:solidFill>
                <a:schemeClr val="dk1"/>
              </a:solidFill>
              <a:latin typeface="Calibri"/>
              <a:ea typeface="Calibri"/>
              <a:cs typeface="Calibri"/>
              <a:sym typeface="Calibri"/>
            </a:endParaRPr>
          </a:p>
        </p:txBody>
      </p:sp>
      <p:sp>
        <p:nvSpPr>
          <p:cNvPr id="662" name="Google Shape;662;p22"/>
          <p:cNvSpPr/>
          <p:nvPr/>
        </p:nvSpPr>
        <p:spPr>
          <a:xfrm>
            <a:off x="7498080" y="1664208"/>
            <a:ext cx="4096512" cy="4443984"/>
          </a:xfrm>
          <a:prstGeom prst="roundRect">
            <a:avLst>
              <a:gd fmla="val 2679"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txBox="1"/>
          <p:nvPr/>
        </p:nvSpPr>
        <p:spPr>
          <a:xfrm>
            <a:off x="7772400" y="1883664"/>
            <a:ext cx="356616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Aislamiento en la placa</a:t>
            </a:r>
            <a:endParaRPr b="0" i="0" sz="16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de monocristal de Si</a:t>
            </a:r>
            <a:endParaRPr b="0" i="0" sz="1600" u="none" cap="none" strike="noStrike">
              <a:solidFill>
                <a:schemeClr val="dk1"/>
              </a:solidFill>
              <a:latin typeface="Calibri"/>
              <a:ea typeface="Calibri"/>
              <a:cs typeface="Calibri"/>
              <a:sym typeface="Calibri"/>
            </a:endParaRPr>
          </a:p>
        </p:txBody>
      </p:sp>
      <p:sp>
        <p:nvSpPr>
          <p:cNvPr id="664" name="Google Shape;664;p22"/>
          <p:cNvSpPr/>
          <p:nvPr/>
        </p:nvSpPr>
        <p:spPr>
          <a:xfrm>
            <a:off x="7772400" y="2688336"/>
            <a:ext cx="3566160" cy="621792"/>
          </a:xfrm>
          <a:prstGeom prst="roundRect">
            <a:avLst>
              <a:gd fmla="val 14706"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p:nvPr/>
        </p:nvSpPr>
        <p:spPr>
          <a:xfrm>
            <a:off x="7936992" y="2816352"/>
            <a:ext cx="365760" cy="36576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txBox="1"/>
          <p:nvPr/>
        </p:nvSpPr>
        <p:spPr>
          <a:xfrm>
            <a:off x="7936992" y="28163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667" name="Google Shape;667;p22"/>
          <p:cNvSpPr txBox="1"/>
          <p:nvPr/>
        </p:nvSpPr>
        <p:spPr>
          <a:xfrm>
            <a:off x="8394192" y="2688336"/>
            <a:ext cx="28346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Aislamiento con diodo</a:t>
            </a:r>
            <a:endParaRPr b="0" i="0" sz="1200" u="none" cap="none" strike="noStrike">
              <a:solidFill>
                <a:schemeClr val="dk1"/>
              </a:solidFill>
              <a:latin typeface="Calibri"/>
              <a:ea typeface="Calibri"/>
              <a:cs typeface="Calibri"/>
              <a:sym typeface="Calibri"/>
            </a:endParaRPr>
          </a:p>
        </p:txBody>
      </p:sp>
      <p:sp>
        <p:nvSpPr>
          <p:cNvPr id="668" name="Google Shape;668;p22"/>
          <p:cNvSpPr/>
          <p:nvPr/>
        </p:nvSpPr>
        <p:spPr>
          <a:xfrm>
            <a:off x="7772400" y="3474720"/>
            <a:ext cx="3566160" cy="621792"/>
          </a:xfrm>
          <a:prstGeom prst="roundRect">
            <a:avLst>
              <a:gd fmla="val 14706"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2"/>
          <p:cNvSpPr/>
          <p:nvPr/>
        </p:nvSpPr>
        <p:spPr>
          <a:xfrm>
            <a:off x="7936992" y="3602736"/>
            <a:ext cx="365760" cy="36576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txBox="1"/>
          <p:nvPr/>
        </p:nvSpPr>
        <p:spPr>
          <a:xfrm>
            <a:off x="7936992" y="360273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671" name="Google Shape;671;p22"/>
          <p:cNvSpPr txBox="1"/>
          <p:nvPr/>
        </p:nvSpPr>
        <p:spPr>
          <a:xfrm>
            <a:off x="8394192" y="3474720"/>
            <a:ext cx="28346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Aislamiento con dieléctrico</a:t>
            </a:r>
            <a:endParaRPr b="0" i="0" sz="1200" u="none" cap="none" strike="noStrike">
              <a:solidFill>
                <a:schemeClr val="dk1"/>
              </a:solidFill>
              <a:latin typeface="Calibri"/>
              <a:ea typeface="Calibri"/>
              <a:cs typeface="Calibri"/>
              <a:sym typeface="Calibri"/>
            </a:endParaRPr>
          </a:p>
        </p:txBody>
      </p:sp>
      <p:sp>
        <p:nvSpPr>
          <p:cNvPr id="672" name="Google Shape;672;p22"/>
          <p:cNvSpPr/>
          <p:nvPr/>
        </p:nvSpPr>
        <p:spPr>
          <a:xfrm>
            <a:off x="7772400" y="4261104"/>
            <a:ext cx="3566160" cy="621792"/>
          </a:xfrm>
          <a:prstGeom prst="roundRect">
            <a:avLst>
              <a:gd fmla="val 14706" name="adj"/>
            </a:avLst>
          </a:prstGeom>
          <a:solidFill>
            <a:srgbClr val="2E3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p:nvPr/>
        </p:nvSpPr>
        <p:spPr>
          <a:xfrm>
            <a:off x="7936992" y="4389120"/>
            <a:ext cx="365760" cy="36576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txBox="1"/>
          <p:nvPr/>
        </p:nvSpPr>
        <p:spPr>
          <a:xfrm>
            <a:off x="7936992" y="43891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675" name="Google Shape;675;p22"/>
          <p:cNvSpPr txBox="1"/>
          <p:nvPr/>
        </p:nvSpPr>
        <p:spPr>
          <a:xfrm>
            <a:off x="8394192" y="4261104"/>
            <a:ext cx="28346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Aislamiento combinado</a:t>
            </a:r>
            <a:endParaRPr b="0" i="0" sz="1200" u="none" cap="none" strike="noStrike">
              <a:solidFill>
                <a:schemeClr val="dk1"/>
              </a:solidFill>
              <a:latin typeface="Calibri"/>
              <a:ea typeface="Calibri"/>
              <a:cs typeface="Calibri"/>
              <a:sym typeface="Calibri"/>
            </a:endParaRPr>
          </a:p>
        </p:txBody>
      </p:sp>
      <p:sp>
        <p:nvSpPr>
          <p:cNvPr id="676" name="Google Shape;676;p22"/>
          <p:cNvSpPr txBox="1"/>
          <p:nvPr/>
        </p:nvSpPr>
        <p:spPr>
          <a:xfrm>
            <a:off x="7772400" y="5175504"/>
            <a:ext cx="356616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100"/>
              <a:buFont typeface="Calibri"/>
              <a:buNone/>
            </a:pPr>
            <a:r>
              <a:rPr b="0" i="1" lang="en-US" sz="1100" u="none" cap="none" strike="noStrike">
                <a:solidFill>
                  <a:srgbClr val="CADCFC"/>
                </a:solidFill>
                <a:latin typeface="Calibri"/>
                <a:ea typeface="Calibri"/>
                <a:cs typeface="Calibri"/>
                <a:sym typeface="Calibri"/>
              </a:rPr>
              <a:t>El aislamiento es el precio que paga la tecnología bipolar en área, y la razón principal de su menor densidad frente a MOS.</a:t>
            </a:r>
            <a:endParaRPr b="0" i="0" sz="1100" u="none" cap="none" strike="noStrike">
              <a:solidFill>
                <a:schemeClr val="dk1"/>
              </a:solidFill>
              <a:latin typeface="Calibri"/>
              <a:ea typeface="Calibri"/>
              <a:cs typeface="Calibri"/>
              <a:sym typeface="Calibri"/>
            </a:endParaRPr>
          </a:p>
        </p:txBody>
      </p:sp>
      <p:sp>
        <p:nvSpPr>
          <p:cNvPr id="677" name="Google Shape;677;p22"/>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678" name="Google Shape;678;p22"/>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679" name="Google Shape;679;p22"/>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pic>
        <p:nvPicPr>
          <p:cNvPr descr="4.3: Curvas de colector BJT - LibreTexts Español" id="681" name="Google Shape;681;p22"/>
          <p:cNvPicPr preferRelativeResize="0"/>
          <p:nvPr/>
        </p:nvPicPr>
        <p:blipFill>
          <a:blip r:embed="rId3">
            <a:alphaModFix/>
          </a:blip>
          <a:stretch>
            <a:fillRect/>
          </a:stretch>
        </p:blipFill>
        <p:spPr>
          <a:xfrm>
            <a:off x="3308000" y="2438400"/>
            <a:ext cx="3657600" cy="2895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686" name="Shape 686"/>
        <p:cNvGrpSpPr/>
        <p:nvPr/>
      </p:nvGrpSpPr>
      <p:grpSpPr>
        <a:xfrm>
          <a:off x="0" y="0"/>
          <a:ext cx="0" cy="0"/>
          <a:chOff x="0" y="0"/>
          <a:chExt cx="0" cy="0"/>
        </a:xfrm>
      </p:grpSpPr>
      <p:sp>
        <p:nvSpPr>
          <p:cNvPr id="687" name="Google Shape;687;p23"/>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Tecnología bipolar: evolución del aislamiento</a:t>
            </a:r>
            <a:endParaRPr b="0" i="0" sz="2700" u="none" cap="none" strike="noStrike">
              <a:solidFill>
                <a:schemeClr val="dk1"/>
              </a:solidFill>
              <a:latin typeface="Calibri"/>
              <a:ea typeface="Calibri"/>
              <a:cs typeface="Calibri"/>
              <a:sym typeface="Calibri"/>
            </a:endParaRPr>
          </a:p>
        </p:txBody>
      </p:sp>
      <p:sp>
        <p:nvSpPr>
          <p:cNvPr id="688" name="Google Shape;688;p23"/>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Reducción de las dimensiones horizontales y verticales del transistor bipolar</a:t>
            </a:r>
            <a:endParaRPr b="0" i="0" sz="1250" u="none" cap="none" strike="noStrike">
              <a:solidFill>
                <a:schemeClr val="dk1"/>
              </a:solidFill>
              <a:latin typeface="Calibri"/>
              <a:ea typeface="Calibri"/>
              <a:cs typeface="Calibri"/>
              <a:sym typeface="Calibri"/>
            </a:endParaRPr>
          </a:p>
        </p:txBody>
      </p:sp>
      <p:sp>
        <p:nvSpPr>
          <p:cNvPr id="689" name="Google Shape;689;p23"/>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3"/>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691" name="Google Shape;691;p23"/>
          <p:cNvSpPr/>
          <p:nvPr/>
        </p:nvSpPr>
        <p:spPr>
          <a:xfrm>
            <a:off x="566928" y="1737360"/>
            <a:ext cx="2606040" cy="329184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3"/>
          <p:cNvSpPr/>
          <p:nvPr/>
        </p:nvSpPr>
        <p:spPr>
          <a:xfrm>
            <a:off x="804672" y="1956816"/>
            <a:ext cx="2121408" cy="365760"/>
          </a:xfrm>
          <a:prstGeom prst="roundRect">
            <a:avLst>
              <a:gd fmla="val 25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3"/>
          <p:cNvSpPr txBox="1"/>
          <p:nvPr/>
        </p:nvSpPr>
        <p:spPr>
          <a:xfrm>
            <a:off x="804672" y="1956816"/>
            <a:ext cx="21214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Antes de 1970</a:t>
            </a:r>
            <a:endParaRPr b="0" i="0" sz="1050" u="none" cap="none" strike="noStrike">
              <a:solidFill>
                <a:schemeClr val="dk1"/>
              </a:solidFill>
              <a:latin typeface="Calibri"/>
              <a:ea typeface="Calibri"/>
              <a:cs typeface="Calibri"/>
              <a:sym typeface="Calibri"/>
            </a:endParaRPr>
          </a:p>
        </p:txBody>
      </p:sp>
      <p:sp>
        <p:nvSpPr>
          <p:cNvPr id="694" name="Google Shape;694;p23"/>
          <p:cNvSpPr txBox="1"/>
          <p:nvPr/>
        </p:nvSpPr>
        <p:spPr>
          <a:xfrm>
            <a:off x="804672" y="2432304"/>
            <a:ext cx="2121408"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Aislamiento por unión</a:t>
            </a:r>
            <a:endParaRPr b="0" i="0" sz="1400" u="none" cap="none" strike="noStrike">
              <a:solidFill>
                <a:schemeClr val="dk1"/>
              </a:solidFill>
              <a:latin typeface="Calibri"/>
              <a:ea typeface="Calibri"/>
              <a:cs typeface="Calibri"/>
              <a:sym typeface="Calibri"/>
            </a:endParaRPr>
          </a:p>
        </p:txBody>
      </p:sp>
      <p:sp>
        <p:nvSpPr>
          <p:cNvPr id="695" name="Google Shape;695;p23"/>
          <p:cNvSpPr txBox="1"/>
          <p:nvPr/>
        </p:nvSpPr>
        <p:spPr>
          <a:xfrm>
            <a:off x="804672" y="3072384"/>
            <a:ext cx="2139696" cy="1737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50"/>
              <a:buFont typeface="Calibri"/>
              <a:buNone/>
            </a:pPr>
            <a:r>
              <a:rPr b="0" i="0" lang="en-US" sz="1050" u="none" cap="none" strike="noStrike">
                <a:solidFill>
                  <a:srgbClr val="23262F"/>
                </a:solidFill>
                <a:latin typeface="Calibri"/>
                <a:ea typeface="Calibri"/>
                <a:cs typeface="Calibri"/>
                <a:sym typeface="Calibri"/>
              </a:rPr>
              <a:t>Los aislamientos lateral y vertical los proveen uniones p-n. La región p lateral se mantiene siempre polarizada en inversa respecto del colector n.</a:t>
            </a:r>
            <a:endParaRPr b="0" i="0" sz="1050" u="none" cap="none" strike="noStrike">
              <a:solidFill>
                <a:schemeClr val="dk1"/>
              </a:solidFill>
              <a:latin typeface="Calibri"/>
              <a:ea typeface="Calibri"/>
              <a:cs typeface="Calibri"/>
              <a:sym typeface="Calibri"/>
            </a:endParaRPr>
          </a:p>
        </p:txBody>
      </p:sp>
      <p:sp>
        <p:nvSpPr>
          <p:cNvPr id="696" name="Google Shape;696;p23"/>
          <p:cNvSpPr/>
          <p:nvPr/>
        </p:nvSpPr>
        <p:spPr>
          <a:xfrm>
            <a:off x="3374136" y="1737360"/>
            <a:ext cx="2606040" cy="329184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3"/>
          <p:cNvSpPr/>
          <p:nvPr/>
        </p:nvSpPr>
        <p:spPr>
          <a:xfrm>
            <a:off x="3611880" y="1956816"/>
            <a:ext cx="2121408" cy="365760"/>
          </a:xfrm>
          <a:prstGeom prst="roundRect">
            <a:avLst>
              <a:gd fmla="val 25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3"/>
          <p:cNvSpPr txBox="1"/>
          <p:nvPr/>
        </p:nvSpPr>
        <p:spPr>
          <a:xfrm>
            <a:off x="3611880" y="1956816"/>
            <a:ext cx="21214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1971</a:t>
            </a:r>
            <a:endParaRPr b="0" i="0" sz="1050" u="none" cap="none" strike="noStrike">
              <a:solidFill>
                <a:schemeClr val="dk1"/>
              </a:solidFill>
              <a:latin typeface="Calibri"/>
              <a:ea typeface="Calibri"/>
              <a:cs typeface="Calibri"/>
              <a:sym typeface="Calibri"/>
            </a:endParaRPr>
          </a:p>
        </p:txBody>
      </p:sp>
      <p:sp>
        <p:nvSpPr>
          <p:cNvPr id="699" name="Google Shape;699;p23"/>
          <p:cNvSpPr txBox="1"/>
          <p:nvPr/>
        </p:nvSpPr>
        <p:spPr>
          <a:xfrm>
            <a:off x="3611880" y="2432304"/>
            <a:ext cx="2121408"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Aislamiento por óxido</a:t>
            </a:r>
            <a:endParaRPr b="0" i="0" sz="1400" u="none" cap="none" strike="noStrike">
              <a:solidFill>
                <a:schemeClr val="dk1"/>
              </a:solidFill>
              <a:latin typeface="Calibri"/>
              <a:ea typeface="Calibri"/>
              <a:cs typeface="Calibri"/>
              <a:sym typeface="Calibri"/>
            </a:endParaRPr>
          </a:p>
        </p:txBody>
      </p:sp>
      <p:sp>
        <p:nvSpPr>
          <p:cNvPr id="700" name="Google Shape;700;p23"/>
          <p:cNvSpPr txBox="1"/>
          <p:nvPr/>
        </p:nvSpPr>
        <p:spPr>
          <a:xfrm>
            <a:off x="3611880" y="3072384"/>
            <a:ext cx="2139696" cy="1737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50"/>
              <a:buFont typeface="Calibri"/>
              <a:buNone/>
            </a:pPr>
            <a:r>
              <a:rPr b="0" i="0" lang="en-US" sz="1050" u="none" cap="none" strike="noStrike">
                <a:solidFill>
                  <a:srgbClr val="23262F"/>
                </a:solidFill>
                <a:latin typeface="Calibri"/>
                <a:ea typeface="Calibri"/>
                <a:cs typeface="Calibri"/>
                <a:sym typeface="Calibri"/>
              </a:rPr>
              <a:t>Se emplea óxido térmico para el aislamiento lateral: los contactos de base y colector lindan con la región de aislamiento y el área cae sustancialmente.</a:t>
            </a:r>
            <a:endParaRPr b="0" i="0" sz="1050" u="none" cap="none" strike="noStrike">
              <a:solidFill>
                <a:schemeClr val="dk1"/>
              </a:solidFill>
              <a:latin typeface="Calibri"/>
              <a:ea typeface="Calibri"/>
              <a:cs typeface="Calibri"/>
              <a:sym typeface="Calibri"/>
            </a:endParaRPr>
          </a:p>
        </p:txBody>
      </p:sp>
      <p:sp>
        <p:nvSpPr>
          <p:cNvPr id="701" name="Google Shape;701;p23"/>
          <p:cNvSpPr/>
          <p:nvPr/>
        </p:nvSpPr>
        <p:spPr>
          <a:xfrm>
            <a:off x="6181344" y="1737360"/>
            <a:ext cx="2606040" cy="3291840"/>
          </a:xfrm>
          <a:prstGeom prst="roundRect">
            <a:avLst>
              <a:gd fmla="val 4211"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3"/>
          <p:cNvSpPr/>
          <p:nvPr/>
        </p:nvSpPr>
        <p:spPr>
          <a:xfrm>
            <a:off x="6419088" y="1956816"/>
            <a:ext cx="2121408" cy="365760"/>
          </a:xfrm>
          <a:prstGeom prst="roundRect">
            <a:avLst>
              <a:gd fmla="val 25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3"/>
          <p:cNvSpPr txBox="1"/>
          <p:nvPr/>
        </p:nvSpPr>
        <p:spPr>
          <a:xfrm>
            <a:off x="6419088" y="1956816"/>
            <a:ext cx="21214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Mediados de 1970</a:t>
            </a:r>
            <a:endParaRPr b="0" i="0" sz="1050" u="none" cap="none" strike="noStrike">
              <a:solidFill>
                <a:schemeClr val="dk1"/>
              </a:solidFill>
              <a:latin typeface="Calibri"/>
              <a:ea typeface="Calibri"/>
              <a:cs typeface="Calibri"/>
              <a:sym typeface="Calibri"/>
            </a:endParaRPr>
          </a:p>
        </p:txBody>
      </p:sp>
      <p:sp>
        <p:nvSpPr>
          <p:cNvPr id="704" name="Google Shape;704;p23"/>
          <p:cNvSpPr txBox="1"/>
          <p:nvPr/>
        </p:nvSpPr>
        <p:spPr>
          <a:xfrm>
            <a:off x="6419088" y="2432304"/>
            <a:ext cx="2121408"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Óxido escalado</a:t>
            </a:r>
            <a:endParaRPr b="0" i="0" sz="1400" u="none" cap="none" strike="noStrike">
              <a:solidFill>
                <a:schemeClr val="dk1"/>
              </a:solidFill>
              <a:latin typeface="Calibri"/>
              <a:ea typeface="Calibri"/>
              <a:cs typeface="Calibri"/>
              <a:sym typeface="Calibri"/>
            </a:endParaRPr>
          </a:p>
        </p:txBody>
      </p:sp>
      <p:sp>
        <p:nvSpPr>
          <p:cNvPr id="705" name="Google Shape;705;p23"/>
          <p:cNvSpPr txBox="1"/>
          <p:nvPr/>
        </p:nvSpPr>
        <p:spPr>
          <a:xfrm>
            <a:off x="6419088" y="3072384"/>
            <a:ext cx="2139696" cy="1737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50"/>
              <a:buFont typeface="Calibri"/>
              <a:buNone/>
            </a:pPr>
            <a:r>
              <a:rPr b="0" i="0" lang="en-US" sz="1050" u="none" cap="none" strike="noStrike">
                <a:solidFill>
                  <a:srgbClr val="23262F"/>
                </a:solidFill>
                <a:latin typeface="Calibri"/>
                <a:ea typeface="Calibri"/>
                <a:cs typeface="Calibri"/>
                <a:sym typeface="Calibri"/>
              </a:rPr>
              <a:t>El emisor se extiende hasta las paredes del óxido, con una reducción adicional de área.</a:t>
            </a:r>
            <a:endParaRPr b="0" i="0" sz="1050" u="none" cap="none" strike="noStrike">
              <a:solidFill>
                <a:schemeClr val="dk1"/>
              </a:solidFill>
              <a:latin typeface="Calibri"/>
              <a:ea typeface="Calibri"/>
              <a:cs typeface="Calibri"/>
              <a:sym typeface="Calibri"/>
            </a:endParaRPr>
          </a:p>
        </p:txBody>
      </p:sp>
      <p:sp>
        <p:nvSpPr>
          <p:cNvPr id="706" name="Google Shape;706;p23"/>
          <p:cNvSpPr/>
          <p:nvPr/>
        </p:nvSpPr>
        <p:spPr>
          <a:xfrm>
            <a:off x="8988552" y="1737360"/>
            <a:ext cx="2606040" cy="3291840"/>
          </a:xfrm>
          <a:prstGeom prst="roundRect">
            <a:avLst>
              <a:gd fmla="val 4211"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3"/>
          <p:cNvSpPr/>
          <p:nvPr/>
        </p:nvSpPr>
        <p:spPr>
          <a:xfrm>
            <a:off x="9226296" y="1956816"/>
            <a:ext cx="2121408" cy="365760"/>
          </a:xfrm>
          <a:prstGeom prst="roundRect">
            <a:avLst>
              <a:gd fmla="val 25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3"/>
          <p:cNvSpPr txBox="1"/>
          <p:nvPr/>
        </p:nvSpPr>
        <p:spPr>
          <a:xfrm>
            <a:off x="9226296" y="1956816"/>
            <a:ext cx="21214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Actualidad</a:t>
            </a:r>
            <a:endParaRPr b="0" i="0" sz="1050" u="none" cap="none" strike="noStrike">
              <a:solidFill>
                <a:schemeClr val="dk1"/>
              </a:solidFill>
              <a:latin typeface="Calibri"/>
              <a:ea typeface="Calibri"/>
              <a:cs typeface="Calibri"/>
              <a:sym typeface="Calibri"/>
            </a:endParaRPr>
          </a:p>
        </p:txBody>
      </p:sp>
      <p:sp>
        <p:nvSpPr>
          <p:cNvPr id="709" name="Google Shape;709;p23"/>
          <p:cNvSpPr txBox="1"/>
          <p:nvPr/>
        </p:nvSpPr>
        <p:spPr>
          <a:xfrm>
            <a:off x="9226296" y="2432304"/>
            <a:ext cx="2121408"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Trinchera y autoalineación</a:t>
            </a:r>
            <a:endParaRPr b="0" i="0" sz="1400" u="none" cap="none" strike="noStrike">
              <a:solidFill>
                <a:schemeClr val="dk1"/>
              </a:solidFill>
              <a:latin typeface="Calibri"/>
              <a:ea typeface="Calibri"/>
              <a:cs typeface="Calibri"/>
              <a:sym typeface="Calibri"/>
            </a:endParaRPr>
          </a:p>
        </p:txBody>
      </p:sp>
      <p:sp>
        <p:nvSpPr>
          <p:cNvPr id="710" name="Google Shape;710;p23"/>
          <p:cNvSpPr txBox="1"/>
          <p:nvPr/>
        </p:nvSpPr>
        <p:spPr>
          <a:xfrm>
            <a:off x="9226296" y="3072384"/>
            <a:ext cx="2139696" cy="1737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50"/>
              <a:buFont typeface="Calibri"/>
              <a:buNone/>
            </a:pPr>
            <a:r>
              <a:rPr b="0" i="0" lang="en-US" sz="1050" u="none" cap="none" strike="noStrike">
                <a:solidFill>
                  <a:srgbClr val="23262F"/>
                </a:solidFill>
                <a:latin typeface="Calibri"/>
                <a:ea typeface="Calibri"/>
                <a:cs typeface="Calibri"/>
                <a:sym typeface="Calibri"/>
              </a:rPr>
              <a:t>Todas las dimensiones se han escalado; los anchos de franja de emisor están en el rango submicrónico.</a:t>
            </a:r>
            <a:endParaRPr b="0" i="0" sz="1050" u="none" cap="none" strike="noStrike">
              <a:solidFill>
                <a:schemeClr val="dk1"/>
              </a:solidFill>
              <a:latin typeface="Calibri"/>
              <a:ea typeface="Calibri"/>
              <a:cs typeface="Calibri"/>
              <a:sym typeface="Calibri"/>
            </a:endParaRPr>
          </a:p>
        </p:txBody>
      </p:sp>
      <p:sp>
        <p:nvSpPr>
          <p:cNvPr id="711" name="Google Shape;711;p23"/>
          <p:cNvSpPr/>
          <p:nvPr/>
        </p:nvSpPr>
        <p:spPr>
          <a:xfrm>
            <a:off x="566928" y="5212080"/>
            <a:ext cx="11027664" cy="896112"/>
          </a:xfrm>
          <a:prstGeom prst="roundRect">
            <a:avLst>
              <a:gd fmla="val 12245"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3"/>
          <p:cNvSpPr txBox="1"/>
          <p:nvPr/>
        </p:nvSpPr>
        <p:spPr>
          <a:xfrm>
            <a:off x="877824" y="5340096"/>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Secuencia básica del proceso bipolar oxide-isolated:</a:t>
            </a:r>
            <a:endParaRPr b="0" i="0" sz="1150" u="none" cap="none" strike="noStrike">
              <a:solidFill>
                <a:schemeClr val="dk1"/>
              </a:solidFill>
              <a:latin typeface="Calibri"/>
              <a:ea typeface="Calibri"/>
              <a:cs typeface="Calibri"/>
              <a:sym typeface="Calibri"/>
            </a:endParaRPr>
          </a:p>
        </p:txBody>
      </p:sp>
      <p:sp>
        <p:nvSpPr>
          <p:cNvPr id="713" name="Google Shape;713;p23"/>
          <p:cNvSpPr txBox="1"/>
          <p:nvPr/>
        </p:nvSpPr>
        <p:spPr>
          <a:xfrm>
            <a:off x="877824" y="5614416"/>
            <a:ext cx="1038758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capa enterrada n⁺ (As, ~1100 °C)  →  epitaxia n  →  LOCOS con implante de boro tipo chanstop  →  implante de base (B)  →  implante de emisor y contacto de colector (As, ~10¹⁶ cm⁻²)  →  metalización.  Seis formaciones de película, seis litografías, cuatro implantes y cuatro grabados.</a:t>
            </a:r>
            <a:endParaRPr b="0" i="0" sz="1050" u="none" cap="none" strike="noStrike">
              <a:solidFill>
                <a:schemeClr val="dk1"/>
              </a:solidFill>
              <a:latin typeface="Calibri"/>
              <a:ea typeface="Calibri"/>
              <a:cs typeface="Calibri"/>
              <a:sym typeface="Calibri"/>
            </a:endParaRPr>
          </a:p>
        </p:txBody>
      </p:sp>
      <p:sp>
        <p:nvSpPr>
          <p:cNvPr id="714" name="Google Shape;714;p23"/>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715" name="Google Shape;715;p23"/>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716" name="Google Shape;716;p23"/>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3"/>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722" name="Shape 722"/>
        <p:cNvGrpSpPr/>
        <p:nvPr/>
      </p:nvGrpSpPr>
      <p:grpSpPr>
        <a:xfrm>
          <a:off x="0" y="0"/>
          <a:ext cx="0" cy="0"/>
          <a:chOff x="0" y="0"/>
          <a:chExt cx="0" cy="0"/>
        </a:xfrm>
      </p:grpSpPr>
      <p:sp>
        <p:nvSpPr>
          <p:cNvPr id="723" name="Google Shape;723;p24"/>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Transistores MOS</a:t>
            </a:r>
            <a:endParaRPr b="0" i="0" sz="2700" u="none" cap="none" strike="noStrike">
              <a:solidFill>
                <a:schemeClr val="dk1"/>
              </a:solidFill>
              <a:latin typeface="Calibri"/>
              <a:ea typeface="Calibri"/>
              <a:cs typeface="Calibri"/>
              <a:sym typeface="Calibri"/>
            </a:endParaRPr>
          </a:p>
        </p:txBody>
      </p:sp>
      <p:sp>
        <p:nvSpPr>
          <p:cNvPr id="724" name="Google Shape;724;p24"/>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Dispositivo de tres terminales: puerta (gate), drenador (drain) y fuente (source)</a:t>
            </a:r>
            <a:endParaRPr b="0" i="0" sz="1250" u="none" cap="none" strike="noStrike">
              <a:solidFill>
                <a:schemeClr val="dk1"/>
              </a:solidFill>
              <a:latin typeface="Calibri"/>
              <a:ea typeface="Calibri"/>
              <a:cs typeface="Calibri"/>
              <a:sym typeface="Calibri"/>
            </a:endParaRPr>
          </a:p>
        </p:txBody>
      </p:sp>
      <p:sp>
        <p:nvSpPr>
          <p:cNvPr id="725" name="Google Shape;725;p24"/>
          <p:cNvSpPr/>
          <p:nvPr/>
        </p:nvSpPr>
        <p:spPr>
          <a:xfrm>
            <a:off x="566928" y="1700784"/>
            <a:ext cx="5943600"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txBox="1"/>
          <p:nvPr/>
        </p:nvSpPr>
        <p:spPr>
          <a:xfrm>
            <a:off x="877824" y="1920240"/>
            <a:ext cx="5349240" cy="12801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Al aplicar una tensión entre la puerta y el sustrato (positiva en nMOS, negativa en pMOS) fluye entre el drenador y la fuente una corriente que depende de la tensión VD − VS.</a:t>
            </a:r>
            <a:endParaRPr b="0" i="0" sz="1250" u="none" cap="none" strike="noStrike">
              <a:solidFill>
                <a:schemeClr val="dk1"/>
              </a:solidFill>
              <a:latin typeface="Calibri"/>
              <a:ea typeface="Calibri"/>
              <a:cs typeface="Calibri"/>
              <a:sym typeface="Calibri"/>
            </a:endParaRPr>
          </a:p>
        </p:txBody>
      </p:sp>
      <p:sp>
        <p:nvSpPr>
          <p:cNvPr id="727" name="Google Shape;727;p24"/>
          <p:cNvSpPr/>
          <p:nvPr/>
        </p:nvSpPr>
        <p:spPr>
          <a:xfrm>
            <a:off x="877824" y="3218688"/>
            <a:ext cx="5349240" cy="530352"/>
          </a:xfrm>
          <a:prstGeom prst="roundRect">
            <a:avLst>
              <a:gd fmla="val 2069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txBox="1"/>
          <p:nvPr/>
        </p:nvSpPr>
        <p:spPr>
          <a:xfrm>
            <a:off x="877824" y="3218688"/>
            <a:ext cx="534924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La tensión VD − VS controla la corriente IDS</a:t>
            </a:r>
            <a:endParaRPr b="0" i="0" sz="1350" u="none" cap="none" strike="noStrike">
              <a:solidFill>
                <a:schemeClr val="dk1"/>
              </a:solidFill>
              <a:latin typeface="Calibri"/>
              <a:ea typeface="Calibri"/>
              <a:cs typeface="Calibri"/>
              <a:sym typeface="Calibri"/>
            </a:endParaRPr>
          </a:p>
        </p:txBody>
      </p:sp>
      <p:sp>
        <p:nvSpPr>
          <p:cNvPr id="729" name="Google Shape;729;p24"/>
          <p:cNvSpPr/>
          <p:nvPr/>
        </p:nvSpPr>
        <p:spPr>
          <a:xfrm>
            <a:off x="6839712" y="1700784"/>
            <a:ext cx="4754880" cy="2286000"/>
          </a:xfrm>
          <a:prstGeom prst="roundRect">
            <a:avLst>
              <a:gd fmla="val 4800"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txBox="1"/>
          <p:nvPr/>
        </p:nvSpPr>
        <p:spPr>
          <a:xfrm>
            <a:off x="7114032" y="1883664"/>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Frente al bipolar</a:t>
            </a:r>
            <a:endParaRPr b="0" i="0" sz="1150" u="none" cap="none" strike="noStrike">
              <a:solidFill>
                <a:schemeClr val="dk1"/>
              </a:solidFill>
              <a:latin typeface="Calibri"/>
              <a:ea typeface="Calibri"/>
              <a:cs typeface="Calibri"/>
              <a:sym typeface="Calibri"/>
            </a:endParaRPr>
          </a:p>
        </p:txBody>
      </p:sp>
      <p:sp>
        <p:nvSpPr>
          <p:cNvPr id="731" name="Google Shape;731;p24"/>
          <p:cNvSpPr txBox="1"/>
          <p:nvPr/>
        </p:nvSpPr>
        <p:spPr>
          <a:xfrm>
            <a:off x="7114032" y="2231136"/>
            <a:ext cx="4224528" cy="155448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FFFFFF"/>
              </a:buClr>
              <a:buSzPts val="1100"/>
              <a:buFont typeface="Calibri"/>
              <a:buChar char="▪"/>
            </a:pPr>
            <a:r>
              <a:rPr b="0" i="0" lang="en-US" sz="1100" u="none" cap="none" strike="noStrike">
                <a:solidFill>
                  <a:srgbClr val="FFFFFF"/>
                </a:solidFill>
                <a:latin typeface="Calibri"/>
                <a:ea typeface="Calibri"/>
                <a:cs typeface="Calibri"/>
                <a:sym typeface="Calibri"/>
              </a:rPr>
              <a:t>Estructura considerablemente más simple.</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FFFFFF"/>
              </a:buClr>
              <a:buSzPts val="1100"/>
              <a:buFont typeface="Calibri"/>
              <a:buChar char="▪"/>
            </a:pPr>
            <a:r>
              <a:rPr b="0" i="0" lang="en-US" sz="1100" u="none" cap="none" strike="noStrike">
                <a:solidFill>
                  <a:srgbClr val="FFFFFF"/>
                </a:solidFill>
                <a:latin typeface="Calibri"/>
                <a:ea typeface="Calibri"/>
                <a:cs typeface="Calibri"/>
                <a:sym typeface="Calibri"/>
              </a:rPr>
              <a:t>No necesita aislamiento vertical: basta el aislamiento lateral por óxido.</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FFFFFF"/>
              </a:buClr>
              <a:buSzPts val="1100"/>
              <a:buFont typeface="Calibri"/>
              <a:buChar char="▪"/>
            </a:pPr>
            <a:r>
              <a:rPr b="0" i="0" lang="en-US" sz="1100" u="none" cap="none" strike="noStrike">
                <a:solidFill>
                  <a:srgbClr val="FFFFFF"/>
                </a:solidFill>
                <a:latin typeface="Calibri"/>
                <a:ea typeface="Calibri"/>
                <a:cs typeface="Calibri"/>
                <a:sym typeface="Calibri"/>
              </a:rPr>
              <a:t>El perfil de dopado es menos complejo y su control, menos crítico.</a:t>
            </a:r>
            <a:endParaRPr b="0" i="0" sz="1100" u="none" cap="none" strike="noStrike">
              <a:solidFill>
                <a:schemeClr val="dk1"/>
              </a:solidFill>
              <a:latin typeface="Calibri"/>
              <a:ea typeface="Calibri"/>
              <a:cs typeface="Calibri"/>
              <a:sym typeface="Calibri"/>
            </a:endParaRPr>
          </a:p>
        </p:txBody>
      </p:sp>
      <p:sp>
        <p:nvSpPr>
          <p:cNvPr id="732" name="Google Shape;732;p24"/>
          <p:cNvSpPr/>
          <p:nvPr/>
        </p:nvSpPr>
        <p:spPr>
          <a:xfrm>
            <a:off x="566928" y="4224528"/>
            <a:ext cx="11027664" cy="1883664"/>
          </a:xfrm>
          <a:prstGeom prst="roundRect">
            <a:avLst>
              <a:gd fmla="val 582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txBox="1"/>
          <p:nvPr/>
        </p:nvSpPr>
        <p:spPr>
          <a:xfrm>
            <a:off x="877824" y="43891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50"/>
              <a:buFont typeface="Calibri"/>
              <a:buNone/>
            </a:pPr>
            <a:r>
              <a:rPr b="1" i="0" lang="en-US" sz="1250" u="none" cap="none" strike="noStrike">
                <a:solidFill>
                  <a:srgbClr val="F96167"/>
                </a:solidFill>
                <a:latin typeface="Calibri"/>
                <a:ea typeface="Calibri"/>
                <a:cs typeface="Calibri"/>
                <a:sym typeface="Calibri"/>
              </a:rPr>
              <a:t>Regiones de funcionamiento</a:t>
            </a:r>
            <a:endParaRPr b="0" i="0" sz="1250" u="none" cap="none" strike="noStrike">
              <a:solidFill>
                <a:schemeClr val="dk1"/>
              </a:solidFill>
              <a:latin typeface="Calibri"/>
              <a:ea typeface="Calibri"/>
              <a:cs typeface="Calibri"/>
              <a:sym typeface="Calibri"/>
            </a:endParaRPr>
          </a:p>
        </p:txBody>
      </p:sp>
      <p:sp>
        <p:nvSpPr>
          <p:cNvPr id="734" name="Google Shape;734;p24"/>
          <p:cNvSpPr/>
          <p:nvPr/>
        </p:nvSpPr>
        <p:spPr>
          <a:xfrm>
            <a:off x="877824"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txBox="1"/>
          <p:nvPr/>
        </p:nvSpPr>
        <p:spPr>
          <a:xfrm>
            <a:off x="1060704"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Corte</a:t>
            </a:r>
            <a:endParaRPr b="0" i="0" sz="1250" u="none" cap="none" strike="noStrike">
              <a:solidFill>
                <a:schemeClr val="dk1"/>
              </a:solidFill>
              <a:latin typeface="Calibri"/>
              <a:ea typeface="Calibri"/>
              <a:cs typeface="Calibri"/>
              <a:sym typeface="Calibri"/>
            </a:endParaRPr>
          </a:p>
        </p:txBody>
      </p:sp>
      <p:sp>
        <p:nvSpPr>
          <p:cNvPr id="736" name="Google Shape;736;p24"/>
          <p:cNvSpPr txBox="1"/>
          <p:nvPr/>
        </p:nvSpPr>
        <p:spPr>
          <a:xfrm>
            <a:off x="1060704" y="5120640"/>
            <a:ext cx="2999232"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Dispositivo apagado, cuando VGS &lt; Vth.</a:t>
            </a:r>
            <a:endParaRPr b="0" i="0" sz="1100" u="none" cap="none" strike="noStrike">
              <a:solidFill>
                <a:schemeClr val="dk1"/>
              </a:solidFill>
              <a:latin typeface="Calibri"/>
              <a:ea typeface="Calibri"/>
              <a:cs typeface="Calibri"/>
              <a:sym typeface="Calibri"/>
            </a:endParaRPr>
          </a:p>
        </p:txBody>
      </p:sp>
      <p:sp>
        <p:nvSpPr>
          <p:cNvPr id="737" name="Google Shape;737;p24"/>
          <p:cNvSpPr/>
          <p:nvPr/>
        </p:nvSpPr>
        <p:spPr>
          <a:xfrm>
            <a:off x="4407408"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txBox="1"/>
          <p:nvPr/>
        </p:nvSpPr>
        <p:spPr>
          <a:xfrm>
            <a:off x="4590288"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Lineal</a:t>
            </a:r>
            <a:endParaRPr b="0" i="0" sz="1250" u="none" cap="none" strike="noStrike">
              <a:solidFill>
                <a:schemeClr val="dk1"/>
              </a:solidFill>
              <a:latin typeface="Calibri"/>
              <a:ea typeface="Calibri"/>
              <a:cs typeface="Calibri"/>
              <a:sym typeface="Calibri"/>
            </a:endParaRPr>
          </a:p>
        </p:txBody>
      </p:sp>
      <p:sp>
        <p:nvSpPr>
          <p:cNvPr id="739" name="Google Shape;739;p24"/>
          <p:cNvSpPr txBox="1"/>
          <p:nvPr/>
        </p:nvSpPr>
        <p:spPr>
          <a:xfrm>
            <a:off x="4590288" y="5120640"/>
            <a:ext cx="2999232"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Resistencia controlada por la tensión de puerta: VGS &gt; Vth y VDS &lt; (VGS − Vth).</a:t>
            </a:r>
            <a:endParaRPr b="0" i="0" sz="1100" u="none" cap="none" strike="noStrike">
              <a:solidFill>
                <a:schemeClr val="dk1"/>
              </a:solidFill>
              <a:latin typeface="Calibri"/>
              <a:ea typeface="Calibri"/>
              <a:cs typeface="Calibri"/>
              <a:sym typeface="Calibri"/>
            </a:endParaRPr>
          </a:p>
        </p:txBody>
      </p:sp>
      <p:sp>
        <p:nvSpPr>
          <p:cNvPr id="740" name="Google Shape;740;p24"/>
          <p:cNvSpPr/>
          <p:nvPr/>
        </p:nvSpPr>
        <p:spPr>
          <a:xfrm>
            <a:off x="7936992" y="4700016"/>
            <a:ext cx="3346704" cy="1188720"/>
          </a:xfrm>
          <a:prstGeom prst="roundRect">
            <a:avLst>
              <a:gd fmla="val 7692" name="adj"/>
            </a:avLst>
          </a:prstGeom>
          <a:solidFill>
            <a:srgbClr val="EAF1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4"/>
          <p:cNvSpPr txBox="1"/>
          <p:nvPr/>
        </p:nvSpPr>
        <p:spPr>
          <a:xfrm>
            <a:off x="8119872" y="4809744"/>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Saturación</a:t>
            </a:r>
            <a:endParaRPr b="0" i="0" sz="1250" u="none" cap="none" strike="noStrike">
              <a:solidFill>
                <a:schemeClr val="dk1"/>
              </a:solidFill>
              <a:latin typeface="Calibri"/>
              <a:ea typeface="Calibri"/>
              <a:cs typeface="Calibri"/>
              <a:sym typeface="Calibri"/>
            </a:endParaRPr>
          </a:p>
        </p:txBody>
      </p:sp>
      <p:sp>
        <p:nvSpPr>
          <p:cNvPr id="742" name="Google Shape;742;p24"/>
          <p:cNvSpPr txBox="1"/>
          <p:nvPr/>
        </p:nvSpPr>
        <p:spPr>
          <a:xfrm>
            <a:off x="8119872" y="5120640"/>
            <a:ext cx="2999232"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Estrangulamiento del canal; la relación lineal ya no se cumple: VGS &gt; Vth y VDS &gt; (VGS − Vth).</a:t>
            </a:r>
            <a:endParaRPr b="0" i="0" sz="1100" u="none" cap="none" strike="noStrike">
              <a:solidFill>
                <a:schemeClr val="dk1"/>
              </a:solidFill>
              <a:latin typeface="Calibri"/>
              <a:ea typeface="Calibri"/>
              <a:cs typeface="Calibri"/>
              <a:sym typeface="Calibri"/>
            </a:endParaRPr>
          </a:p>
        </p:txBody>
      </p:sp>
      <p:sp>
        <p:nvSpPr>
          <p:cNvPr id="743" name="Google Shape;743;p24"/>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744" name="Google Shape;744;p24"/>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745" name="Google Shape;745;p24"/>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751" name="Shape 751"/>
        <p:cNvGrpSpPr/>
        <p:nvPr/>
      </p:nvGrpSpPr>
      <p:grpSpPr>
        <a:xfrm>
          <a:off x="0" y="0"/>
          <a:ext cx="0" cy="0"/>
          <a:chOff x="0" y="0"/>
          <a:chExt cx="0" cy="0"/>
        </a:xfrm>
      </p:grpSpPr>
      <p:sp>
        <p:nvSpPr>
          <p:cNvPr id="752" name="Google Shape;752;g3f9b2945def_0_14"/>
          <p:cNvSpPr txBox="1"/>
          <p:nvPr/>
        </p:nvSpPr>
        <p:spPr>
          <a:xfrm>
            <a:off x="566928" y="310896"/>
            <a:ext cx="82845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Transistores MOS </a:t>
            </a:r>
            <a:r>
              <a:rPr b="1" lang="en-US" sz="2700">
                <a:solidFill>
                  <a:srgbClr val="1E2761"/>
                </a:solidFill>
                <a:latin typeface="Cambria"/>
                <a:ea typeface="Cambria"/>
                <a:cs typeface="Cambria"/>
                <a:sym typeface="Cambria"/>
              </a:rPr>
              <a:t>como switches</a:t>
            </a:r>
            <a:endParaRPr b="0" i="0" sz="2700" u="none" cap="none" strike="noStrike">
              <a:solidFill>
                <a:schemeClr val="dk1"/>
              </a:solidFill>
              <a:latin typeface="Calibri"/>
              <a:ea typeface="Calibri"/>
              <a:cs typeface="Calibri"/>
              <a:sym typeface="Calibri"/>
            </a:endParaRPr>
          </a:p>
        </p:txBody>
      </p:sp>
      <p:sp>
        <p:nvSpPr>
          <p:cNvPr id="753" name="Google Shape;753;g3f9b2945def_0_14"/>
          <p:cNvSpPr txBox="1"/>
          <p:nvPr/>
        </p:nvSpPr>
        <p:spPr>
          <a:xfrm>
            <a:off x="566928" y="886968"/>
            <a:ext cx="828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Dispositivo de tres terminales: puerta (gate), drenador (drain) y fuente (source)</a:t>
            </a:r>
            <a:endParaRPr b="0" i="0" sz="1250" u="none" cap="none" strike="noStrike">
              <a:solidFill>
                <a:schemeClr val="dk1"/>
              </a:solidFill>
              <a:latin typeface="Calibri"/>
              <a:ea typeface="Calibri"/>
              <a:cs typeface="Calibri"/>
              <a:sym typeface="Calibri"/>
            </a:endParaRPr>
          </a:p>
        </p:txBody>
      </p:sp>
      <p:sp>
        <p:nvSpPr>
          <p:cNvPr id="754" name="Google Shape;754;g3f9b2945def_0_14"/>
          <p:cNvSpPr txBox="1"/>
          <p:nvPr/>
        </p:nvSpPr>
        <p:spPr>
          <a:xfrm>
            <a:off x="566928" y="6336792"/>
            <a:ext cx="4755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755" name="Google Shape;755;g3f9b2945def_0_14"/>
          <p:cNvSpPr txBox="1"/>
          <p:nvPr/>
        </p:nvSpPr>
        <p:spPr>
          <a:xfrm>
            <a:off x="5559552" y="6336792"/>
            <a:ext cx="5669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756" name="Google Shape;756;g3f9b2945def_0_14"/>
          <p:cNvSpPr/>
          <p:nvPr/>
        </p:nvSpPr>
        <p:spPr>
          <a:xfrm>
            <a:off x="11283696" y="6345936"/>
            <a:ext cx="255900" cy="2559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g3f9b2945def_0_14"/>
          <p:cNvSpPr txBox="1"/>
          <p:nvPr/>
        </p:nvSpPr>
        <p:spPr>
          <a:xfrm>
            <a:off x="11283696" y="6345936"/>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pic>
        <p:nvPicPr>
          <p:cNvPr id="758" name="Google Shape;758;g3f9b2945def_0_14"/>
          <p:cNvPicPr preferRelativeResize="0"/>
          <p:nvPr/>
        </p:nvPicPr>
        <p:blipFill>
          <a:blip r:embed="rId3">
            <a:alphaModFix/>
          </a:blip>
          <a:stretch>
            <a:fillRect/>
          </a:stretch>
        </p:blipFill>
        <p:spPr>
          <a:xfrm>
            <a:off x="4612288" y="1549300"/>
            <a:ext cx="7267725" cy="3917875"/>
          </a:xfrm>
          <a:prstGeom prst="rect">
            <a:avLst/>
          </a:prstGeom>
          <a:noFill/>
          <a:ln>
            <a:noFill/>
          </a:ln>
        </p:spPr>
      </p:pic>
      <p:pic>
        <p:nvPicPr>
          <p:cNvPr id="759" name="Google Shape;759;g3f9b2945def_0_14"/>
          <p:cNvPicPr preferRelativeResize="0"/>
          <p:nvPr/>
        </p:nvPicPr>
        <p:blipFill>
          <a:blip r:embed="rId4">
            <a:alphaModFix/>
          </a:blip>
          <a:stretch>
            <a:fillRect/>
          </a:stretch>
        </p:blipFill>
        <p:spPr>
          <a:xfrm>
            <a:off x="289125" y="1921081"/>
            <a:ext cx="4016900" cy="33725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764" name="Shape 764"/>
        <p:cNvGrpSpPr/>
        <p:nvPr/>
      </p:nvGrpSpPr>
      <p:grpSpPr>
        <a:xfrm>
          <a:off x="0" y="0"/>
          <a:ext cx="0" cy="0"/>
          <a:chOff x="0" y="0"/>
          <a:chExt cx="0" cy="0"/>
        </a:xfrm>
      </p:grpSpPr>
      <p:sp>
        <p:nvSpPr>
          <p:cNvPr id="765" name="Google Shape;765;p25"/>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Circuitos integrados CMOS</a:t>
            </a:r>
            <a:endParaRPr b="0" i="0" sz="2700" u="none" cap="none" strike="noStrike">
              <a:solidFill>
                <a:schemeClr val="dk1"/>
              </a:solidFill>
              <a:latin typeface="Calibri"/>
              <a:ea typeface="Calibri"/>
              <a:cs typeface="Calibri"/>
              <a:sym typeface="Calibri"/>
            </a:endParaRPr>
          </a:p>
        </p:txBody>
      </p:sp>
      <p:sp>
        <p:nvSpPr>
          <p:cNvPr id="766" name="Google Shape;766;p25"/>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Metal-óxido-semiconductor complementario: la técnica más usada en la actualidad</a:t>
            </a:r>
            <a:endParaRPr b="0" i="0" sz="1250" u="none" cap="none" strike="noStrike">
              <a:solidFill>
                <a:schemeClr val="dk1"/>
              </a:solidFill>
              <a:latin typeface="Calibri"/>
              <a:ea typeface="Calibri"/>
              <a:cs typeface="Calibri"/>
              <a:sym typeface="Calibri"/>
            </a:endParaRPr>
          </a:p>
        </p:txBody>
      </p:sp>
      <p:sp>
        <p:nvSpPr>
          <p:cNvPr id="767" name="Google Shape;767;p25"/>
          <p:cNvSpPr/>
          <p:nvPr/>
        </p:nvSpPr>
        <p:spPr>
          <a:xfrm>
            <a:off x="566928" y="1664208"/>
            <a:ext cx="6675120" cy="4443984"/>
          </a:xfrm>
          <a:prstGeom prst="roundRect">
            <a:avLst>
              <a:gd fmla="val 2469"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5"/>
          <p:cNvSpPr txBox="1"/>
          <p:nvPr/>
        </p:nvSpPr>
        <p:spPr>
          <a:xfrm>
            <a:off x="932692" y="1956825"/>
            <a:ext cx="2177400" cy="38406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300"/>
              <a:buFont typeface="Calibri"/>
              <a:buChar char="▪"/>
            </a:pPr>
            <a:r>
              <a:rPr lang="en-US" sz="1300">
                <a:solidFill>
                  <a:srgbClr val="23262F"/>
                </a:solidFill>
                <a:latin typeface="Calibri"/>
                <a:ea typeface="Calibri"/>
                <a:cs typeface="Calibri"/>
                <a:sym typeface="Calibri"/>
              </a:rPr>
              <a:t>A</a:t>
            </a:r>
            <a:r>
              <a:rPr b="0" i="0" lang="en-US" sz="1300" u="none" cap="none" strike="noStrike">
                <a:solidFill>
                  <a:srgbClr val="23262F"/>
                </a:solidFill>
                <a:latin typeface="Calibri"/>
                <a:ea typeface="Calibri"/>
                <a:cs typeface="Calibri"/>
                <a:sym typeface="Calibri"/>
              </a:rPr>
              <a:t>lta integración.</a:t>
            </a:r>
            <a:endParaRPr b="0" i="0" sz="13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300"/>
              <a:buFont typeface="Calibri"/>
              <a:buChar char="▪"/>
            </a:pPr>
            <a:r>
              <a:rPr b="0" i="0" lang="en-US" sz="1300" u="none" cap="none" strike="noStrike">
                <a:solidFill>
                  <a:srgbClr val="23262F"/>
                </a:solidFill>
                <a:latin typeface="Calibri"/>
                <a:ea typeface="Calibri"/>
                <a:cs typeface="Calibri"/>
                <a:sym typeface="Calibri"/>
              </a:rPr>
              <a:t>Se acoplan en parejas transistores pMOS y nMOS, </a:t>
            </a:r>
            <a:r>
              <a:rPr lang="en-US" sz="1300">
                <a:solidFill>
                  <a:srgbClr val="23262F"/>
                </a:solidFill>
                <a:latin typeface="Calibri"/>
                <a:ea typeface="Calibri"/>
                <a:cs typeface="Calibri"/>
                <a:sym typeface="Calibri"/>
              </a:rPr>
              <a:t>sin </a:t>
            </a:r>
            <a:r>
              <a:rPr b="0" i="0" lang="en-US" sz="1300" u="none" cap="none" strike="noStrike">
                <a:solidFill>
                  <a:srgbClr val="23262F"/>
                </a:solidFill>
                <a:latin typeface="Calibri"/>
                <a:ea typeface="Calibri"/>
                <a:cs typeface="Calibri"/>
                <a:sym typeface="Calibri"/>
              </a:rPr>
              <a:t>resistencias o transistores de carga,</a:t>
            </a:r>
            <a:r>
              <a:rPr lang="en-US" sz="1300">
                <a:solidFill>
                  <a:srgbClr val="23262F"/>
                </a:solidFill>
                <a:latin typeface="Calibri"/>
                <a:ea typeface="Calibri"/>
                <a:cs typeface="Calibri"/>
                <a:sym typeface="Calibri"/>
              </a:rPr>
              <a:t> no se pierde </a:t>
            </a:r>
            <a:r>
              <a:rPr b="0" i="0" lang="en-US" sz="1300" u="none" cap="none" strike="noStrike">
                <a:solidFill>
                  <a:srgbClr val="23262F"/>
                </a:solidFill>
                <a:latin typeface="Calibri"/>
                <a:ea typeface="Calibri"/>
                <a:cs typeface="Calibri"/>
                <a:sym typeface="Calibri"/>
              </a:rPr>
              <a:t>potencia</a:t>
            </a:r>
            <a:r>
              <a:rPr lang="en-US" sz="1300">
                <a:solidFill>
                  <a:srgbClr val="23262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300"/>
              <a:buFont typeface="Calibri"/>
              <a:buChar char="▪"/>
            </a:pPr>
            <a:r>
              <a:rPr lang="en-US" sz="1300">
                <a:solidFill>
                  <a:srgbClr val="23262F"/>
                </a:solidFill>
                <a:latin typeface="Calibri"/>
                <a:ea typeface="Calibri"/>
                <a:cs typeface="Calibri"/>
                <a:sym typeface="Calibri"/>
              </a:rPr>
              <a:t>N</a:t>
            </a:r>
            <a:r>
              <a:rPr b="0" i="0" lang="en-US" sz="1300" u="none" cap="none" strike="noStrike">
                <a:solidFill>
                  <a:srgbClr val="23262F"/>
                </a:solidFill>
                <a:latin typeface="Calibri"/>
                <a:ea typeface="Calibri"/>
                <a:cs typeface="Calibri"/>
                <a:sym typeface="Calibri"/>
              </a:rPr>
              <a:t>úmero mayor de transistores por puerta que otras familias lógicas, </a:t>
            </a:r>
            <a:r>
              <a:rPr lang="en-US" sz="1300">
                <a:solidFill>
                  <a:srgbClr val="23262F"/>
                </a:solidFill>
                <a:latin typeface="Calibri"/>
                <a:ea typeface="Calibri"/>
                <a:cs typeface="Calibri"/>
                <a:sym typeface="Calibri"/>
              </a:rPr>
              <a:t>aumento de </a:t>
            </a:r>
            <a:r>
              <a:rPr b="0" i="0" lang="en-US" sz="1300" u="none" cap="none" strike="noStrike">
                <a:solidFill>
                  <a:srgbClr val="23262F"/>
                </a:solidFill>
                <a:latin typeface="Calibri"/>
                <a:ea typeface="Calibri"/>
                <a:cs typeface="Calibri"/>
                <a:sym typeface="Calibri"/>
              </a:rPr>
              <a:t>complejidad</a:t>
            </a:r>
            <a:r>
              <a:rPr lang="en-US" sz="1300">
                <a:solidFill>
                  <a:srgbClr val="23262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300"/>
              <a:buFont typeface="Calibri"/>
              <a:buChar char="▪"/>
            </a:pPr>
            <a:r>
              <a:rPr b="0" i="0" lang="en-US" sz="1300" u="none" cap="none" strike="noStrike">
                <a:solidFill>
                  <a:srgbClr val="23262F"/>
                </a:solidFill>
                <a:latin typeface="Calibri"/>
                <a:ea typeface="Calibri"/>
                <a:cs typeface="Calibri"/>
                <a:sym typeface="Calibri"/>
              </a:rPr>
              <a:t>Los circuitos se fabrican mediante la superposición sucesiva de capas (layers) de diversos materiales sobre una superficie base de silicio.</a:t>
            </a:r>
            <a:endParaRPr b="0" i="0" sz="1300" u="none" cap="none" strike="noStrike">
              <a:solidFill>
                <a:schemeClr val="dk1"/>
              </a:solidFill>
              <a:latin typeface="Calibri"/>
              <a:ea typeface="Calibri"/>
              <a:cs typeface="Calibri"/>
              <a:sym typeface="Calibri"/>
            </a:endParaRPr>
          </a:p>
        </p:txBody>
      </p:sp>
      <p:sp>
        <p:nvSpPr>
          <p:cNvPr id="769" name="Google Shape;769;p25"/>
          <p:cNvSpPr/>
          <p:nvPr/>
        </p:nvSpPr>
        <p:spPr>
          <a:xfrm>
            <a:off x="7498080" y="1664208"/>
            <a:ext cx="4096512" cy="2103120"/>
          </a:xfrm>
          <a:prstGeom prst="roundRect">
            <a:avLst>
              <a:gd fmla="val 5217"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5"/>
          <p:cNvSpPr txBox="1"/>
          <p:nvPr/>
        </p:nvSpPr>
        <p:spPr>
          <a:xfrm>
            <a:off x="7772400" y="1865376"/>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3000"/>
              <a:buFont typeface="Cambria"/>
              <a:buNone/>
            </a:pPr>
            <a:r>
              <a:rPr b="1" i="0" lang="en-US" sz="3000" u="none" cap="none" strike="noStrike">
                <a:solidFill>
                  <a:srgbClr val="F96167"/>
                </a:solidFill>
                <a:latin typeface="Cambria"/>
                <a:ea typeface="Cambria"/>
                <a:cs typeface="Cambria"/>
                <a:sym typeface="Cambria"/>
              </a:rPr>
              <a:t>1963</a:t>
            </a:r>
            <a:endParaRPr b="0" i="0" sz="3000" u="none" cap="none" strike="noStrike">
              <a:solidFill>
                <a:schemeClr val="dk1"/>
              </a:solidFill>
              <a:latin typeface="Calibri"/>
              <a:ea typeface="Calibri"/>
              <a:cs typeface="Calibri"/>
              <a:sym typeface="Calibri"/>
            </a:endParaRPr>
          </a:p>
        </p:txBody>
      </p:sp>
      <p:sp>
        <p:nvSpPr>
          <p:cNvPr id="771" name="Google Shape;771;p25"/>
          <p:cNvSpPr txBox="1"/>
          <p:nvPr/>
        </p:nvSpPr>
        <p:spPr>
          <a:xfrm>
            <a:off x="7772400" y="2377440"/>
            <a:ext cx="3566160" cy="1188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Wanlass y Sah proponen el concepto CMOS: los elementos lógicos consumen corriente apreciable solo durante la transición de un estado a otro.</a:t>
            </a:r>
            <a:endParaRPr b="0" i="0" sz="1150" u="none" cap="none" strike="noStrike">
              <a:solidFill>
                <a:schemeClr val="dk1"/>
              </a:solidFill>
              <a:latin typeface="Calibri"/>
              <a:ea typeface="Calibri"/>
              <a:cs typeface="Calibri"/>
              <a:sym typeface="Calibri"/>
            </a:endParaRPr>
          </a:p>
        </p:txBody>
      </p:sp>
      <p:sp>
        <p:nvSpPr>
          <p:cNvPr id="772" name="Google Shape;772;p25"/>
          <p:cNvSpPr/>
          <p:nvPr/>
        </p:nvSpPr>
        <p:spPr>
          <a:xfrm>
            <a:off x="7498080" y="3986784"/>
            <a:ext cx="4096512" cy="2121408"/>
          </a:xfrm>
          <a:prstGeom prst="roundRect">
            <a:avLst>
              <a:gd fmla="val 5172"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5"/>
          <p:cNvSpPr txBox="1"/>
          <p:nvPr/>
        </p:nvSpPr>
        <p:spPr>
          <a:xfrm>
            <a:off x="7772400" y="4187952"/>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El compromiso</a:t>
            </a:r>
            <a:endParaRPr b="0" i="0" sz="1150" u="none" cap="none" strike="noStrike">
              <a:solidFill>
                <a:schemeClr val="dk1"/>
              </a:solidFill>
              <a:latin typeface="Calibri"/>
              <a:ea typeface="Calibri"/>
              <a:cs typeface="Calibri"/>
              <a:sym typeface="Calibri"/>
            </a:endParaRPr>
          </a:p>
        </p:txBody>
      </p:sp>
      <p:sp>
        <p:nvSpPr>
          <p:cNvPr id="774" name="Google Shape;774;p25"/>
          <p:cNvSpPr txBox="1"/>
          <p:nvPr/>
        </p:nvSpPr>
        <p:spPr>
          <a:xfrm>
            <a:off x="7772400" y="4517136"/>
            <a:ext cx="3566160"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El pozo y los pasos adicionales para el pMOS hacen que el número de etapas de un proceso CMOS sea esencialmente el doble que el de un proceso NMOS. Se cambia complejidad de proceso por reducción de consumo.</a:t>
            </a:r>
            <a:endParaRPr b="0" i="0" sz="1150" u="none" cap="none" strike="noStrike">
              <a:solidFill>
                <a:schemeClr val="dk1"/>
              </a:solidFill>
              <a:latin typeface="Calibri"/>
              <a:ea typeface="Calibri"/>
              <a:cs typeface="Calibri"/>
              <a:sym typeface="Calibri"/>
            </a:endParaRPr>
          </a:p>
        </p:txBody>
      </p:sp>
      <p:sp>
        <p:nvSpPr>
          <p:cNvPr id="775" name="Google Shape;775;p25"/>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776" name="Google Shape;776;p25"/>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777" name="Google Shape;777;p25"/>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5"/>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pic>
        <p:nvPicPr>
          <p:cNvPr id="779" name="Google Shape;779;p25"/>
          <p:cNvPicPr preferRelativeResize="0"/>
          <p:nvPr/>
        </p:nvPicPr>
        <p:blipFill>
          <a:blip r:embed="rId3">
            <a:alphaModFix/>
          </a:blip>
          <a:stretch>
            <a:fillRect/>
          </a:stretch>
        </p:blipFill>
        <p:spPr>
          <a:xfrm>
            <a:off x="3408597" y="2468875"/>
            <a:ext cx="3513400" cy="2816350"/>
          </a:xfrm>
          <a:prstGeom prst="rect">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6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784" name="Shape 784"/>
        <p:cNvGrpSpPr/>
        <p:nvPr/>
      </p:nvGrpSpPr>
      <p:grpSpPr>
        <a:xfrm>
          <a:off x="0" y="0"/>
          <a:ext cx="0" cy="0"/>
          <a:chOff x="0" y="0"/>
          <a:chExt cx="0" cy="0"/>
        </a:xfrm>
      </p:grpSpPr>
      <p:sp>
        <p:nvSpPr>
          <p:cNvPr id="785" name="Google Shape;785;p26"/>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El inversor CMOS</a:t>
            </a:r>
            <a:endParaRPr b="0" i="0" sz="2700" u="none" cap="none" strike="noStrike">
              <a:solidFill>
                <a:schemeClr val="dk1"/>
              </a:solidFill>
              <a:latin typeface="Calibri"/>
              <a:ea typeface="Calibri"/>
              <a:cs typeface="Calibri"/>
              <a:sym typeface="Calibri"/>
            </a:endParaRPr>
          </a:p>
        </p:txBody>
      </p:sp>
      <p:sp>
        <p:nvSpPr>
          <p:cNvPr id="786" name="Google Shape;786;p26"/>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Elemento básico de la lógica CMOS y punto de partida de la Unidad 2</a:t>
            </a:r>
            <a:endParaRPr b="0" i="0" sz="1250" u="none" cap="none" strike="noStrike">
              <a:solidFill>
                <a:schemeClr val="dk1"/>
              </a:solidFill>
              <a:latin typeface="Calibri"/>
              <a:ea typeface="Calibri"/>
              <a:cs typeface="Calibri"/>
              <a:sym typeface="Calibri"/>
            </a:endParaRPr>
          </a:p>
        </p:txBody>
      </p:sp>
      <p:sp>
        <p:nvSpPr>
          <p:cNvPr id="787" name="Google Shape;787;p26"/>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6"/>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6</a:t>
            </a:r>
            <a:endParaRPr b="0" i="0" sz="950" u="none" cap="none" strike="noStrike">
              <a:solidFill>
                <a:schemeClr val="dk1"/>
              </a:solidFill>
              <a:latin typeface="Calibri"/>
              <a:ea typeface="Calibri"/>
              <a:cs typeface="Calibri"/>
              <a:sym typeface="Calibri"/>
            </a:endParaRPr>
          </a:p>
        </p:txBody>
      </p:sp>
      <p:sp>
        <p:nvSpPr>
          <p:cNvPr id="789" name="Google Shape;789;p26"/>
          <p:cNvSpPr/>
          <p:nvPr/>
        </p:nvSpPr>
        <p:spPr>
          <a:xfrm>
            <a:off x="566928" y="1700784"/>
            <a:ext cx="5394960" cy="2377440"/>
          </a:xfrm>
          <a:prstGeom prst="roundRect">
            <a:avLst>
              <a:gd fmla="val 461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6"/>
          <p:cNvSpPr txBox="1"/>
          <p:nvPr/>
        </p:nvSpPr>
        <p:spPr>
          <a:xfrm>
            <a:off x="859536" y="1883664"/>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Operación</a:t>
            </a:r>
            <a:endParaRPr b="0" i="0" sz="1150" u="none" cap="none" strike="noStrike">
              <a:solidFill>
                <a:schemeClr val="dk1"/>
              </a:solidFill>
              <a:latin typeface="Calibri"/>
              <a:ea typeface="Calibri"/>
              <a:cs typeface="Calibri"/>
              <a:sym typeface="Calibri"/>
            </a:endParaRPr>
          </a:p>
        </p:txBody>
      </p:sp>
      <p:sp>
        <p:nvSpPr>
          <p:cNvPr id="791" name="Google Shape;791;p26"/>
          <p:cNvSpPr txBox="1"/>
          <p:nvPr/>
        </p:nvSpPr>
        <p:spPr>
          <a:xfrm>
            <a:off x="859536" y="2212848"/>
            <a:ext cx="4809744" cy="173736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Vin = 0: el nMOS está apagado y el pMOS conduce, con |VGSp| ≈ VDD &gt; |VTp|. La salida se carga a VDD, lógica 1.</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Vin = VDD: el nMOS conduce, con VGSn = VDD &gt; VTn, y el pMOS se apaga. La salida se descarga a tierra, lógica 0.</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Ambos son transistores de enriquecimiento, con VTn &gt; 0 y VTp &lt; 0; típicamente |VT| ≈ VDD/4.</a:t>
            </a:r>
            <a:endParaRPr b="0" i="0" sz="1150" u="none" cap="none" strike="noStrike">
              <a:solidFill>
                <a:schemeClr val="dk1"/>
              </a:solidFill>
              <a:latin typeface="Calibri"/>
              <a:ea typeface="Calibri"/>
              <a:cs typeface="Calibri"/>
              <a:sym typeface="Calibri"/>
            </a:endParaRPr>
          </a:p>
        </p:txBody>
      </p:sp>
      <p:sp>
        <p:nvSpPr>
          <p:cNvPr id="792" name="Google Shape;792;p26"/>
          <p:cNvSpPr/>
          <p:nvPr/>
        </p:nvSpPr>
        <p:spPr>
          <a:xfrm>
            <a:off x="6272784" y="1700784"/>
            <a:ext cx="5321808" cy="2377440"/>
          </a:xfrm>
          <a:prstGeom prst="roundRect">
            <a:avLst>
              <a:gd fmla="val 4615"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6"/>
          <p:cNvSpPr txBox="1"/>
          <p:nvPr/>
        </p:nvSpPr>
        <p:spPr>
          <a:xfrm>
            <a:off x="6565392" y="1883664"/>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La característica que lo explica todo</a:t>
            </a:r>
            <a:endParaRPr b="0" i="0" sz="1150" u="none" cap="none" strike="noStrike">
              <a:solidFill>
                <a:schemeClr val="dk1"/>
              </a:solidFill>
              <a:latin typeface="Calibri"/>
              <a:ea typeface="Calibri"/>
              <a:cs typeface="Calibri"/>
              <a:sym typeface="Calibri"/>
            </a:endParaRPr>
          </a:p>
        </p:txBody>
      </p:sp>
      <p:sp>
        <p:nvSpPr>
          <p:cNvPr id="794" name="Google Shape;794;p26"/>
          <p:cNvSpPr txBox="1"/>
          <p:nvPr/>
        </p:nvSpPr>
        <p:spPr>
          <a:xfrm>
            <a:off x="6565392" y="2212848"/>
            <a:ext cx="4791456" cy="914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En cualquiera de los dos estados lógicos, uno de los dos dispositivos del camino serie entre VDD y tierra está en no conducción.</a:t>
            </a:r>
            <a:endParaRPr b="0" i="0" sz="1500" u="none" cap="none" strike="noStrike">
              <a:solidFill>
                <a:schemeClr val="dk1"/>
              </a:solidFill>
              <a:latin typeface="Calibri"/>
              <a:ea typeface="Calibri"/>
              <a:cs typeface="Calibri"/>
              <a:sym typeface="Calibri"/>
            </a:endParaRPr>
          </a:p>
        </p:txBody>
      </p:sp>
      <p:sp>
        <p:nvSpPr>
          <p:cNvPr id="795" name="Google Shape;795;p26"/>
          <p:cNvSpPr txBox="1"/>
          <p:nvPr/>
        </p:nvSpPr>
        <p:spPr>
          <a:xfrm>
            <a:off x="6565392" y="3163824"/>
            <a:ext cx="4791456"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La corriente en régimen permanente es solo una pequeña corriente de fuga. Únicamente durante la conmutación, cuando ambos conducen, circula una corriente significativa. La disipación media resulta del orden de nanovatios.</a:t>
            </a:r>
            <a:endParaRPr b="0" i="0" sz="1100" u="none" cap="none" strike="noStrike">
              <a:solidFill>
                <a:schemeClr val="dk1"/>
              </a:solidFill>
              <a:latin typeface="Calibri"/>
              <a:ea typeface="Calibri"/>
              <a:cs typeface="Calibri"/>
              <a:sym typeface="Calibri"/>
            </a:endParaRPr>
          </a:p>
        </p:txBody>
      </p:sp>
      <p:sp>
        <p:nvSpPr>
          <p:cNvPr id="796" name="Google Shape;796;p26"/>
          <p:cNvSpPr/>
          <p:nvPr/>
        </p:nvSpPr>
        <p:spPr>
          <a:xfrm>
            <a:off x="566928" y="4297680"/>
            <a:ext cx="11027664" cy="1810512"/>
          </a:xfrm>
          <a:prstGeom prst="roundRect">
            <a:avLst>
              <a:gd fmla="val 6061"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6"/>
          <p:cNvSpPr txBox="1"/>
          <p:nvPr/>
        </p:nvSpPr>
        <p:spPr>
          <a:xfrm>
            <a:off x="877824" y="44805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Cómo se obtiene la curva de transferencia</a:t>
            </a:r>
            <a:endParaRPr b="0" i="0" sz="1200" u="none" cap="none" strike="noStrike">
              <a:solidFill>
                <a:schemeClr val="dk1"/>
              </a:solidFill>
              <a:latin typeface="Calibri"/>
              <a:ea typeface="Calibri"/>
              <a:cs typeface="Calibri"/>
              <a:sym typeface="Calibri"/>
            </a:endParaRPr>
          </a:p>
        </p:txBody>
      </p:sp>
      <p:sp>
        <p:nvSpPr>
          <p:cNvPr id="798" name="Google Shape;798;p26"/>
          <p:cNvSpPr txBox="1"/>
          <p:nvPr/>
        </p:nvSpPr>
        <p:spPr>
          <a:xfrm>
            <a:off x="877824" y="4809744"/>
            <a:ext cx="5486400"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Se grafican In e Ip en función de Vout. Al aumentar Vin, In tiende a crecer e Ip a disminuir para un Vout fijo. En régimen permanente debe cumplirse In = Ip, de modo que para cada Vin el Vout correspondiente es la intersección de ambas curvas. El lugar geométrico de esas intersecciones es la curva de transferencia Vin–Vout.</a:t>
            </a:r>
            <a:endParaRPr b="0" i="0" sz="1100" u="none" cap="none" strike="noStrike">
              <a:solidFill>
                <a:schemeClr val="dk1"/>
              </a:solidFill>
              <a:latin typeface="Calibri"/>
              <a:ea typeface="Calibri"/>
              <a:cs typeface="Calibri"/>
              <a:sym typeface="Calibri"/>
            </a:endParaRPr>
          </a:p>
        </p:txBody>
      </p:sp>
      <p:sp>
        <p:nvSpPr>
          <p:cNvPr id="799" name="Google Shape;799;p26"/>
          <p:cNvSpPr/>
          <p:nvPr/>
        </p:nvSpPr>
        <p:spPr>
          <a:xfrm>
            <a:off x="6876288" y="4553712"/>
            <a:ext cx="4718304" cy="1316736"/>
          </a:xfrm>
          <a:prstGeom prst="roundRect">
            <a:avLst>
              <a:gd fmla="val 6944" name="adj"/>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6"/>
          <p:cNvSpPr txBox="1"/>
          <p:nvPr/>
        </p:nvSpPr>
        <p:spPr>
          <a:xfrm>
            <a:off x="7114032" y="4553712"/>
            <a:ext cx="4242816" cy="13167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761"/>
              </a:buClr>
              <a:buSzPts val="1150"/>
              <a:buFont typeface="Calibri"/>
              <a:buNone/>
            </a:pPr>
            <a:r>
              <a:rPr b="0" i="1" lang="en-US" sz="1150" u="none" cap="none" strike="noStrike">
                <a:solidFill>
                  <a:srgbClr val="1E2761"/>
                </a:solidFill>
                <a:latin typeface="Calibri"/>
                <a:ea typeface="Calibri"/>
                <a:cs typeface="Calibri"/>
                <a:sym typeface="Calibri"/>
              </a:rPr>
              <a:t>En el laboratorio de LTspice levantaremos exactamente esta curva y de ella extraeremos VIL, VIH y los márgenes de ruido NML y NMH.</a:t>
            </a:r>
            <a:endParaRPr b="0" i="0" sz="1150" u="none" cap="none" strike="noStrike">
              <a:solidFill>
                <a:schemeClr val="dk1"/>
              </a:solidFill>
              <a:latin typeface="Calibri"/>
              <a:ea typeface="Calibri"/>
              <a:cs typeface="Calibri"/>
              <a:sym typeface="Calibri"/>
            </a:endParaRPr>
          </a:p>
        </p:txBody>
      </p:sp>
      <p:sp>
        <p:nvSpPr>
          <p:cNvPr id="801" name="Google Shape;801;p26"/>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802" name="Google Shape;802;p26"/>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803" name="Google Shape;803;p26"/>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6"/>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809" name="Shape 809"/>
        <p:cNvGrpSpPr/>
        <p:nvPr/>
      </p:nvGrpSpPr>
      <p:grpSpPr>
        <a:xfrm>
          <a:off x="0" y="0"/>
          <a:ext cx="0" cy="0"/>
          <a:chOff x="0" y="0"/>
          <a:chExt cx="0" cy="0"/>
        </a:xfrm>
      </p:grpSpPr>
      <p:sp>
        <p:nvSpPr>
          <p:cNvPr id="810" name="Google Shape;810;p27"/>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Tecnología CMOS: pozos, LOCOS y latch-up</a:t>
            </a:r>
            <a:endParaRPr b="0" i="0" sz="2700" u="none" cap="none" strike="noStrike">
              <a:solidFill>
                <a:schemeClr val="dk1"/>
              </a:solidFill>
              <a:latin typeface="Calibri"/>
              <a:ea typeface="Calibri"/>
              <a:cs typeface="Calibri"/>
              <a:sym typeface="Calibri"/>
            </a:endParaRPr>
          </a:p>
        </p:txBody>
      </p:sp>
      <p:sp>
        <p:nvSpPr>
          <p:cNvPr id="811" name="Google Shape;811;p27"/>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Cómo se construyen físicamente el nMOS y el pMOS en el mismo sustrato</a:t>
            </a:r>
            <a:endParaRPr b="0" i="0" sz="1250" u="none" cap="none" strike="noStrike">
              <a:solidFill>
                <a:schemeClr val="dk1"/>
              </a:solidFill>
              <a:latin typeface="Calibri"/>
              <a:ea typeface="Calibri"/>
              <a:cs typeface="Calibri"/>
              <a:sym typeface="Calibri"/>
            </a:endParaRPr>
          </a:p>
        </p:txBody>
      </p:sp>
      <p:sp>
        <p:nvSpPr>
          <p:cNvPr id="812" name="Google Shape;812;p27"/>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7"/>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814" name="Google Shape;814;p27"/>
          <p:cNvSpPr/>
          <p:nvPr/>
        </p:nvSpPr>
        <p:spPr>
          <a:xfrm>
            <a:off x="566928" y="1700784"/>
            <a:ext cx="3566160" cy="1060704"/>
          </a:xfrm>
          <a:prstGeom prst="roundRect">
            <a:avLst>
              <a:gd fmla="val 1034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7"/>
          <p:cNvSpPr/>
          <p:nvPr/>
        </p:nvSpPr>
        <p:spPr>
          <a:xfrm>
            <a:off x="786384" y="1865376"/>
            <a:ext cx="365760" cy="3657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7"/>
          <p:cNvSpPr txBox="1"/>
          <p:nvPr/>
        </p:nvSpPr>
        <p:spPr>
          <a:xfrm>
            <a:off x="786384" y="18653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817" name="Google Shape;817;p27"/>
          <p:cNvSpPr txBox="1"/>
          <p:nvPr/>
        </p:nvSpPr>
        <p:spPr>
          <a:xfrm>
            <a:off x="1243584" y="181051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Pozo p (p-tub)</a:t>
            </a:r>
            <a:endParaRPr b="0" i="0" sz="1200" u="none" cap="none" strike="noStrike">
              <a:solidFill>
                <a:schemeClr val="dk1"/>
              </a:solidFill>
              <a:latin typeface="Calibri"/>
              <a:ea typeface="Calibri"/>
              <a:cs typeface="Calibri"/>
              <a:sym typeface="Calibri"/>
            </a:endParaRPr>
          </a:p>
        </p:txBody>
      </p:sp>
      <p:sp>
        <p:nvSpPr>
          <p:cNvPr id="818" name="Google Shape;818;p27"/>
          <p:cNvSpPr txBox="1"/>
          <p:nvPr/>
        </p:nvSpPr>
        <p:spPr>
          <a:xfrm>
            <a:off x="1243584" y="2103120"/>
            <a:ext cx="2706624"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950"/>
              <a:buFont typeface="Calibri"/>
              <a:buNone/>
            </a:pPr>
            <a:r>
              <a:rPr b="0" i="0" lang="en-US" sz="950" u="none" cap="none" strike="noStrike">
                <a:solidFill>
                  <a:srgbClr val="5A6172"/>
                </a:solidFill>
                <a:latin typeface="Calibri"/>
                <a:ea typeface="Calibri"/>
                <a:cs typeface="Calibri"/>
                <a:sym typeface="Calibri"/>
              </a:rPr>
              <a:t>Se implanta y difunde en un sustrato n. El dopado p debe sobrecompensar el dopado de fondo del sustrato n.</a:t>
            </a:r>
            <a:endParaRPr b="0" i="0" sz="950" u="none" cap="none" strike="noStrike">
              <a:solidFill>
                <a:schemeClr val="dk1"/>
              </a:solidFill>
              <a:latin typeface="Calibri"/>
              <a:ea typeface="Calibri"/>
              <a:cs typeface="Calibri"/>
              <a:sym typeface="Calibri"/>
            </a:endParaRPr>
          </a:p>
        </p:txBody>
      </p:sp>
      <p:sp>
        <p:nvSpPr>
          <p:cNvPr id="819" name="Google Shape;819;p27"/>
          <p:cNvSpPr/>
          <p:nvPr/>
        </p:nvSpPr>
        <p:spPr>
          <a:xfrm>
            <a:off x="4361688" y="1700784"/>
            <a:ext cx="3566160" cy="1060704"/>
          </a:xfrm>
          <a:prstGeom prst="roundRect">
            <a:avLst>
              <a:gd fmla="val 1034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7"/>
          <p:cNvSpPr/>
          <p:nvPr/>
        </p:nvSpPr>
        <p:spPr>
          <a:xfrm>
            <a:off x="4581144" y="1865376"/>
            <a:ext cx="365760" cy="3657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7"/>
          <p:cNvSpPr txBox="1"/>
          <p:nvPr/>
        </p:nvSpPr>
        <p:spPr>
          <a:xfrm>
            <a:off x="4581144" y="18653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822" name="Google Shape;822;p27"/>
          <p:cNvSpPr txBox="1"/>
          <p:nvPr/>
        </p:nvSpPr>
        <p:spPr>
          <a:xfrm>
            <a:off x="5038344" y="181051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Pozo n (n-tub)</a:t>
            </a:r>
            <a:endParaRPr b="0" i="0" sz="1200" u="none" cap="none" strike="noStrike">
              <a:solidFill>
                <a:schemeClr val="dk1"/>
              </a:solidFill>
              <a:latin typeface="Calibri"/>
              <a:ea typeface="Calibri"/>
              <a:cs typeface="Calibri"/>
              <a:sym typeface="Calibri"/>
            </a:endParaRPr>
          </a:p>
        </p:txBody>
      </p:sp>
      <p:sp>
        <p:nvSpPr>
          <p:cNvPr id="823" name="Google Shape;823;p27"/>
          <p:cNvSpPr txBox="1"/>
          <p:nvPr/>
        </p:nvSpPr>
        <p:spPr>
          <a:xfrm>
            <a:off x="5038344" y="2103120"/>
            <a:ext cx="2706624"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950"/>
              <a:buFont typeface="Calibri"/>
              <a:buNone/>
            </a:pPr>
            <a:r>
              <a:rPr b="0" i="0" lang="en-US" sz="950" u="none" cap="none" strike="noStrike">
                <a:solidFill>
                  <a:srgbClr val="5A6172"/>
                </a:solidFill>
                <a:latin typeface="Calibri"/>
                <a:ea typeface="Calibri"/>
                <a:cs typeface="Calibri"/>
                <a:sym typeface="Calibri"/>
              </a:rPr>
              <a:t>Formado en sustrato p; requiere ND &gt; NA. En ambos casos la movilidad de canal se degrada, porque depende del dopado total (NA + ND).</a:t>
            </a:r>
            <a:endParaRPr b="0" i="0" sz="950" u="none" cap="none" strike="noStrike">
              <a:solidFill>
                <a:schemeClr val="dk1"/>
              </a:solidFill>
              <a:latin typeface="Calibri"/>
              <a:ea typeface="Calibri"/>
              <a:cs typeface="Calibri"/>
              <a:sym typeface="Calibri"/>
            </a:endParaRPr>
          </a:p>
        </p:txBody>
      </p:sp>
      <p:sp>
        <p:nvSpPr>
          <p:cNvPr id="824" name="Google Shape;824;p27"/>
          <p:cNvSpPr/>
          <p:nvPr/>
        </p:nvSpPr>
        <p:spPr>
          <a:xfrm>
            <a:off x="566928" y="2889504"/>
            <a:ext cx="3566160" cy="1060704"/>
          </a:xfrm>
          <a:prstGeom prst="roundRect">
            <a:avLst>
              <a:gd fmla="val 10345"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7"/>
          <p:cNvSpPr/>
          <p:nvPr/>
        </p:nvSpPr>
        <p:spPr>
          <a:xfrm>
            <a:off x="786384" y="3054096"/>
            <a:ext cx="365760" cy="36576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7"/>
          <p:cNvSpPr txBox="1"/>
          <p:nvPr/>
        </p:nvSpPr>
        <p:spPr>
          <a:xfrm>
            <a:off x="786384" y="305409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827" name="Google Shape;827;p27"/>
          <p:cNvSpPr txBox="1"/>
          <p:nvPr/>
        </p:nvSpPr>
        <p:spPr>
          <a:xfrm>
            <a:off x="1243584" y="299923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Doble pozo (twin-tub)</a:t>
            </a:r>
            <a:endParaRPr b="0" i="0" sz="1200" u="none" cap="none" strike="noStrike">
              <a:solidFill>
                <a:schemeClr val="dk1"/>
              </a:solidFill>
              <a:latin typeface="Calibri"/>
              <a:ea typeface="Calibri"/>
              <a:cs typeface="Calibri"/>
              <a:sym typeface="Calibri"/>
            </a:endParaRPr>
          </a:p>
        </p:txBody>
      </p:sp>
      <p:sp>
        <p:nvSpPr>
          <p:cNvPr id="828" name="Google Shape;828;p27"/>
          <p:cNvSpPr txBox="1"/>
          <p:nvPr/>
        </p:nvSpPr>
        <p:spPr>
          <a:xfrm>
            <a:off x="1243584" y="3291840"/>
            <a:ext cx="2706624"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950"/>
              <a:buFont typeface="Calibri"/>
              <a:buNone/>
            </a:pPr>
            <a:r>
              <a:rPr b="0" i="0" lang="en-US" sz="950" u="none" cap="none" strike="noStrike">
                <a:solidFill>
                  <a:srgbClr val="5A6172"/>
                </a:solidFill>
                <a:latin typeface="Calibri"/>
                <a:ea typeface="Calibri"/>
                <a:cs typeface="Calibri"/>
                <a:sym typeface="Calibri"/>
              </a:rPr>
              <a:t>Dos pozos separados implantados en un sustrato poco dopado. Al no requerir sobrecompensación, se alcanza mayor movilidad de canal.</a:t>
            </a:r>
            <a:endParaRPr b="0" i="0" sz="950" u="none" cap="none" strike="noStrike">
              <a:solidFill>
                <a:schemeClr val="dk1"/>
              </a:solidFill>
              <a:latin typeface="Calibri"/>
              <a:ea typeface="Calibri"/>
              <a:cs typeface="Calibri"/>
              <a:sym typeface="Calibri"/>
            </a:endParaRPr>
          </a:p>
        </p:txBody>
      </p:sp>
      <p:sp>
        <p:nvSpPr>
          <p:cNvPr id="829" name="Google Shape;829;p27"/>
          <p:cNvSpPr/>
          <p:nvPr/>
        </p:nvSpPr>
        <p:spPr>
          <a:xfrm>
            <a:off x="4361688" y="2889504"/>
            <a:ext cx="3566160" cy="1060704"/>
          </a:xfrm>
          <a:prstGeom prst="roundRect">
            <a:avLst>
              <a:gd fmla="val 1034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7"/>
          <p:cNvSpPr/>
          <p:nvPr/>
        </p:nvSpPr>
        <p:spPr>
          <a:xfrm>
            <a:off x="4581144" y="3054096"/>
            <a:ext cx="365760" cy="3657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7"/>
          <p:cNvSpPr txBox="1"/>
          <p:nvPr/>
        </p:nvSpPr>
        <p:spPr>
          <a:xfrm>
            <a:off x="4581144" y="305409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832" name="Google Shape;832;p27"/>
          <p:cNvSpPr txBox="1"/>
          <p:nvPr/>
        </p:nvSpPr>
        <p:spPr>
          <a:xfrm>
            <a:off x="5038344" y="299923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Pozo retrógrado</a:t>
            </a:r>
            <a:endParaRPr b="0" i="0" sz="1200" u="none" cap="none" strike="noStrike">
              <a:solidFill>
                <a:schemeClr val="dk1"/>
              </a:solidFill>
              <a:latin typeface="Calibri"/>
              <a:ea typeface="Calibri"/>
              <a:cs typeface="Calibri"/>
              <a:sym typeface="Calibri"/>
            </a:endParaRPr>
          </a:p>
        </p:txBody>
      </p:sp>
      <p:sp>
        <p:nvSpPr>
          <p:cNvPr id="833" name="Google Shape;833;p27"/>
          <p:cNvSpPr txBox="1"/>
          <p:nvPr/>
        </p:nvSpPr>
        <p:spPr>
          <a:xfrm>
            <a:off x="5038344" y="3291840"/>
            <a:ext cx="2706624"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A6172"/>
              </a:buClr>
              <a:buSzPts val="950"/>
              <a:buFont typeface="Calibri"/>
              <a:buNone/>
            </a:pPr>
            <a:r>
              <a:rPr b="0" i="0" lang="en-US" sz="950" u="none" cap="none" strike="noStrike">
                <a:solidFill>
                  <a:srgbClr val="5A6172"/>
                </a:solidFill>
                <a:latin typeface="Calibri"/>
                <a:ea typeface="Calibri"/>
                <a:cs typeface="Calibri"/>
                <a:sym typeface="Calibri"/>
              </a:rPr>
              <a:t>Implantación de alta energía (≈700 keV para n y 400 keV para p) que sitúa el pico de dopado en profundidad, sin recocidos largos.</a:t>
            </a:r>
            <a:endParaRPr b="0" i="0" sz="950" u="none" cap="none" strike="noStrike">
              <a:solidFill>
                <a:schemeClr val="dk1"/>
              </a:solidFill>
              <a:latin typeface="Calibri"/>
              <a:ea typeface="Calibri"/>
              <a:cs typeface="Calibri"/>
              <a:sym typeface="Calibri"/>
            </a:endParaRPr>
          </a:p>
        </p:txBody>
      </p:sp>
      <p:sp>
        <p:nvSpPr>
          <p:cNvPr id="834" name="Google Shape;834;p27"/>
          <p:cNvSpPr/>
          <p:nvPr/>
        </p:nvSpPr>
        <p:spPr>
          <a:xfrm>
            <a:off x="8156448" y="1700784"/>
            <a:ext cx="3438144" cy="2377440"/>
          </a:xfrm>
          <a:prstGeom prst="roundRect">
            <a:avLst>
              <a:gd fmla="val 4615"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7"/>
          <p:cNvSpPr txBox="1"/>
          <p:nvPr/>
        </p:nvSpPr>
        <p:spPr>
          <a:xfrm>
            <a:off x="8412480" y="1865376"/>
            <a:ext cx="2926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Latch-up</a:t>
            </a:r>
            <a:endParaRPr b="0" i="0" sz="1800" u="none" cap="none" strike="noStrike">
              <a:solidFill>
                <a:schemeClr val="dk1"/>
              </a:solidFill>
              <a:latin typeface="Calibri"/>
              <a:ea typeface="Calibri"/>
              <a:cs typeface="Calibri"/>
              <a:sym typeface="Calibri"/>
            </a:endParaRPr>
          </a:p>
        </p:txBody>
      </p:sp>
      <p:sp>
        <p:nvSpPr>
          <p:cNvPr id="836" name="Google Shape;836;p27"/>
          <p:cNvSpPr txBox="1"/>
          <p:nvPr/>
        </p:nvSpPr>
        <p:spPr>
          <a:xfrm>
            <a:off x="8412480" y="2231136"/>
            <a:ext cx="2962656"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Todos los circuitos CMOS son susceptibles a este problema, asociado a los transistores bipolares parásitos de la estructura.</a:t>
            </a:r>
            <a:endParaRPr b="0" i="0" sz="1050" u="none" cap="none" strike="noStrike">
              <a:solidFill>
                <a:schemeClr val="dk1"/>
              </a:solidFill>
              <a:latin typeface="Calibri"/>
              <a:ea typeface="Calibri"/>
              <a:cs typeface="Calibri"/>
              <a:sym typeface="Calibri"/>
            </a:endParaRPr>
          </a:p>
        </p:txBody>
      </p:sp>
      <p:sp>
        <p:nvSpPr>
          <p:cNvPr id="837" name="Google Shape;837;p27"/>
          <p:cNvSpPr/>
          <p:nvPr/>
        </p:nvSpPr>
        <p:spPr>
          <a:xfrm>
            <a:off x="8412480" y="3017520"/>
            <a:ext cx="2962656" cy="914400"/>
          </a:xfrm>
          <a:prstGeom prst="roundRect">
            <a:avLst>
              <a:gd fmla="val 1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7"/>
          <p:cNvSpPr txBox="1"/>
          <p:nvPr/>
        </p:nvSpPr>
        <p:spPr>
          <a:xfrm>
            <a:off x="8577072" y="3017520"/>
            <a:ext cx="263347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Se elimina con aislamiento por trinchera profunda, rellena de polisilicio u óxido.</a:t>
            </a:r>
            <a:endParaRPr b="0" i="0" sz="1000" u="none" cap="none" strike="noStrike">
              <a:solidFill>
                <a:schemeClr val="dk1"/>
              </a:solidFill>
              <a:latin typeface="Calibri"/>
              <a:ea typeface="Calibri"/>
              <a:cs typeface="Calibri"/>
              <a:sym typeface="Calibri"/>
            </a:endParaRPr>
          </a:p>
        </p:txBody>
      </p:sp>
      <p:sp>
        <p:nvSpPr>
          <p:cNvPr id="839" name="Google Shape;839;p27"/>
          <p:cNvSpPr/>
          <p:nvPr/>
        </p:nvSpPr>
        <p:spPr>
          <a:xfrm>
            <a:off x="566928" y="4224528"/>
            <a:ext cx="11027664" cy="1883664"/>
          </a:xfrm>
          <a:prstGeom prst="roundRect">
            <a:avLst>
              <a:gd fmla="val 5825"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7"/>
          <p:cNvSpPr txBox="1"/>
          <p:nvPr/>
        </p:nvSpPr>
        <p:spPr>
          <a:xfrm>
            <a:off x="877824" y="43891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Secuencia básica del proceso NMOS/CMOS</a:t>
            </a:r>
            <a:endParaRPr b="0" i="0" sz="1200" u="none" cap="none" strike="noStrike">
              <a:solidFill>
                <a:schemeClr val="dk1"/>
              </a:solidFill>
              <a:latin typeface="Calibri"/>
              <a:ea typeface="Calibri"/>
              <a:cs typeface="Calibri"/>
              <a:sym typeface="Calibri"/>
            </a:endParaRPr>
          </a:p>
        </p:txBody>
      </p:sp>
      <p:sp>
        <p:nvSpPr>
          <p:cNvPr id="841" name="Google Shape;841;p27"/>
          <p:cNvSpPr txBox="1"/>
          <p:nvPr/>
        </p:nvSpPr>
        <p:spPr>
          <a:xfrm>
            <a:off x="877824" y="4700016"/>
            <a:ext cx="10387584" cy="13716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LOCOS: óxido de almohadilla ~35 nm y nitruro ~150 nm; implante de boro chanstop; óxido de campo de 0,5 a 1 µm.</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Óxido de puerta menor a 10 nm y ajuste de VT por implantación en el canal (boro para enriquecimiento, arsénico para empobrecimiento).</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Puerta de polisilicio muy dopado, 20 a 30 Ω/□; polisiliciuro para longitudes menores a 3 µm, hasta ≈1 Ω/□.</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Fuente y drenador autoalineados: la propia puerta enmascara el implante de arsénico.</a:t>
            </a:r>
            <a:endParaRPr b="0" i="0" sz="10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050"/>
              <a:buFont typeface="Calibri"/>
              <a:buChar char="▪"/>
            </a:pPr>
            <a:r>
              <a:rPr b="0" i="0" lang="en-US" sz="1050" u="none" cap="none" strike="noStrike">
                <a:solidFill>
                  <a:srgbClr val="23262F"/>
                </a:solidFill>
                <a:latin typeface="Calibri"/>
                <a:ea typeface="Calibri"/>
                <a:cs typeface="Calibri"/>
                <a:sym typeface="Calibri"/>
              </a:rPr>
              <a:t>Metalización sobre P-glass con ventanas de contacto; el contacto de puerta se lleva fuera del área activa.</a:t>
            </a:r>
            <a:endParaRPr b="0" i="0" sz="1050" u="none" cap="none" strike="noStrike">
              <a:solidFill>
                <a:schemeClr val="dk1"/>
              </a:solidFill>
              <a:latin typeface="Calibri"/>
              <a:ea typeface="Calibri"/>
              <a:cs typeface="Calibri"/>
              <a:sym typeface="Calibri"/>
            </a:endParaRPr>
          </a:p>
        </p:txBody>
      </p:sp>
      <p:sp>
        <p:nvSpPr>
          <p:cNvPr id="842" name="Google Shape;842;p27"/>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843" name="Google Shape;843;p27"/>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844" name="Google Shape;844;p27"/>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7"/>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850" name="Shape 850"/>
        <p:cNvGrpSpPr/>
        <p:nvPr/>
      </p:nvGrpSpPr>
      <p:grpSpPr>
        <a:xfrm>
          <a:off x="0" y="0"/>
          <a:ext cx="0" cy="0"/>
          <a:chOff x="0" y="0"/>
          <a:chExt cx="0" cy="0"/>
        </a:xfrm>
      </p:grpSpPr>
      <p:sp>
        <p:nvSpPr>
          <p:cNvPr id="851" name="Google Shape;851;p28"/>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Circuitos integrados BiCMOS</a:t>
            </a:r>
            <a:endParaRPr b="0" i="0" sz="2700" u="none" cap="none" strike="noStrike">
              <a:solidFill>
                <a:schemeClr val="dk1"/>
              </a:solidFill>
              <a:latin typeface="Calibri"/>
              <a:ea typeface="Calibri"/>
              <a:cs typeface="Calibri"/>
              <a:sym typeface="Calibri"/>
            </a:endParaRPr>
          </a:p>
        </p:txBody>
      </p:sp>
      <p:sp>
        <p:nvSpPr>
          <p:cNvPr id="852" name="Google Shape;852;p28"/>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Desarrollada en los años 90, incorporando la tecnología BJT y CMOS</a:t>
            </a:r>
            <a:endParaRPr b="0" i="0" sz="1250" u="none" cap="none" strike="noStrike">
              <a:solidFill>
                <a:schemeClr val="dk1"/>
              </a:solidFill>
              <a:latin typeface="Calibri"/>
              <a:ea typeface="Calibri"/>
              <a:cs typeface="Calibri"/>
              <a:sym typeface="Calibri"/>
            </a:endParaRPr>
          </a:p>
        </p:txBody>
      </p:sp>
      <p:sp>
        <p:nvSpPr>
          <p:cNvPr id="853" name="Google Shape;853;p28"/>
          <p:cNvSpPr/>
          <p:nvPr/>
        </p:nvSpPr>
        <p:spPr>
          <a:xfrm>
            <a:off x="566928" y="1645920"/>
            <a:ext cx="11027664" cy="1133856"/>
          </a:xfrm>
          <a:prstGeom prst="roundRect">
            <a:avLst>
              <a:gd fmla="val 9677"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8"/>
          <p:cNvSpPr txBox="1"/>
          <p:nvPr/>
        </p:nvSpPr>
        <p:spPr>
          <a:xfrm>
            <a:off x="877824" y="1810512"/>
            <a:ext cx="10387584" cy="859536"/>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1E2761"/>
              </a:buClr>
              <a:buSzPts val="1250"/>
              <a:buFont typeface="Calibri"/>
              <a:buChar char="▪"/>
            </a:pPr>
            <a:r>
              <a:rPr b="0" i="0" lang="en-US" sz="1250" u="none" cap="none" strike="noStrike">
                <a:solidFill>
                  <a:srgbClr val="1E2761"/>
                </a:solidFill>
                <a:latin typeface="Calibri"/>
                <a:ea typeface="Calibri"/>
                <a:cs typeface="Calibri"/>
                <a:sym typeface="Calibri"/>
              </a:rPr>
              <a:t>Procesamiento complejo: tecnologías NMOS y PMOS amalgamadas con las ventajas de la bipolar (bajo consumo y alta velocidad).</a:t>
            </a:r>
            <a:endParaRPr b="0" i="0" sz="12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1E2761"/>
              </a:buClr>
              <a:buSzPts val="1250"/>
              <a:buFont typeface="Calibri"/>
              <a:buChar char="▪"/>
            </a:pPr>
            <a:r>
              <a:rPr b="0" i="0" lang="en-US" sz="1250" u="none" cap="none" strike="noStrike">
                <a:solidFill>
                  <a:srgbClr val="1E2761"/>
                </a:solidFill>
                <a:latin typeface="Calibri"/>
                <a:ea typeface="Calibri"/>
                <a:cs typeface="Calibri"/>
                <a:sym typeface="Calibri"/>
              </a:rPr>
              <a:t>Alta impedancia de entrada aportada por el MOS y alta ganancia de corriente aportada por el BJT.</a:t>
            </a:r>
            <a:endParaRPr b="0" i="0" sz="1250" u="none" cap="none" strike="noStrike">
              <a:solidFill>
                <a:schemeClr val="dk1"/>
              </a:solidFill>
              <a:latin typeface="Calibri"/>
              <a:ea typeface="Calibri"/>
              <a:cs typeface="Calibri"/>
              <a:sym typeface="Calibri"/>
            </a:endParaRPr>
          </a:p>
        </p:txBody>
      </p:sp>
      <p:sp>
        <p:nvSpPr>
          <p:cNvPr id="855" name="Google Shape;855;p28"/>
          <p:cNvSpPr/>
          <p:nvPr/>
        </p:nvSpPr>
        <p:spPr>
          <a:xfrm>
            <a:off x="566928" y="2980944"/>
            <a:ext cx="6766560" cy="2395728"/>
          </a:xfrm>
          <a:prstGeom prst="roundRect">
            <a:avLst>
              <a:gd fmla="val 458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8"/>
          <p:cNvSpPr txBox="1"/>
          <p:nvPr/>
        </p:nvSpPr>
        <p:spPr>
          <a:xfrm>
            <a:off x="877824" y="3145536"/>
            <a:ext cx="6126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mbria"/>
              <a:buNone/>
            </a:pPr>
            <a:r>
              <a:rPr b="1" i="0" lang="en-US" sz="1700" u="none" cap="none" strike="noStrike">
                <a:solidFill>
                  <a:srgbClr val="1E2761"/>
                </a:solidFill>
                <a:latin typeface="Cambria"/>
                <a:ea typeface="Cambria"/>
                <a:cs typeface="Cambria"/>
                <a:sym typeface="Cambria"/>
              </a:rPr>
              <a:t>Ventajas</a:t>
            </a:r>
            <a:endParaRPr b="0" i="0" sz="1700" u="none" cap="none" strike="noStrike">
              <a:solidFill>
                <a:schemeClr val="dk1"/>
              </a:solidFill>
              <a:latin typeface="Calibri"/>
              <a:ea typeface="Calibri"/>
              <a:cs typeface="Calibri"/>
              <a:sym typeface="Calibri"/>
            </a:endParaRPr>
          </a:p>
        </p:txBody>
      </p:sp>
      <p:sp>
        <p:nvSpPr>
          <p:cNvPr id="857" name="Google Shape;857;p28"/>
          <p:cNvSpPr txBox="1"/>
          <p:nvPr/>
        </p:nvSpPr>
        <p:spPr>
          <a:xfrm>
            <a:off x="877824" y="3566160"/>
            <a:ext cx="6144768" cy="1700784"/>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250"/>
              <a:buFont typeface="Calibri"/>
              <a:buChar char="▪"/>
            </a:pPr>
            <a:r>
              <a:rPr b="0" i="0" lang="en-US" sz="1250" u="none" cap="none" strike="noStrike">
                <a:solidFill>
                  <a:srgbClr val="23262F"/>
                </a:solidFill>
                <a:latin typeface="Calibri"/>
                <a:ea typeface="Calibri"/>
                <a:cs typeface="Calibri"/>
                <a:sym typeface="Calibri"/>
              </a:rPr>
              <a:t>Suministra alta carga de corriente.</a:t>
            </a:r>
            <a:endParaRPr b="0" i="0" sz="12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250"/>
              <a:buFont typeface="Calibri"/>
              <a:buChar char="▪"/>
            </a:pPr>
            <a:r>
              <a:rPr b="0" i="0" lang="en-US" sz="1250" u="none" cap="none" strike="noStrike">
                <a:solidFill>
                  <a:srgbClr val="23262F"/>
                </a:solidFill>
                <a:latin typeface="Calibri"/>
                <a:ea typeface="Calibri"/>
                <a:cs typeface="Calibri"/>
                <a:sym typeface="Calibri"/>
              </a:rPr>
              <a:t>Se puede usar el BJT si la velocidad es crítica.</a:t>
            </a:r>
            <a:endParaRPr b="0" i="0" sz="12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250"/>
              <a:buFont typeface="Calibri"/>
              <a:buChar char="▪"/>
            </a:pPr>
            <a:r>
              <a:rPr b="0" i="0" lang="en-US" sz="1250" u="none" cap="none" strike="noStrike">
                <a:solidFill>
                  <a:srgbClr val="23262F"/>
                </a:solidFill>
                <a:latin typeface="Calibri"/>
                <a:ea typeface="Calibri"/>
                <a:cs typeface="Calibri"/>
                <a:sym typeface="Calibri"/>
              </a:rPr>
              <a:t>Se puede usar el MOS si la potencia es crítica.</a:t>
            </a:r>
            <a:endParaRPr b="0" i="0" sz="12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250"/>
              <a:buFont typeface="Calibri"/>
              <a:buChar char="▪"/>
            </a:pPr>
            <a:r>
              <a:rPr b="0" i="0" lang="en-US" sz="1250" u="none" cap="none" strike="noStrike">
                <a:solidFill>
                  <a:srgbClr val="23262F"/>
                </a:solidFill>
                <a:latin typeface="Calibri"/>
                <a:ea typeface="Calibri"/>
                <a:cs typeface="Calibri"/>
                <a:sym typeface="Calibri"/>
              </a:rPr>
              <a:t>Adecuado para aplicaciones intensivas de </a:t>
            </a:r>
            <a:endParaRPr b="0" i="0" sz="1250" u="none" cap="none" strike="noStrike">
              <a:solidFill>
                <a:srgbClr val="23262F"/>
              </a:solidFill>
              <a:latin typeface="Calibri"/>
              <a:ea typeface="Calibri"/>
              <a:cs typeface="Calibri"/>
              <a:sym typeface="Calibri"/>
            </a:endParaRPr>
          </a:p>
          <a:p>
            <a:pPr indent="0" lvl="0" marL="0" marR="0" rtl="0" algn="l">
              <a:lnSpc>
                <a:spcPct val="106000"/>
              </a:lnSpc>
              <a:spcBef>
                <a:spcPts val="700"/>
              </a:spcBef>
              <a:spcAft>
                <a:spcPts val="0"/>
              </a:spcAft>
              <a:buNone/>
            </a:pPr>
            <a:r>
              <a:rPr lang="en-US" sz="1250">
                <a:solidFill>
                  <a:srgbClr val="23262F"/>
                </a:solidFill>
                <a:latin typeface="Calibri"/>
                <a:ea typeface="Calibri"/>
                <a:cs typeface="Calibri"/>
                <a:sym typeface="Calibri"/>
              </a:rPr>
              <a:t>         </a:t>
            </a:r>
            <a:r>
              <a:rPr b="0" i="0" lang="en-US" sz="1250" u="none" cap="none" strike="noStrike">
                <a:solidFill>
                  <a:srgbClr val="23262F"/>
                </a:solidFill>
                <a:latin typeface="Calibri"/>
                <a:ea typeface="Calibri"/>
                <a:cs typeface="Calibri"/>
                <a:sym typeface="Calibri"/>
              </a:rPr>
              <a:t>entrada/salida.</a:t>
            </a:r>
            <a:endParaRPr b="0" i="0" sz="1250" u="none" cap="none" strike="noStrike">
              <a:solidFill>
                <a:schemeClr val="dk1"/>
              </a:solidFill>
              <a:latin typeface="Calibri"/>
              <a:ea typeface="Calibri"/>
              <a:cs typeface="Calibri"/>
              <a:sym typeface="Calibri"/>
            </a:endParaRPr>
          </a:p>
        </p:txBody>
      </p:sp>
      <p:sp>
        <p:nvSpPr>
          <p:cNvPr id="858" name="Google Shape;858;p28"/>
          <p:cNvSpPr/>
          <p:nvPr/>
        </p:nvSpPr>
        <p:spPr>
          <a:xfrm>
            <a:off x="7626096" y="2980944"/>
            <a:ext cx="3968496" cy="2395728"/>
          </a:xfrm>
          <a:prstGeom prst="roundRect">
            <a:avLst>
              <a:gd fmla="val 4580"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8"/>
          <p:cNvSpPr txBox="1"/>
          <p:nvPr/>
        </p:nvSpPr>
        <p:spPr>
          <a:xfrm>
            <a:off x="7918704" y="3145536"/>
            <a:ext cx="3383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Desventajas</a:t>
            </a:r>
            <a:endParaRPr b="0" i="0" sz="1700" u="none" cap="none" strike="noStrike">
              <a:solidFill>
                <a:schemeClr val="dk1"/>
              </a:solidFill>
              <a:latin typeface="Calibri"/>
              <a:ea typeface="Calibri"/>
              <a:cs typeface="Calibri"/>
              <a:sym typeface="Calibri"/>
            </a:endParaRPr>
          </a:p>
        </p:txBody>
      </p:sp>
      <p:sp>
        <p:nvSpPr>
          <p:cNvPr id="860" name="Google Shape;860;p28"/>
          <p:cNvSpPr txBox="1"/>
          <p:nvPr/>
        </p:nvSpPr>
        <p:spPr>
          <a:xfrm>
            <a:off x="7918704" y="3566160"/>
            <a:ext cx="3401568" cy="1700784"/>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CADCFC"/>
              </a:buClr>
              <a:buSzPts val="1150"/>
              <a:buFont typeface="Calibri"/>
              <a:buChar char="▪"/>
            </a:pPr>
            <a:r>
              <a:rPr b="0" i="0" lang="en-US" sz="1150" u="none" cap="none" strike="noStrike">
                <a:solidFill>
                  <a:srgbClr val="CADCFC"/>
                </a:solidFill>
                <a:latin typeface="Calibri"/>
                <a:ea typeface="Calibri"/>
                <a:cs typeface="Calibri"/>
                <a:sym typeface="Calibri"/>
              </a:rPr>
              <a:t>Proceso de fabricación complejo y costoso.</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50"/>
              <a:buFont typeface="Calibri"/>
              <a:buChar char="▪"/>
            </a:pPr>
            <a:r>
              <a:rPr b="0" i="0" lang="en-US" sz="1150" u="none" cap="none" strike="noStrike">
                <a:solidFill>
                  <a:srgbClr val="CADCFC"/>
                </a:solidFill>
                <a:latin typeface="Calibri"/>
                <a:ea typeface="Calibri"/>
                <a:cs typeface="Calibri"/>
                <a:sym typeface="Calibri"/>
              </a:rPr>
              <a:t>Mayor número de máscaras y mayor tiempo de proceso que un CMOS estándar.</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50"/>
              <a:buFont typeface="Calibri"/>
              <a:buChar char="▪"/>
            </a:pPr>
            <a:r>
              <a:rPr b="0" i="0" lang="en-US" sz="1150" u="none" cap="none" strike="noStrike">
                <a:solidFill>
                  <a:srgbClr val="CADCFC"/>
                </a:solidFill>
                <a:latin typeface="Calibri"/>
                <a:ea typeface="Calibri"/>
                <a:cs typeface="Calibri"/>
                <a:sym typeface="Calibri"/>
              </a:rPr>
              <a:t>El sobrecosto debe justificarse con la mejora de prestaciones.</a:t>
            </a:r>
            <a:endParaRPr b="0" i="0" sz="1150" u="none" cap="none" strike="noStrike">
              <a:solidFill>
                <a:schemeClr val="dk1"/>
              </a:solidFill>
              <a:latin typeface="Calibri"/>
              <a:ea typeface="Calibri"/>
              <a:cs typeface="Calibri"/>
              <a:sym typeface="Calibri"/>
            </a:endParaRPr>
          </a:p>
        </p:txBody>
      </p:sp>
      <p:sp>
        <p:nvSpPr>
          <p:cNvPr id="861" name="Google Shape;861;p28"/>
          <p:cNvSpPr/>
          <p:nvPr/>
        </p:nvSpPr>
        <p:spPr>
          <a:xfrm>
            <a:off x="566928" y="5541264"/>
            <a:ext cx="11027664" cy="566928"/>
          </a:xfrm>
          <a:prstGeom prst="roundRect">
            <a:avLst>
              <a:gd fmla="val 16129"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8"/>
          <p:cNvSpPr txBox="1"/>
          <p:nvPr/>
        </p:nvSpPr>
        <p:spPr>
          <a:xfrm>
            <a:off x="886968" y="5541264"/>
            <a:ext cx="103875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Criterio de elección:  BiCMOS solo se justifica cuando la misma pastilla necesita, a la vez, densidad lógica CMOS y capacidad de corriente o prestación analógica bipolar.</a:t>
            </a:r>
            <a:endParaRPr b="0" i="0" sz="1150" u="none" cap="none" strike="noStrike">
              <a:solidFill>
                <a:schemeClr val="dk1"/>
              </a:solidFill>
              <a:latin typeface="Calibri"/>
              <a:ea typeface="Calibri"/>
              <a:cs typeface="Calibri"/>
              <a:sym typeface="Calibri"/>
            </a:endParaRPr>
          </a:p>
        </p:txBody>
      </p:sp>
      <p:sp>
        <p:nvSpPr>
          <p:cNvPr id="863" name="Google Shape;863;p28"/>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864" name="Google Shape;864;p28"/>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865" name="Google Shape;865;p28"/>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8"/>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pic>
        <p:nvPicPr>
          <p:cNvPr id="867" name="Google Shape;867;p28"/>
          <p:cNvPicPr preferRelativeResize="0"/>
          <p:nvPr/>
        </p:nvPicPr>
        <p:blipFill>
          <a:blip r:embed="rId3">
            <a:alphaModFix/>
          </a:blip>
          <a:stretch>
            <a:fillRect/>
          </a:stretch>
        </p:blipFill>
        <p:spPr>
          <a:xfrm>
            <a:off x="4341706" y="3437112"/>
            <a:ext cx="2680894" cy="148341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872" name="Shape 872"/>
        <p:cNvGrpSpPr/>
        <p:nvPr/>
      </p:nvGrpSpPr>
      <p:grpSpPr>
        <a:xfrm>
          <a:off x="0" y="0"/>
          <a:ext cx="0" cy="0"/>
          <a:chOff x="0" y="0"/>
          <a:chExt cx="0" cy="0"/>
        </a:xfrm>
      </p:grpSpPr>
      <p:sp>
        <p:nvSpPr>
          <p:cNvPr id="873" name="Google Shape;873;p29"/>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Tecnología BiCMOS en detalle</a:t>
            </a:r>
            <a:endParaRPr b="0" i="0" sz="2700" u="none" cap="none" strike="noStrike">
              <a:solidFill>
                <a:schemeClr val="dk1"/>
              </a:solidFill>
              <a:latin typeface="Calibri"/>
              <a:ea typeface="Calibri"/>
              <a:cs typeface="Calibri"/>
              <a:sym typeface="Calibri"/>
            </a:endParaRPr>
          </a:p>
        </p:txBody>
      </p:sp>
      <p:sp>
        <p:nvSpPr>
          <p:cNvPr id="874" name="Google Shape;874;p29"/>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Un proceso CMOS de doble pozo al que se añaden máscaras para el bipolar</a:t>
            </a:r>
            <a:endParaRPr b="0" i="0" sz="1250" u="none" cap="none" strike="noStrike">
              <a:solidFill>
                <a:schemeClr val="dk1"/>
              </a:solidFill>
              <a:latin typeface="Calibri"/>
              <a:ea typeface="Calibri"/>
              <a:cs typeface="Calibri"/>
              <a:sym typeface="Calibri"/>
            </a:endParaRPr>
          </a:p>
        </p:txBody>
      </p:sp>
      <p:sp>
        <p:nvSpPr>
          <p:cNvPr id="875" name="Google Shape;875;p29"/>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877" name="Google Shape;877;p29"/>
          <p:cNvSpPr/>
          <p:nvPr/>
        </p:nvSpPr>
        <p:spPr>
          <a:xfrm>
            <a:off x="566928" y="1737360"/>
            <a:ext cx="6620256" cy="2286000"/>
          </a:xfrm>
          <a:prstGeom prst="roundRect">
            <a:avLst>
              <a:gd fmla="val 4800"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9"/>
          <p:cNvSpPr txBox="1"/>
          <p:nvPr/>
        </p:nvSpPr>
        <p:spPr>
          <a:xfrm>
            <a:off x="859536" y="1920240"/>
            <a:ext cx="6035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Punto de partida</a:t>
            </a:r>
            <a:endParaRPr b="0" i="0" sz="1150" u="none" cap="none" strike="noStrike">
              <a:solidFill>
                <a:schemeClr val="dk1"/>
              </a:solidFill>
              <a:latin typeface="Calibri"/>
              <a:ea typeface="Calibri"/>
              <a:cs typeface="Calibri"/>
              <a:sym typeface="Calibri"/>
            </a:endParaRPr>
          </a:p>
        </p:txBody>
      </p:sp>
      <p:sp>
        <p:nvSpPr>
          <p:cNvPr id="879" name="Google Shape;879;p29"/>
          <p:cNvSpPr txBox="1"/>
          <p:nvPr/>
        </p:nvSpPr>
        <p:spPr>
          <a:xfrm>
            <a:off x="859536" y="2249424"/>
            <a:ext cx="6053328" cy="164592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Sustrato de silicio tipo p con capa enterrada n⁺ para reducir la resistencia de colector.</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Capa p enterrada por implantación iónica, para elevar el dopado y evitar el punch-through.</a:t>
            </a:r>
            <a:endParaRPr b="0" i="0" sz="115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23262F"/>
              </a:buClr>
              <a:buSzPts val="1150"/>
              <a:buFont typeface="Calibri"/>
              <a:buChar char="▪"/>
            </a:pPr>
            <a:r>
              <a:rPr b="0" i="0" lang="en-US" sz="1150" u="none" cap="none" strike="noStrike">
                <a:solidFill>
                  <a:srgbClr val="23262F"/>
                </a:solidFill>
                <a:latin typeface="Calibri"/>
                <a:ea typeface="Calibri"/>
                <a:cs typeface="Calibri"/>
                <a:sym typeface="Calibri"/>
              </a:rPr>
              <a:t>Capa epitaxial n poco dopada y proceso de doble pozo (twin-well) para el CMOS.</a:t>
            </a:r>
            <a:endParaRPr b="0" i="0" sz="1150" u="none" cap="none" strike="noStrike">
              <a:solidFill>
                <a:schemeClr val="dk1"/>
              </a:solidFill>
              <a:latin typeface="Calibri"/>
              <a:ea typeface="Calibri"/>
              <a:cs typeface="Calibri"/>
              <a:sym typeface="Calibri"/>
            </a:endParaRPr>
          </a:p>
        </p:txBody>
      </p:sp>
      <p:sp>
        <p:nvSpPr>
          <p:cNvPr id="880" name="Google Shape;880;p29"/>
          <p:cNvSpPr/>
          <p:nvPr/>
        </p:nvSpPr>
        <p:spPr>
          <a:xfrm>
            <a:off x="7498080" y="1737360"/>
            <a:ext cx="4096512" cy="2286000"/>
          </a:xfrm>
          <a:prstGeom prst="roundRect">
            <a:avLst>
              <a:gd fmla="val 4800" name="adj"/>
            </a:avLst>
          </a:prstGeom>
          <a:solidFill>
            <a:srgbClr val="1E2761"/>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9"/>
          <p:cNvSpPr txBox="1"/>
          <p:nvPr/>
        </p:nvSpPr>
        <p:spPr>
          <a:xfrm>
            <a:off x="7790688" y="1883664"/>
            <a:ext cx="10972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4000"/>
              <a:buFont typeface="Cambria"/>
              <a:buNone/>
            </a:pPr>
            <a:r>
              <a:rPr b="1" i="0" lang="en-US" sz="4000" u="none" cap="none" strike="noStrike">
                <a:solidFill>
                  <a:srgbClr val="F96167"/>
                </a:solidFill>
                <a:latin typeface="Cambria"/>
                <a:ea typeface="Cambria"/>
                <a:cs typeface="Cambria"/>
                <a:sym typeface="Cambria"/>
              </a:rPr>
              <a:t>4</a:t>
            </a:r>
            <a:endParaRPr b="0" i="0" sz="4000" u="none" cap="none" strike="noStrike">
              <a:solidFill>
                <a:schemeClr val="dk1"/>
              </a:solidFill>
              <a:latin typeface="Calibri"/>
              <a:ea typeface="Calibri"/>
              <a:cs typeface="Calibri"/>
              <a:sym typeface="Calibri"/>
            </a:endParaRPr>
          </a:p>
        </p:txBody>
      </p:sp>
      <p:sp>
        <p:nvSpPr>
          <p:cNvPr id="882" name="Google Shape;882;p29"/>
          <p:cNvSpPr txBox="1"/>
          <p:nvPr/>
        </p:nvSpPr>
        <p:spPr>
          <a:xfrm>
            <a:off x="8540496" y="201168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máscaras adicionales</a:t>
            </a:r>
            <a:endParaRPr b="0" i="0" sz="1250" u="none" cap="none" strike="noStrike">
              <a:solidFill>
                <a:schemeClr val="dk1"/>
              </a:solidFill>
              <a:latin typeface="Calibri"/>
              <a:ea typeface="Calibri"/>
              <a:cs typeface="Calibri"/>
              <a:sym typeface="Calibri"/>
            </a:endParaRPr>
          </a:p>
        </p:txBody>
      </p:sp>
      <p:sp>
        <p:nvSpPr>
          <p:cNvPr id="883" name="Google Shape;883;p29"/>
          <p:cNvSpPr txBox="1"/>
          <p:nvPr/>
        </p:nvSpPr>
        <p:spPr>
          <a:xfrm>
            <a:off x="7790688" y="2578608"/>
            <a:ext cx="3566160" cy="137160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Máscara de la capa enterrada n⁺</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Máscara de colector deep-n⁺</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Máscara de base p</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Máscara de emisor de polisilicio</a:t>
            </a:r>
            <a:endParaRPr b="0" i="0" sz="1100" u="none" cap="none" strike="noStrike">
              <a:solidFill>
                <a:schemeClr val="dk1"/>
              </a:solidFill>
              <a:latin typeface="Calibri"/>
              <a:ea typeface="Calibri"/>
              <a:cs typeface="Calibri"/>
              <a:sym typeface="Calibri"/>
            </a:endParaRPr>
          </a:p>
        </p:txBody>
      </p:sp>
      <p:sp>
        <p:nvSpPr>
          <p:cNvPr id="884" name="Google Shape;884;p29"/>
          <p:cNvSpPr/>
          <p:nvPr/>
        </p:nvSpPr>
        <p:spPr>
          <a:xfrm>
            <a:off x="566928" y="4315968"/>
            <a:ext cx="3529584" cy="1792224"/>
          </a:xfrm>
          <a:prstGeom prst="roundRect">
            <a:avLst>
              <a:gd fmla="val 6122"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9"/>
          <p:cNvSpPr txBox="1"/>
          <p:nvPr/>
        </p:nvSpPr>
        <p:spPr>
          <a:xfrm>
            <a:off x="841248" y="4462272"/>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CMOS</a:t>
            </a:r>
            <a:endParaRPr b="0" i="0" sz="1600" u="none" cap="none" strike="noStrike">
              <a:solidFill>
                <a:schemeClr val="dk1"/>
              </a:solidFill>
              <a:latin typeface="Calibri"/>
              <a:ea typeface="Calibri"/>
              <a:cs typeface="Calibri"/>
              <a:sym typeface="Calibri"/>
            </a:endParaRPr>
          </a:p>
        </p:txBody>
      </p:sp>
      <p:sp>
        <p:nvSpPr>
          <p:cNvPr id="886" name="Google Shape;886;p29"/>
          <p:cNvSpPr txBox="1"/>
          <p:nvPr/>
        </p:nvSpPr>
        <p:spPr>
          <a:xfrm>
            <a:off x="841248" y="4828032"/>
            <a:ext cx="2999232" cy="11338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Disipación de potencia, margen de ruido y densidad de empaquetamiento.</a:t>
            </a:r>
            <a:endParaRPr b="0" i="0" sz="1100" u="none" cap="none" strike="noStrike">
              <a:solidFill>
                <a:schemeClr val="dk1"/>
              </a:solidFill>
              <a:latin typeface="Calibri"/>
              <a:ea typeface="Calibri"/>
              <a:cs typeface="Calibri"/>
              <a:sym typeface="Calibri"/>
            </a:endParaRPr>
          </a:p>
        </p:txBody>
      </p:sp>
      <p:sp>
        <p:nvSpPr>
          <p:cNvPr id="887" name="Google Shape;887;p29"/>
          <p:cNvSpPr/>
          <p:nvPr/>
        </p:nvSpPr>
        <p:spPr>
          <a:xfrm>
            <a:off x="4315968" y="4315968"/>
            <a:ext cx="3529584" cy="1792224"/>
          </a:xfrm>
          <a:prstGeom prst="roundRect">
            <a:avLst>
              <a:gd fmla="val 6122"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txBox="1"/>
          <p:nvPr/>
        </p:nvSpPr>
        <p:spPr>
          <a:xfrm>
            <a:off x="4590288" y="4462272"/>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Bipolar</a:t>
            </a:r>
            <a:endParaRPr b="0" i="0" sz="1600" u="none" cap="none" strike="noStrike">
              <a:solidFill>
                <a:schemeClr val="dk1"/>
              </a:solidFill>
              <a:latin typeface="Calibri"/>
              <a:ea typeface="Calibri"/>
              <a:cs typeface="Calibri"/>
              <a:sym typeface="Calibri"/>
            </a:endParaRPr>
          </a:p>
        </p:txBody>
      </p:sp>
      <p:sp>
        <p:nvSpPr>
          <p:cNvPr id="889" name="Google Shape;889;p29"/>
          <p:cNvSpPr txBox="1"/>
          <p:nvPr/>
        </p:nvSpPr>
        <p:spPr>
          <a:xfrm>
            <a:off x="4590288" y="4828032"/>
            <a:ext cx="2999232" cy="11338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Velocidad de conmutación, capacidad de entrega de corriente y prestación analógica.</a:t>
            </a:r>
            <a:endParaRPr b="0" i="0" sz="1100" u="none" cap="none" strike="noStrike">
              <a:solidFill>
                <a:schemeClr val="dk1"/>
              </a:solidFill>
              <a:latin typeface="Calibri"/>
              <a:ea typeface="Calibri"/>
              <a:cs typeface="Calibri"/>
              <a:sym typeface="Calibri"/>
            </a:endParaRPr>
          </a:p>
        </p:txBody>
      </p:sp>
      <p:sp>
        <p:nvSpPr>
          <p:cNvPr id="890" name="Google Shape;890;p29"/>
          <p:cNvSpPr/>
          <p:nvPr/>
        </p:nvSpPr>
        <p:spPr>
          <a:xfrm>
            <a:off x="8065008" y="4315968"/>
            <a:ext cx="3529584" cy="1792224"/>
          </a:xfrm>
          <a:prstGeom prst="roundRect">
            <a:avLst>
              <a:gd fmla="val 6122" name="adj"/>
            </a:avLst>
          </a:prstGeom>
          <a:solidFill>
            <a:srgbClr val="F96167"/>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9"/>
          <p:cNvSpPr txBox="1"/>
          <p:nvPr/>
        </p:nvSpPr>
        <p:spPr>
          <a:xfrm>
            <a:off x="8339328" y="4462272"/>
            <a:ext cx="29809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BiCMOS</a:t>
            </a:r>
            <a:endParaRPr b="0" i="0" sz="1600" u="none" cap="none" strike="noStrike">
              <a:solidFill>
                <a:schemeClr val="dk1"/>
              </a:solidFill>
              <a:latin typeface="Calibri"/>
              <a:ea typeface="Calibri"/>
              <a:cs typeface="Calibri"/>
              <a:sym typeface="Calibri"/>
            </a:endParaRPr>
          </a:p>
        </p:txBody>
      </p:sp>
      <p:sp>
        <p:nvSpPr>
          <p:cNvPr id="892" name="Google Shape;892;p29"/>
          <p:cNvSpPr txBox="1"/>
          <p:nvPr/>
        </p:nvSpPr>
        <p:spPr>
          <a:xfrm>
            <a:off x="8339328" y="4828032"/>
            <a:ext cx="2999232" cy="11338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Para una misma regla de diseño: más rápido que CMOS, mejor en analógico que CMOS, menor consumo que bipolar y mayor densidad que bipolar.</a:t>
            </a:r>
            <a:endParaRPr b="0" i="0" sz="1100" u="none" cap="none" strike="noStrike">
              <a:solidFill>
                <a:schemeClr val="dk1"/>
              </a:solidFill>
              <a:latin typeface="Calibri"/>
              <a:ea typeface="Calibri"/>
              <a:cs typeface="Calibri"/>
              <a:sym typeface="Calibri"/>
            </a:endParaRPr>
          </a:p>
        </p:txBody>
      </p:sp>
      <p:sp>
        <p:nvSpPr>
          <p:cNvPr id="893" name="Google Shape;893;p29"/>
          <p:cNvSpPr txBox="1"/>
          <p:nvPr/>
        </p:nvSpPr>
        <p:spPr>
          <a:xfrm>
            <a:off x="566928" y="4059936"/>
            <a:ext cx="1102766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050"/>
              <a:buFont typeface="Calibri"/>
              <a:buNone/>
            </a:pPr>
            <a:r>
              <a:rPr b="0" i="1" lang="en-US" sz="1050" u="none" cap="none" strike="noStrike">
                <a:solidFill>
                  <a:srgbClr val="5A6172"/>
                </a:solidFill>
                <a:latin typeface="Calibri"/>
                <a:ea typeface="Calibri"/>
                <a:cs typeface="Calibri"/>
                <a:sym typeface="Calibri"/>
              </a:rPr>
              <a:t>Aplicaciones actuales: transceptores, amplificadores y osciladores para equipos de comunicación inalámbrica.</a:t>
            </a:r>
            <a:endParaRPr b="0" i="0" sz="1050" u="none" cap="none" strike="noStrike">
              <a:solidFill>
                <a:schemeClr val="dk1"/>
              </a:solidFill>
              <a:latin typeface="Calibri"/>
              <a:ea typeface="Calibri"/>
              <a:cs typeface="Calibri"/>
              <a:sym typeface="Calibri"/>
            </a:endParaRPr>
          </a:p>
        </p:txBody>
      </p:sp>
      <p:sp>
        <p:nvSpPr>
          <p:cNvPr id="894" name="Google Shape;894;p29"/>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895" name="Google Shape;895;p29"/>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896" name="Google Shape;896;p29"/>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9"/>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902" name="Shape 902"/>
        <p:cNvGrpSpPr/>
        <p:nvPr/>
      </p:nvGrpSpPr>
      <p:grpSpPr>
        <a:xfrm>
          <a:off x="0" y="0"/>
          <a:ext cx="0" cy="0"/>
          <a:chOff x="0" y="0"/>
          <a:chExt cx="0" cy="0"/>
        </a:xfrm>
      </p:grpSpPr>
      <p:sp>
        <p:nvSpPr>
          <p:cNvPr id="903" name="Google Shape;903;p30"/>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Cuadro comparativo de familias</a:t>
            </a:r>
            <a:endParaRPr b="0" i="0" sz="2700" u="none" cap="none" strike="noStrike">
              <a:solidFill>
                <a:schemeClr val="dk1"/>
              </a:solidFill>
              <a:latin typeface="Calibri"/>
              <a:ea typeface="Calibri"/>
              <a:cs typeface="Calibri"/>
              <a:sym typeface="Calibri"/>
            </a:endParaRPr>
          </a:p>
        </p:txBody>
      </p:sp>
      <p:sp>
        <p:nvSpPr>
          <p:cNvPr id="904" name="Google Shape;904;p30"/>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Síntesis para elegir tecnología según la aplicación</a:t>
            </a:r>
            <a:endParaRPr b="0" i="0" sz="1250" u="none" cap="none" strike="noStrike">
              <a:solidFill>
                <a:schemeClr val="dk1"/>
              </a:solidFill>
              <a:latin typeface="Calibri"/>
              <a:ea typeface="Calibri"/>
              <a:cs typeface="Calibri"/>
              <a:sym typeface="Calibri"/>
            </a:endParaRPr>
          </a:p>
        </p:txBody>
      </p:sp>
      <p:sp>
        <p:nvSpPr>
          <p:cNvPr id="905" name="Google Shape;905;p30"/>
          <p:cNvSpPr/>
          <p:nvPr/>
        </p:nvSpPr>
        <p:spPr>
          <a:xfrm>
            <a:off x="566928" y="1591056"/>
            <a:ext cx="310896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0"/>
          <p:cNvSpPr txBox="1"/>
          <p:nvPr/>
        </p:nvSpPr>
        <p:spPr>
          <a:xfrm>
            <a:off x="566928" y="1591056"/>
            <a:ext cx="31089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Criterio</a:t>
            </a:r>
            <a:endParaRPr b="0" i="0" sz="1250" u="none" cap="none" strike="noStrike">
              <a:solidFill>
                <a:schemeClr val="dk1"/>
              </a:solidFill>
              <a:latin typeface="Calibri"/>
              <a:ea typeface="Calibri"/>
              <a:cs typeface="Calibri"/>
              <a:sym typeface="Calibri"/>
            </a:endParaRPr>
          </a:p>
        </p:txBody>
      </p:sp>
      <p:sp>
        <p:nvSpPr>
          <p:cNvPr id="907" name="Google Shape;907;p30"/>
          <p:cNvSpPr/>
          <p:nvPr/>
        </p:nvSpPr>
        <p:spPr>
          <a:xfrm>
            <a:off x="3767328" y="1591056"/>
            <a:ext cx="2523744"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0"/>
          <p:cNvSpPr txBox="1"/>
          <p:nvPr/>
        </p:nvSpPr>
        <p:spPr>
          <a:xfrm>
            <a:off x="3767328" y="1591056"/>
            <a:ext cx="252374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Bipolar</a:t>
            </a:r>
            <a:endParaRPr b="0" i="0" sz="1250" u="none" cap="none" strike="noStrike">
              <a:solidFill>
                <a:schemeClr val="dk1"/>
              </a:solidFill>
              <a:latin typeface="Calibri"/>
              <a:ea typeface="Calibri"/>
              <a:cs typeface="Calibri"/>
              <a:sym typeface="Calibri"/>
            </a:endParaRPr>
          </a:p>
        </p:txBody>
      </p:sp>
      <p:sp>
        <p:nvSpPr>
          <p:cNvPr id="909" name="Google Shape;909;p30"/>
          <p:cNvSpPr/>
          <p:nvPr/>
        </p:nvSpPr>
        <p:spPr>
          <a:xfrm>
            <a:off x="6382512" y="1591056"/>
            <a:ext cx="2523744" cy="457200"/>
          </a:xfrm>
          <a:prstGeom prst="roundRect">
            <a:avLst>
              <a:gd fmla="val 16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0"/>
          <p:cNvSpPr txBox="1"/>
          <p:nvPr/>
        </p:nvSpPr>
        <p:spPr>
          <a:xfrm>
            <a:off x="6382512" y="1591056"/>
            <a:ext cx="252374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CMOS</a:t>
            </a:r>
            <a:endParaRPr b="0" i="0" sz="1250" u="none" cap="none" strike="noStrike">
              <a:solidFill>
                <a:schemeClr val="dk1"/>
              </a:solidFill>
              <a:latin typeface="Calibri"/>
              <a:ea typeface="Calibri"/>
              <a:cs typeface="Calibri"/>
              <a:sym typeface="Calibri"/>
            </a:endParaRPr>
          </a:p>
        </p:txBody>
      </p:sp>
      <p:sp>
        <p:nvSpPr>
          <p:cNvPr id="911" name="Google Shape;911;p30"/>
          <p:cNvSpPr/>
          <p:nvPr/>
        </p:nvSpPr>
        <p:spPr>
          <a:xfrm>
            <a:off x="8997696" y="1591056"/>
            <a:ext cx="2596896"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0"/>
          <p:cNvSpPr txBox="1"/>
          <p:nvPr/>
        </p:nvSpPr>
        <p:spPr>
          <a:xfrm>
            <a:off x="8997696" y="1591056"/>
            <a:ext cx="25968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BiCMOS</a:t>
            </a:r>
            <a:endParaRPr b="0" i="0" sz="1250" u="none" cap="none" strike="noStrike">
              <a:solidFill>
                <a:schemeClr val="dk1"/>
              </a:solidFill>
              <a:latin typeface="Calibri"/>
              <a:ea typeface="Calibri"/>
              <a:cs typeface="Calibri"/>
              <a:sym typeface="Calibri"/>
            </a:endParaRPr>
          </a:p>
        </p:txBody>
      </p:sp>
      <p:sp>
        <p:nvSpPr>
          <p:cNvPr id="913" name="Google Shape;913;p30"/>
          <p:cNvSpPr/>
          <p:nvPr/>
        </p:nvSpPr>
        <p:spPr>
          <a:xfrm>
            <a:off x="566928" y="213969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0"/>
          <p:cNvSpPr txBox="1"/>
          <p:nvPr/>
        </p:nvSpPr>
        <p:spPr>
          <a:xfrm>
            <a:off x="676656" y="213969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Control</a:t>
            </a:r>
            <a:endParaRPr b="0" i="0" sz="1100" u="none" cap="none" strike="noStrike">
              <a:solidFill>
                <a:schemeClr val="dk1"/>
              </a:solidFill>
              <a:latin typeface="Calibri"/>
              <a:ea typeface="Calibri"/>
              <a:cs typeface="Calibri"/>
              <a:sym typeface="Calibri"/>
            </a:endParaRPr>
          </a:p>
        </p:txBody>
      </p:sp>
      <p:sp>
        <p:nvSpPr>
          <p:cNvPr id="915" name="Google Shape;915;p30"/>
          <p:cNvSpPr/>
          <p:nvPr/>
        </p:nvSpPr>
        <p:spPr>
          <a:xfrm>
            <a:off x="3767328" y="213969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0"/>
          <p:cNvSpPr txBox="1"/>
          <p:nvPr/>
        </p:nvSpPr>
        <p:spPr>
          <a:xfrm>
            <a:off x="3877056" y="213969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IB controla IEC</a:t>
            </a:r>
            <a:endParaRPr b="0" i="0" sz="1100" u="none" cap="none" strike="noStrike">
              <a:solidFill>
                <a:schemeClr val="dk1"/>
              </a:solidFill>
              <a:latin typeface="Calibri"/>
              <a:ea typeface="Calibri"/>
              <a:cs typeface="Calibri"/>
              <a:sym typeface="Calibri"/>
            </a:endParaRPr>
          </a:p>
        </p:txBody>
      </p:sp>
      <p:sp>
        <p:nvSpPr>
          <p:cNvPr id="917" name="Google Shape;917;p30"/>
          <p:cNvSpPr/>
          <p:nvPr/>
        </p:nvSpPr>
        <p:spPr>
          <a:xfrm>
            <a:off x="6382512" y="213969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0"/>
          <p:cNvSpPr txBox="1"/>
          <p:nvPr/>
        </p:nvSpPr>
        <p:spPr>
          <a:xfrm>
            <a:off x="6492240" y="213969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VGS controla IDS</a:t>
            </a:r>
            <a:endParaRPr b="0" i="0" sz="1100" u="none" cap="none" strike="noStrike">
              <a:solidFill>
                <a:schemeClr val="dk1"/>
              </a:solidFill>
              <a:latin typeface="Calibri"/>
              <a:ea typeface="Calibri"/>
              <a:cs typeface="Calibri"/>
              <a:sym typeface="Calibri"/>
            </a:endParaRPr>
          </a:p>
        </p:txBody>
      </p:sp>
      <p:sp>
        <p:nvSpPr>
          <p:cNvPr id="919" name="Google Shape;919;p30"/>
          <p:cNvSpPr/>
          <p:nvPr/>
        </p:nvSpPr>
        <p:spPr>
          <a:xfrm>
            <a:off x="8997696" y="213969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0"/>
          <p:cNvSpPr txBox="1"/>
          <p:nvPr/>
        </p:nvSpPr>
        <p:spPr>
          <a:xfrm>
            <a:off x="9107424" y="213969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Ambos mecanismos</a:t>
            </a:r>
            <a:endParaRPr b="0" i="0" sz="1100" u="none" cap="none" strike="noStrike">
              <a:solidFill>
                <a:schemeClr val="dk1"/>
              </a:solidFill>
              <a:latin typeface="Calibri"/>
              <a:ea typeface="Calibri"/>
              <a:cs typeface="Calibri"/>
              <a:sym typeface="Calibri"/>
            </a:endParaRPr>
          </a:p>
        </p:txBody>
      </p:sp>
      <p:sp>
        <p:nvSpPr>
          <p:cNvPr id="921" name="Google Shape;921;p30"/>
          <p:cNvSpPr/>
          <p:nvPr/>
        </p:nvSpPr>
        <p:spPr>
          <a:xfrm>
            <a:off x="566928" y="264261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0"/>
          <p:cNvSpPr txBox="1"/>
          <p:nvPr/>
        </p:nvSpPr>
        <p:spPr>
          <a:xfrm>
            <a:off x="676656" y="264261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Densidad de integración</a:t>
            </a:r>
            <a:endParaRPr b="0" i="0" sz="1100" u="none" cap="none" strike="noStrike">
              <a:solidFill>
                <a:schemeClr val="dk1"/>
              </a:solidFill>
              <a:latin typeface="Calibri"/>
              <a:ea typeface="Calibri"/>
              <a:cs typeface="Calibri"/>
              <a:sym typeface="Calibri"/>
            </a:endParaRPr>
          </a:p>
        </p:txBody>
      </p:sp>
      <p:sp>
        <p:nvSpPr>
          <p:cNvPr id="923" name="Google Shape;923;p30"/>
          <p:cNvSpPr/>
          <p:nvPr/>
        </p:nvSpPr>
        <p:spPr>
          <a:xfrm>
            <a:off x="3767328" y="264261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0"/>
          <p:cNvSpPr txBox="1"/>
          <p:nvPr/>
        </p:nvSpPr>
        <p:spPr>
          <a:xfrm>
            <a:off x="3877056" y="264261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Baja</a:t>
            </a:r>
            <a:endParaRPr b="0" i="0" sz="1100" u="none" cap="none" strike="noStrike">
              <a:solidFill>
                <a:schemeClr val="dk1"/>
              </a:solidFill>
              <a:latin typeface="Calibri"/>
              <a:ea typeface="Calibri"/>
              <a:cs typeface="Calibri"/>
              <a:sym typeface="Calibri"/>
            </a:endParaRPr>
          </a:p>
        </p:txBody>
      </p:sp>
      <p:sp>
        <p:nvSpPr>
          <p:cNvPr id="925" name="Google Shape;925;p30"/>
          <p:cNvSpPr/>
          <p:nvPr/>
        </p:nvSpPr>
        <p:spPr>
          <a:xfrm>
            <a:off x="6382512" y="264261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0"/>
          <p:cNvSpPr txBox="1"/>
          <p:nvPr/>
        </p:nvSpPr>
        <p:spPr>
          <a:xfrm>
            <a:off x="6492240" y="264261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Muy alta</a:t>
            </a:r>
            <a:endParaRPr b="0" i="0" sz="1100" u="none" cap="none" strike="noStrike">
              <a:solidFill>
                <a:schemeClr val="dk1"/>
              </a:solidFill>
              <a:latin typeface="Calibri"/>
              <a:ea typeface="Calibri"/>
              <a:cs typeface="Calibri"/>
              <a:sym typeface="Calibri"/>
            </a:endParaRPr>
          </a:p>
        </p:txBody>
      </p:sp>
      <p:sp>
        <p:nvSpPr>
          <p:cNvPr id="927" name="Google Shape;927;p30"/>
          <p:cNvSpPr/>
          <p:nvPr/>
        </p:nvSpPr>
        <p:spPr>
          <a:xfrm>
            <a:off x="8997696" y="264261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0"/>
          <p:cNvSpPr txBox="1"/>
          <p:nvPr/>
        </p:nvSpPr>
        <p:spPr>
          <a:xfrm>
            <a:off x="9107424" y="264261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29" name="Google Shape;929;p30"/>
          <p:cNvSpPr/>
          <p:nvPr/>
        </p:nvSpPr>
        <p:spPr>
          <a:xfrm>
            <a:off x="566928" y="314553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0"/>
          <p:cNvSpPr txBox="1"/>
          <p:nvPr/>
        </p:nvSpPr>
        <p:spPr>
          <a:xfrm>
            <a:off x="676656" y="314553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Consumo estático</a:t>
            </a:r>
            <a:endParaRPr b="0" i="0" sz="1100" u="none" cap="none" strike="noStrike">
              <a:solidFill>
                <a:schemeClr val="dk1"/>
              </a:solidFill>
              <a:latin typeface="Calibri"/>
              <a:ea typeface="Calibri"/>
              <a:cs typeface="Calibri"/>
              <a:sym typeface="Calibri"/>
            </a:endParaRPr>
          </a:p>
        </p:txBody>
      </p:sp>
      <p:sp>
        <p:nvSpPr>
          <p:cNvPr id="931" name="Google Shape;931;p30"/>
          <p:cNvSpPr/>
          <p:nvPr/>
        </p:nvSpPr>
        <p:spPr>
          <a:xfrm>
            <a:off x="3767328" y="314553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0"/>
          <p:cNvSpPr txBox="1"/>
          <p:nvPr/>
        </p:nvSpPr>
        <p:spPr>
          <a:xfrm>
            <a:off x="3877056" y="314553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Alto</a:t>
            </a:r>
            <a:endParaRPr b="0" i="0" sz="1100" u="none" cap="none" strike="noStrike">
              <a:solidFill>
                <a:schemeClr val="dk1"/>
              </a:solidFill>
              <a:latin typeface="Calibri"/>
              <a:ea typeface="Calibri"/>
              <a:cs typeface="Calibri"/>
              <a:sym typeface="Calibri"/>
            </a:endParaRPr>
          </a:p>
        </p:txBody>
      </p:sp>
      <p:sp>
        <p:nvSpPr>
          <p:cNvPr id="933" name="Google Shape;933;p30"/>
          <p:cNvSpPr/>
          <p:nvPr/>
        </p:nvSpPr>
        <p:spPr>
          <a:xfrm>
            <a:off x="6382512" y="314553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0"/>
          <p:cNvSpPr txBox="1"/>
          <p:nvPr/>
        </p:nvSpPr>
        <p:spPr>
          <a:xfrm>
            <a:off x="6492240" y="314553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Muy bajo (fuga)</a:t>
            </a:r>
            <a:endParaRPr b="0" i="0" sz="1100" u="none" cap="none" strike="noStrike">
              <a:solidFill>
                <a:schemeClr val="dk1"/>
              </a:solidFill>
              <a:latin typeface="Calibri"/>
              <a:ea typeface="Calibri"/>
              <a:cs typeface="Calibri"/>
              <a:sym typeface="Calibri"/>
            </a:endParaRPr>
          </a:p>
        </p:txBody>
      </p:sp>
      <p:sp>
        <p:nvSpPr>
          <p:cNvPr id="935" name="Google Shape;935;p30"/>
          <p:cNvSpPr/>
          <p:nvPr/>
        </p:nvSpPr>
        <p:spPr>
          <a:xfrm>
            <a:off x="8997696" y="314553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0"/>
          <p:cNvSpPr txBox="1"/>
          <p:nvPr/>
        </p:nvSpPr>
        <p:spPr>
          <a:xfrm>
            <a:off x="9107424" y="314553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Bajo</a:t>
            </a:r>
            <a:endParaRPr b="0" i="0" sz="1100" u="none" cap="none" strike="noStrike">
              <a:solidFill>
                <a:schemeClr val="dk1"/>
              </a:solidFill>
              <a:latin typeface="Calibri"/>
              <a:ea typeface="Calibri"/>
              <a:cs typeface="Calibri"/>
              <a:sym typeface="Calibri"/>
            </a:endParaRPr>
          </a:p>
        </p:txBody>
      </p:sp>
      <p:sp>
        <p:nvSpPr>
          <p:cNvPr id="937" name="Google Shape;937;p30"/>
          <p:cNvSpPr/>
          <p:nvPr/>
        </p:nvSpPr>
        <p:spPr>
          <a:xfrm>
            <a:off x="566928" y="364845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0"/>
          <p:cNvSpPr txBox="1"/>
          <p:nvPr/>
        </p:nvSpPr>
        <p:spPr>
          <a:xfrm>
            <a:off x="676656" y="364845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Velocidad de conmutación</a:t>
            </a:r>
            <a:endParaRPr b="0" i="0" sz="1100" u="none" cap="none" strike="noStrike">
              <a:solidFill>
                <a:schemeClr val="dk1"/>
              </a:solidFill>
              <a:latin typeface="Calibri"/>
              <a:ea typeface="Calibri"/>
              <a:cs typeface="Calibri"/>
              <a:sym typeface="Calibri"/>
            </a:endParaRPr>
          </a:p>
        </p:txBody>
      </p:sp>
      <p:sp>
        <p:nvSpPr>
          <p:cNvPr id="939" name="Google Shape;939;p30"/>
          <p:cNvSpPr/>
          <p:nvPr/>
        </p:nvSpPr>
        <p:spPr>
          <a:xfrm>
            <a:off x="3767328" y="364845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0"/>
          <p:cNvSpPr txBox="1"/>
          <p:nvPr/>
        </p:nvSpPr>
        <p:spPr>
          <a:xfrm>
            <a:off x="3877056" y="364845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41" name="Google Shape;941;p30"/>
          <p:cNvSpPr/>
          <p:nvPr/>
        </p:nvSpPr>
        <p:spPr>
          <a:xfrm>
            <a:off x="6382512" y="364845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0"/>
          <p:cNvSpPr txBox="1"/>
          <p:nvPr/>
        </p:nvSpPr>
        <p:spPr>
          <a:xfrm>
            <a:off x="6492240" y="364845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Media-alta</a:t>
            </a:r>
            <a:endParaRPr b="0" i="0" sz="1100" u="none" cap="none" strike="noStrike">
              <a:solidFill>
                <a:schemeClr val="dk1"/>
              </a:solidFill>
              <a:latin typeface="Calibri"/>
              <a:ea typeface="Calibri"/>
              <a:cs typeface="Calibri"/>
              <a:sym typeface="Calibri"/>
            </a:endParaRPr>
          </a:p>
        </p:txBody>
      </p:sp>
      <p:sp>
        <p:nvSpPr>
          <p:cNvPr id="943" name="Google Shape;943;p30"/>
          <p:cNvSpPr/>
          <p:nvPr/>
        </p:nvSpPr>
        <p:spPr>
          <a:xfrm>
            <a:off x="8997696" y="364845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0"/>
          <p:cNvSpPr txBox="1"/>
          <p:nvPr/>
        </p:nvSpPr>
        <p:spPr>
          <a:xfrm>
            <a:off x="9107424" y="364845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45" name="Google Shape;945;p30"/>
          <p:cNvSpPr/>
          <p:nvPr/>
        </p:nvSpPr>
        <p:spPr>
          <a:xfrm>
            <a:off x="566928" y="415137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0"/>
          <p:cNvSpPr txBox="1"/>
          <p:nvPr/>
        </p:nvSpPr>
        <p:spPr>
          <a:xfrm>
            <a:off x="676656" y="415137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Capacidad de corriente</a:t>
            </a:r>
            <a:endParaRPr b="0" i="0" sz="1100" u="none" cap="none" strike="noStrike">
              <a:solidFill>
                <a:schemeClr val="dk1"/>
              </a:solidFill>
              <a:latin typeface="Calibri"/>
              <a:ea typeface="Calibri"/>
              <a:cs typeface="Calibri"/>
              <a:sym typeface="Calibri"/>
            </a:endParaRPr>
          </a:p>
        </p:txBody>
      </p:sp>
      <p:sp>
        <p:nvSpPr>
          <p:cNvPr id="947" name="Google Shape;947;p30"/>
          <p:cNvSpPr/>
          <p:nvPr/>
        </p:nvSpPr>
        <p:spPr>
          <a:xfrm>
            <a:off x="3767328" y="415137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0"/>
          <p:cNvSpPr txBox="1"/>
          <p:nvPr/>
        </p:nvSpPr>
        <p:spPr>
          <a:xfrm>
            <a:off x="3877056" y="415137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49" name="Google Shape;949;p30"/>
          <p:cNvSpPr/>
          <p:nvPr/>
        </p:nvSpPr>
        <p:spPr>
          <a:xfrm>
            <a:off x="6382512" y="415137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0"/>
          <p:cNvSpPr txBox="1"/>
          <p:nvPr/>
        </p:nvSpPr>
        <p:spPr>
          <a:xfrm>
            <a:off x="6492240" y="415137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Limitada</a:t>
            </a:r>
            <a:endParaRPr b="0" i="0" sz="1100" u="none" cap="none" strike="noStrike">
              <a:solidFill>
                <a:schemeClr val="dk1"/>
              </a:solidFill>
              <a:latin typeface="Calibri"/>
              <a:ea typeface="Calibri"/>
              <a:cs typeface="Calibri"/>
              <a:sym typeface="Calibri"/>
            </a:endParaRPr>
          </a:p>
        </p:txBody>
      </p:sp>
      <p:sp>
        <p:nvSpPr>
          <p:cNvPr id="951" name="Google Shape;951;p30"/>
          <p:cNvSpPr/>
          <p:nvPr/>
        </p:nvSpPr>
        <p:spPr>
          <a:xfrm>
            <a:off x="8997696" y="415137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0"/>
          <p:cNvSpPr txBox="1"/>
          <p:nvPr/>
        </p:nvSpPr>
        <p:spPr>
          <a:xfrm>
            <a:off x="9107424" y="415137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53" name="Google Shape;953;p30"/>
          <p:cNvSpPr/>
          <p:nvPr/>
        </p:nvSpPr>
        <p:spPr>
          <a:xfrm>
            <a:off x="566928" y="465429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0"/>
          <p:cNvSpPr txBox="1"/>
          <p:nvPr/>
        </p:nvSpPr>
        <p:spPr>
          <a:xfrm>
            <a:off x="676656" y="465429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Aislamiento requerido</a:t>
            </a:r>
            <a:endParaRPr b="0" i="0" sz="1100" u="none" cap="none" strike="noStrike">
              <a:solidFill>
                <a:schemeClr val="dk1"/>
              </a:solidFill>
              <a:latin typeface="Calibri"/>
              <a:ea typeface="Calibri"/>
              <a:cs typeface="Calibri"/>
              <a:sym typeface="Calibri"/>
            </a:endParaRPr>
          </a:p>
        </p:txBody>
      </p:sp>
      <p:sp>
        <p:nvSpPr>
          <p:cNvPr id="955" name="Google Shape;955;p30"/>
          <p:cNvSpPr/>
          <p:nvPr/>
        </p:nvSpPr>
        <p:spPr>
          <a:xfrm>
            <a:off x="3767328" y="465429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0"/>
          <p:cNvSpPr txBox="1"/>
          <p:nvPr/>
        </p:nvSpPr>
        <p:spPr>
          <a:xfrm>
            <a:off x="3877056" y="465429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Lateral y vertical</a:t>
            </a:r>
            <a:endParaRPr b="0" i="0" sz="1100" u="none" cap="none" strike="noStrike">
              <a:solidFill>
                <a:schemeClr val="dk1"/>
              </a:solidFill>
              <a:latin typeface="Calibri"/>
              <a:ea typeface="Calibri"/>
              <a:cs typeface="Calibri"/>
              <a:sym typeface="Calibri"/>
            </a:endParaRPr>
          </a:p>
        </p:txBody>
      </p:sp>
      <p:sp>
        <p:nvSpPr>
          <p:cNvPr id="957" name="Google Shape;957;p30"/>
          <p:cNvSpPr/>
          <p:nvPr/>
        </p:nvSpPr>
        <p:spPr>
          <a:xfrm>
            <a:off x="6382512" y="465429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0"/>
          <p:cNvSpPr txBox="1"/>
          <p:nvPr/>
        </p:nvSpPr>
        <p:spPr>
          <a:xfrm>
            <a:off x="6492240" y="465429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Solo lateral</a:t>
            </a:r>
            <a:endParaRPr b="0" i="0" sz="1100" u="none" cap="none" strike="noStrike">
              <a:solidFill>
                <a:schemeClr val="dk1"/>
              </a:solidFill>
              <a:latin typeface="Calibri"/>
              <a:ea typeface="Calibri"/>
              <a:cs typeface="Calibri"/>
              <a:sym typeface="Calibri"/>
            </a:endParaRPr>
          </a:p>
        </p:txBody>
      </p:sp>
      <p:sp>
        <p:nvSpPr>
          <p:cNvPr id="959" name="Google Shape;959;p30"/>
          <p:cNvSpPr/>
          <p:nvPr/>
        </p:nvSpPr>
        <p:spPr>
          <a:xfrm>
            <a:off x="8997696" y="465429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0"/>
          <p:cNvSpPr txBox="1"/>
          <p:nvPr/>
        </p:nvSpPr>
        <p:spPr>
          <a:xfrm>
            <a:off x="9107424" y="465429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Lateral y vertical</a:t>
            </a:r>
            <a:endParaRPr b="0" i="0" sz="1100" u="none" cap="none" strike="noStrike">
              <a:solidFill>
                <a:schemeClr val="dk1"/>
              </a:solidFill>
              <a:latin typeface="Calibri"/>
              <a:ea typeface="Calibri"/>
              <a:cs typeface="Calibri"/>
              <a:sym typeface="Calibri"/>
            </a:endParaRPr>
          </a:p>
        </p:txBody>
      </p:sp>
      <p:sp>
        <p:nvSpPr>
          <p:cNvPr id="961" name="Google Shape;961;p30"/>
          <p:cNvSpPr/>
          <p:nvPr/>
        </p:nvSpPr>
        <p:spPr>
          <a:xfrm>
            <a:off x="566928" y="515721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0"/>
          <p:cNvSpPr txBox="1"/>
          <p:nvPr/>
        </p:nvSpPr>
        <p:spPr>
          <a:xfrm>
            <a:off x="676656" y="515721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Complejidad de proceso</a:t>
            </a:r>
            <a:endParaRPr b="0" i="0" sz="1100" u="none" cap="none" strike="noStrike">
              <a:solidFill>
                <a:schemeClr val="dk1"/>
              </a:solidFill>
              <a:latin typeface="Calibri"/>
              <a:ea typeface="Calibri"/>
              <a:cs typeface="Calibri"/>
              <a:sym typeface="Calibri"/>
            </a:endParaRPr>
          </a:p>
        </p:txBody>
      </p:sp>
      <p:sp>
        <p:nvSpPr>
          <p:cNvPr id="963" name="Google Shape;963;p30"/>
          <p:cNvSpPr/>
          <p:nvPr/>
        </p:nvSpPr>
        <p:spPr>
          <a:xfrm>
            <a:off x="3767328" y="515721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0"/>
          <p:cNvSpPr txBox="1"/>
          <p:nvPr/>
        </p:nvSpPr>
        <p:spPr>
          <a:xfrm>
            <a:off x="3877056" y="515721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Media</a:t>
            </a:r>
            <a:endParaRPr b="0" i="0" sz="1100" u="none" cap="none" strike="noStrike">
              <a:solidFill>
                <a:schemeClr val="dk1"/>
              </a:solidFill>
              <a:latin typeface="Calibri"/>
              <a:ea typeface="Calibri"/>
              <a:cs typeface="Calibri"/>
              <a:sym typeface="Calibri"/>
            </a:endParaRPr>
          </a:p>
        </p:txBody>
      </p:sp>
      <p:sp>
        <p:nvSpPr>
          <p:cNvPr id="965" name="Google Shape;965;p30"/>
          <p:cNvSpPr/>
          <p:nvPr/>
        </p:nvSpPr>
        <p:spPr>
          <a:xfrm>
            <a:off x="6382512" y="515721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0"/>
          <p:cNvSpPr txBox="1"/>
          <p:nvPr/>
        </p:nvSpPr>
        <p:spPr>
          <a:xfrm>
            <a:off x="6492240" y="515721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Alta</a:t>
            </a:r>
            <a:endParaRPr b="0" i="0" sz="1100" u="none" cap="none" strike="noStrike">
              <a:solidFill>
                <a:schemeClr val="dk1"/>
              </a:solidFill>
              <a:latin typeface="Calibri"/>
              <a:ea typeface="Calibri"/>
              <a:cs typeface="Calibri"/>
              <a:sym typeface="Calibri"/>
            </a:endParaRPr>
          </a:p>
        </p:txBody>
      </p:sp>
      <p:sp>
        <p:nvSpPr>
          <p:cNvPr id="967" name="Google Shape;967;p30"/>
          <p:cNvSpPr/>
          <p:nvPr/>
        </p:nvSpPr>
        <p:spPr>
          <a:xfrm>
            <a:off x="8997696" y="515721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0"/>
          <p:cNvSpPr txBox="1"/>
          <p:nvPr/>
        </p:nvSpPr>
        <p:spPr>
          <a:xfrm>
            <a:off x="9107424" y="515721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Muy alta</a:t>
            </a:r>
            <a:endParaRPr b="0" i="0" sz="1100" u="none" cap="none" strike="noStrike">
              <a:solidFill>
                <a:schemeClr val="dk1"/>
              </a:solidFill>
              <a:latin typeface="Calibri"/>
              <a:ea typeface="Calibri"/>
              <a:cs typeface="Calibri"/>
              <a:sym typeface="Calibri"/>
            </a:endParaRPr>
          </a:p>
        </p:txBody>
      </p:sp>
      <p:sp>
        <p:nvSpPr>
          <p:cNvPr id="969" name="Google Shape;969;p30"/>
          <p:cNvSpPr/>
          <p:nvPr/>
        </p:nvSpPr>
        <p:spPr>
          <a:xfrm>
            <a:off x="566928" y="5660136"/>
            <a:ext cx="3108960" cy="429768"/>
          </a:xfrm>
          <a:prstGeom prst="roundRect">
            <a:avLst>
              <a:gd fmla="val 12766" name="adj"/>
            </a:avLst>
          </a:prstGeom>
          <a:solidFill>
            <a:srgbClr val="E7EDF9"/>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0"/>
          <p:cNvSpPr txBox="1"/>
          <p:nvPr/>
        </p:nvSpPr>
        <p:spPr>
          <a:xfrm>
            <a:off x="676656" y="5660136"/>
            <a:ext cx="2889504"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Uso predominante</a:t>
            </a:r>
            <a:endParaRPr b="0" i="0" sz="1100" u="none" cap="none" strike="noStrike">
              <a:solidFill>
                <a:schemeClr val="dk1"/>
              </a:solidFill>
              <a:latin typeface="Calibri"/>
              <a:ea typeface="Calibri"/>
              <a:cs typeface="Calibri"/>
              <a:sym typeface="Calibri"/>
            </a:endParaRPr>
          </a:p>
        </p:txBody>
      </p:sp>
      <p:sp>
        <p:nvSpPr>
          <p:cNvPr id="971" name="Google Shape;971;p30"/>
          <p:cNvSpPr/>
          <p:nvPr/>
        </p:nvSpPr>
        <p:spPr>
          <a:xfrm>
            <a:off x="3767328" y="5660136"/>
            <a:ext cx="2523744"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0"/>
          <p:cNvSpPr txBox="1"/>
          <p:nvPr/>
        </p:nvSpPr>
        <p:spPr>
          <a:xfrm>
            <a:off x="3877056" y="566013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Analógico, potencia</a:t>
            </a:r>
            <a:endParaRPr b="0" i="0" sz="1100" u="none" cap="none" strike="noStrike">
              <a:solidFill>
                <a:schemeClr val="dk1"/>
              </a:solidFill>
              <a:latin typeface="Calibri"/>
              <a:ea typeface="Calibri"/>
              <a:cs typeface="Calibri"/>
              <a:sym typeface="Calibri"/>
            </a:endParaRPr>
          </a:p>
        </p:txBody>
      </p:sp>
      <p:sp>
        <p:nvSpPr>
          <p:cNvPr id="973" name="Google Shape;973;p30"/>
          <p:cNvSpPr/>
          <p:nvPr/>
        </p:nvSpPr>
        <p:spPr>
          <a:xfrm>
            <a:off x="6382512" y="5660136"/>
            <a:ext cx="2523744" cy="429768"/>
          </a:xfrm>
          <a:prstGeom prst="roundRect">
            <a:avLst>
              <a:gd fmla="val 12766" name="adj"/>
            </a:avLst>
          </a:prstGeom>
          <a:solidFill>
            <a:srgbClr val="EAF1FD"/>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0"/>
          <p:cNvSpPr txBox="1"/>
          <p:nvPr/>
        </p:nvSpPr>
        <p:spPr>
          <a:xfrm>
            <a:off x="6492240" y="5660136"/>
            <a:ext cx="2304288"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Digital y analógico ULSI</a:t>
            </a:r>
            <a:endParaRPr b="0" i="0" sz="1100" u="none" cap="none" strike="noStrike">
              <a:solidFill>
                <a:schemeClr val="dk1"/>
              </a:solidFill>
              <a:latin typeface="Calibri"/>
              <a:ea typeface="Calibri"/>
              <a:cs typeface="Calibri"/>
              <a:sym typeface="Calibri"/>
            </a:endParaRPr>
          </a:p>
        </p:txBody>
      </p:sp>
      <p:sp>
        <p:nvSpPr>
          <p:cNvPr id="975" name="Google Shape;975;p30"/>
          <p:cNvSpPr/>
          <p:nvPr/>
        </p:nvSpPr>
        <p:spPr>
          <a:xfrm>
            <a:off x="8997696" y="5660136"/>
            <a:ext cx="2596896" cy="429768"/>
          </a:xfrm>
          <a:prstGeom prst="roundRect">
            <a:avLst>
              <a:gd fmla="val 12766" name="adj"/>
            </a:avLst>
          </a:prstGeom>
          <a:solidFill>
            <a:srgbClr val="FFFFFF"/>
          </a:solidFill>
          <a:ln cap="flat" cmpd="sng" w="12700">
            <a:solidFill>
              <a:srgbClr val="E3E9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txBox="1"/>
          <p:nvPr/>
        </p:nvSpPr>
        <p:spPr>
          <a:xfrm>
            <a:off x="9107424" y="5660136"/>
            <a:ext cx="23774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62F"/>
              </a:buClr>
              <a:buSzPts val="1100"/>
              <a:buFont typeface="Calibri"/>
              <a:buNone/>
            </a:pPr>
            <a:r>
              <a:rPr b="0" i="0" lang="en-US" sz="1100" u="none" cap="none" strike="noStrike">
                <a:solidFill>
                  <a:srgbClr val="23262F"/>
                </a:solidFill>
                <a:latin typeface="Calibri"/>
                <a:ea typeface="Calibri"/>
                <a:cs typeface="Calibri"/>
                <a:sym typeface="Calibri"/>
              </a:rPr>
              <a:t>RF y mixto</a:t>
            </a:r>
            <a:endParaRPr b="0" i="0" sz="1100" u="none" cap="none" strike="noStrike">
              <a:solidFill>
                <a:schemeClr val="dk1"/>
              </a:solidFill>
              <a:latin typeface="Calibri"/>
              <a:ea typeface="Calibri"/>
              <a:cs typeface="Calibri"/>
              <a:sym typeface="Calibri"/>
            </a:endParaRPr>
          </a:p>
        </p:txBody>
      </p:sp>
      <p:sp>
        <p:nvSpPr>
          <p:cNvPr id="977" name="Google Shape;977;p30"/>
          <p:cNvSpPr txBox="1"/>
          <p:nvPr/>
        </p:nvSpPr>
        <p:spPr>
          <a:xfrm>
            <a:off x="566928" y="633679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MsC. Luz Adanaqué Infante</a:t>
            </a:r>
            <a:endParaRPr b="0" i="0" sz="900" u="none" cap="none" strike="noStrike">
              <a:solidFill>
                <a:schemeClr val="dk1"/>
              </a:solidFill>
              <a:latin typeface="Calibri"/>
              <a:ea typeface="Calibri"/>
              <a:cs typeface="Calibri"/>
              <a:sym typeface="Calibri"/>
            </a:endParaRPr>
          </a:p>
        </p:txBody>
      </p:sp>
      <p:sp>
        <p:nvSpPr>
          <p:cNvPr id="978" name="Google Shape;978;p30"/>
          <p:cNvSpPr txBox="1"/>
          <p:nvPr/>
        </p:nvSpPr>
        <p:spPr>
          <a:xfrm>
            <a:off x="5559552" y="6336792"/>
            <a:ext cx="56692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172"/>
              </a:buClr>
              <a:buSzPts val="900"/>
              <a:buFont typeface="Calibri"/>
              <a:buNone/>
            </a:pPr>
            <a:r>
              <a:rPr b="0" i="0" lang="en-US" sz="900" u="none" cap="none" strike="noStrike">
                <a:solidFill>
                  <a:srgbClr val="5A6172"/>
                </a:solidFill>
                <a:latin typeface="Calibri"/>
                <a:ea typeface="Calibri"/>
                <a:cs typeface="Calibri"/>
                <a:sym typeface="Calibri"/>
              </a:rPr>
              <a:t>Universidad Nacional Mayor de San Marcos  ·  Facultad de Ingeniería Electrónica</a:t>
            </a:r>
            <a:endParaRPr b="0" i="0" sz="900" u="none" cap="none" strike="noStrike">
              <a:solidFill>
                <a:schemeClr val="dk1"/>
              </a:solidFill>
              <a:latin typeface="Calibri"/>
              <a:ea typeface="Calibri"/>
              <a:cs typeface="Calibri"/>
              <a:sym typeface="Calibri"/>
            </a:endParaRPr>
          </a:p>
        </p:txBody>
      </p:sp>
      <p:sp>
        <p:nvSpPr>
          <p:cNvPr id="979" name="Google Shape;979;p30"/>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985" name="Shape 985"/>
        <p:cNvGrpSpPr/>
        <p:nvPr/>
      </p:nvGrpSpPr>
      <p:grpSpPr>
        <a:xfrm>
          <a:off x="0" y="0"/>
          <a:ext cx="0" cy="0"/>
          <a:chOff x="0" y="0"/>
          <a:chExt cx="0" cy="0"/>
        </a:xfrm>
      </p:grpSpPr>
      <p:sp>
        <p:nvSpPr>
          <p:cNvPr id="986" name="Google Shape;986;p31"/>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Retos de la nanoelectrónica</a:t>
            </a:r>
            <a:endParaRPr b="0" i="0" sz="2700" u="none" cap="none" strike="noStrike">
              <a:solidFill>
                <a:schemeClr val="dk1"/>
              </a:solidFill>
              <a:latin typeface="Calibri"/>
              <a:ea typeface="Calibri"/>
              <a:cs typeface="Calibri"/>
              <a:sym typeface="Calibri"/>
            </a:endParaRPr>
          </a:p>
        </p:txBody>
      </p:sp>
      <p:sp>
        <p:nvSpPr>
          <p:cNvPr id="987" name="Google Shape;987;p31"/>
          <p:cNvSpPr txBox="1"/>
          <p:nvPr/>
        </p:nvSpPr>
        <p:spPr>
          <a:xfrm>
            <a:off x="566928" y="886968"/>
            <a:ext cx="82844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1250"/>
              <a:buFont typeface="Calibri"/>
              <a:buNone/>
            </a:pPr>
            <a:r>
              <a:rPr b="0" i="1" lang="en-US" sz="1250" u="none" cap="none" strike="noStrike">
                <a:solidFill>
                  <a:srgbClr val="5A6172"/>
                </a:solidFill>
                <a:latin typeface="Calibri"/>
                <a:ea typeface="Calibri"/>
                <a:cs typeface="Calibri"/>
                <a:sym typeface="Calibri"/>
              </a:rPr>
              <a:t>Desde 1959 la dimensión mínima se ha reducido a razón de ~13 % anual, un 35 % cada tres años</a:t>
            </a:r>
            <a:endParaRPr b="0" i="0" sz="1250" u="none" cap="none" strike="noStrike">
              <a:solidFill>
                <a:schemeClr val="dk1"/>
              </a:solidFill>
              <a:latin typeface="Calibri"/>
              <a:ea typeface="Calibri"/>
              <a:cs typeface="Calibri"/>
              <a:sym typeface="Calibri"/>
            </a:endParaRPr>
          </a:p>
        </p:txBody>
      </p:sp>
      <p:sp>
        <p:nvSpPr>
          <p:cNvPr id="988" name="Google Shape;988;p31"/>
          <p:cNvSpPr/>
          <p:nvPr/>
        </p:nvSpPr>
        <p:spPr>
          <a:xfrm>
            <a:off x="8805672" y="384048"/>
            <a:ext cx="2788920" cy="329184"/>
          </a:xfrm>
          <a:prstGeom prst="roundRect">
            <a:avLst>
              <a:gd fmla="val 47222"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1"/>
          <p:cNvSpPr txBox="1"/>
          <p:nvPr/>
        </p:nvSpPr>
        <p:spPr>
          <a:xfrm>
            <a:off x="8805672" y="384048"/>
            <a:ext cx="2788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Sze &amp; Lee · cap. 15</a:t>
            </a:r>
            <a:endParaRPr b="0" i="0" sz="950" u="none" cap="none" strike="noStrike">
              <a:solidFill>
                <a:schemeClr val="dk1"/>
              </a:solidFill>
              <a:latin typeface="Calibri"/>
              <a:ea typeface="Calibri"/>
              <a:cs typeface="Calibri"/>
              <a:sym typeface="Calibri"/>
            </a:endParaRPr>
          </a:p>
        </p:txBody>
      </p:sp>
      <p:sp>
        <p:nvSpPr>
          <p:cNvPr id="990" name="Google Shape;990;p31"/>
          <p:cNvSpPr/>
          <p:nvPr/>
        </p:nvSpPr>
        <p:spPr>
          <a:xfrm>
            <a:off x="566928" y="1773936"/>
            <a:ext cx="3529584" cy="2048256"/>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1"/>
          <p:cNvSpPr/>
          <p:nvPr/>
        </p:nvSpPr>
        <p:spPr>
          <a:xfrm>
            <a:off x="822960" y="1975104"/>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1"/>
          <p:cNvSpPr txBox="1"/>
          <p:nvPr/>
        </p:nvSpPr>
        <p:spPr>
          <a:xfrm>
            <a:off x="822960" y="19751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993" name="Google Shape;993;p31"/>
          <p:cNvSpPr txBox="1"/>
          <p:nvPr/>
        </p:nvSpPr>
        <p:spPr>
          <a:xfrm>
            <a:off x="1316736" y="193852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Unión ultrasomera</a:t>
            </a:r>
            <a:endParaRPr b="0" i="0" sz="1400" u="none" cap="none" strike="noStrike">
              <a:solidFill>
                <a:schemeClr val="dk1"/>
              </a:solidFill>
              <a:latin typeface="Calibri"/>
              <a:ea typeface="Calibri"/>
              <a:cs typeface="Calibri"/>
              <a:sym typeface="Calibri"/>
            </a:endParaRPr>
          </a:p>
        </p:txBody>
      </p:sp>
      <p:sp>
        <p:nvSpPr>
          <p:cNvPr id="994" name="Google Shape;994;p31"/>
          <p:cNvSpPr txBox="1"/>
          <p:nvPr/>
        </p:nvSpPr>
        <p:spPr>
          <a:xfrm>
            <a:off x="822960" y="2468880"/>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Al escalar por debajo de 100 nm, el efecto de canal corto obliga a implantar con energías menores a 1 keV y dosis altas. Para el nodo de 100 nm se requieren profundidades de unión de 20 a 33 nm.</a:t>
            </a:r>
            <a:endParaRPr b="0" i="0" sz="1000" u="none" cap="none" strike="noStrike">
              <a:solidFill>
                <a:schemeClr val="dk1"/>
              </a:solidFill>
              <a:latin typeface="Calibri"/>
              <a:ea typeface="Calibri"/>
              <a:cs typeface="Calibri"/>
              <a:sym typeface="Calibri"/>
            </a:endParaRPr>
          </a:p>
        </p:txBody>
      </p:sp>
      <p:sp>
        <p:nvSpPr>
          <p:cNvPr id="995" name="Google Shape;995;p31"/>
          <p:cNvSpPr/>
          <p:nvPr/>
        </p:nvSpPr>
        <p:spPr>
          <a:xfrm>
            <a:off x="4315968" y="1773936"/>
            <a:ext cx="3529584" cy="2048256"/>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1"/>
          <p:cNvSpPr/>
          <p:nvPr/>
        </p:nvSpPr>
        <p:spPr>
          <a:xfrm>
            <a:off x="4572000" y="1975104"/>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1"/>
          <p:cNvSpPr txBox="1"/>
          <p:nvPr/>
        </p:nvSpPr>
        <p:spPr>
          <a:xfrm>
            <a:off x="4572000" y="19751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998" name="Google Shape;998;p31"/>
          <p:cNvSpPr txBox="1"/>
          <p:nvPr/>
        </p:nvSpPr>
        <p:spPr>
          <a:xfrm>
            <a:off x="5065776" y="193852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Óxido ultradelgado</a:t>
            </a:r>
            <a:endParaRPr b="0" i="0" sz="1400" u="none" cap="none" strike="noStrike">
              <a:solidFill>
                <a:schemeClr val="dk1"/>
              </a:solidFill>
              <a:latin typeface="Calibri"/>
              <a:ea typeface="Calibri"/>
              <a:cs typeface="Calibri"/>
              <a:sym typeface="Calibri"/>
            </a:endParaRPr>
          </a:p>
        </p:txBody>
      </p:sp>
      <p:sp>
        <p:nvSpPr>
          <p:cNvPr id="999" name="Google Shape;999;p31"/>
          <p:cNvSpPr txBox="1"/>
          <p:nvPr/>
        </p:nvSpPr>
        <p:spPr>
          <a:xfrm>
            <a:off x="4572000" y="2468880"/>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El espesor equivalente debe bajar a ~2 nm. Con SiO₂ puro la fuga por tunelamiento directo es excesiva, de ahí los dieléctricos high-k: Si₃N₄ (7), HfO₂ (20–25), Ta₂O₅ (25), TiO₂ (60–100).</a:t>
            </a:r>
            <a:endParaRPr b="0" i="0" sz="1000" u="none" cap="none" strike="noStrike">
              <a:solidFill>
                <a:schemeClr val="dk1"/>
              </a:solidFill>
              <a:latin typeface="Calibri"/>
              <a:ea typeface="Calibri"/>
              <a:cs typeface="Calibri"/>
              <a:sym typeface="Calibri"/>
            </a:endParaRPr>
          </a:p>
        </p:txBody>
      </p:sp>
      <p:sp>
        <p:nvSpPr>
          <p:cNvPr id="1000" name="Google Shape;1000;p31"/>
          <p:cNvSpPr/>
          <p:nvPr/>
        </p:nvSpPr>
        <p:spPr>
          <a:xfrm>
            <a:off x="8065008" y="1773936"/>
            <a:ext cx="3529584" cy="2048256"/>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1"/>
          <p:cNvSpPr/>
          <p:nvPr/>
        </p:nvSpPr>
        <p:spPr>
          <a:xfrm>
            <a:off x="8321040" y="1975104"/>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1"/>
          <p:cNvSpPr txBox="1"/>
          <p:nvPr/>
        </p:nvSpPr>
        <p:spPr>
          <a:xfrm>
            <a:off x="8321040" y="19751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1003" name="Google Shape;1003;p31"/>
          <p:cNvSpPr txBox="1"/>
          <p:nvPr/>
        </p:nvSpPr>
        <p:spPr>
          <a:xfrm>
            <a:off x="8814816" y="193852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Siliciuros</a:t>
            </a:r>
            <a:endParaRPr b="0" i="0" sz="1400" u="none" cap="none" strike="noStrike">
              <a:solidFill>
                <a:schemeClr val="dk1"/>
              </a:solidFill>
              <a:latin typeface="Calibri"/>
              <a:ea typeface="Calibri"/>
              <a:cs typeface="Calibri"/>
              <a:sym typeface="Calibri"/>
            </a:endParaRPr>
          </a:p>
        </p:txBody>
      </p:sp>
      <p:sp>
        <p:nvSpPr>
          <p:cNvPr id="1004" name="Google Shape;1004;p31"/>
          <p:cNvSpPr txBox="1"/>
          <p:nvPr/>
        </p:nvSpPr>
        <p:spPr>
          <a:xfrm>
            <a:off x="8321040" y="2468880"/>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El TiSi₂ aumenta su resistencia de hoja al reducirse el ancho de línea, lo que limita su uso a 180 nm. CoSi₂ y NiSi lo reemplazan más allá de ese nodo.</a:t>
            </a:r>
            <a:endParaRPr b="0" i="0" sz="1000" u="none" cap="none" strike="noStrike">
              <a:solidFill>
                <a:schemeClr val="dk1"/>
              </a:solidFill>
              <a:latin typeface="Calibri"/>
              <a:ea typeface="Calibri"/>
              <a:cs typeface="Calibri"/>
              <a:sym typeface="Calibri"/>
            </a:endParaRPr>
          </a:p>
        </p:txBody>
      </p:sp>
      <p:sp>
        <p:nvSpPr>
          <p:cNvPr id="1005" name="Google Shape;1005;p31"/>
          <p:cNvSpPr/>
          <p:nvPr/>
        </p:nvSpPr>
        <p:spPr>
          <a:xfrm>
            <a:off x="566928" y="3986784"/>
            <a:ext cx="3529584" cy="2048256"/>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1"/>
          <p:cNvSpPr/>
          <p:nvPr/>
        </p:nvSpPr>
        <p:spPr>
          <a:xfrm>
            <a:off x="822960" y="418795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1"/>
          <p:cNvSpPr txBox="1"/>
          <p:nvPr/>
        </p:nvSpPr>
        <p:spPr>
          <a:xfrm>
            <a:off x="822960" y="4187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1008" name="Google Shape;1008;p31"/>
          <p:cNvSpPr txBox="1"/>
          <p:nvPr/>
        </p:nvSpPr>
        <p:spPr>
          <a:xfrm>
            <a:off x="1316736" y="4151376"/>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Interconexión</a:t>
            </a:r>
            <a:endParaRPr b="0" i="0" sz="1400" u="none" cap="none" strike="noStrike">
              <a:solidFill>
                <a:schemeClr val="dk1"/>
              </a:solidFill>
              <a:latin typeface="Calibri"/>
              <a:ea typeface="Calibri"/>
              <a:cs typeface="Calibri"/>
              <a:sym typeface="Calibri"/>
            </a:endParaRPr>
          </a:p>
        </p:txBody>
      </p:sp>
      <p:sp>
        <p:nvSpPr>
          <p:cNvPr id="1009" name="Google Shape;1009;p31"/>
          <p:cNvSpPr txBox="1"/>
          <p:nvPr/>
        </p:nvSpPr>
        <p:spPr>
          <a:xfrm>
            <a:off x="822960" y="4681728"/>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El retardo de puerta baja al escalar, pero el de interconexión sube. La respuesta es Cu (1,7 µΩ·cm frente a 2,7 del Al, y 10 a 100 veces más resistente a la electromigración) con dieléctricos low-k.</a:t>
            </a:r>
            <a:endParaRPr b="0" i="0" sz="1000" u="none" cap="none" strike="noStrike">
              <a:solidFill>
                <a:schemeClr val="dk1"/>
              </a:solidFill>
              <a:latin typeface="Calibri"/>
              <a:ea typeface="Calibri"/>
              <a:cs typeface="Calibri"/>
              <a:sym typeface="Calibri"/>
            </a:endParaRPr>
          </a:p>
        </p:txBody>
      </p:sp>
      <p:sp>
        <p:nvSpPr>
          <p:cNvPr id="1010" name="Google Shape;1010;p31"/>
          <p:cNvSpPr/>
          <p:nvPr/>
        </p:nvSpPr>
        <p:spPr>
          <a:xfrm>
            <a:off x="4315968" y="3986784"/>
            <a:ext cx="3529584" cy="2048256"/>
          </a:xfrm>
          <a:prstGeom prst="roundRect">
            <a:avLst>
              <a:gd fmla="val 5357"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1"/>
          <p:cNvSpPr/>
          <p:nvPr/>
        </p:nvSpPr>
        <p:spPr>
          <a:xfrm>
            <a:off x="4572000" y="4187952"/>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1"/>
          <p:cNvSpPr txBox="1"/>
          <p:nvPr/>
        </p:nvSpPr>
        <p:spPr>
          <a:xfrm>
            <a:off x="4572000" y="4187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1013" name="Google Shape;1013;p31"/>
          <p:cNvSpPr txBox="1"/>
          <p:nvPr/>
        </p:nvSpPr>
        <p:spPr>
          <a:xfrm>
            <a:off x="5065776" y="4151376"/>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Límite de potencia</a:t>
            </a:r>
            <a:endParaRPr b="0" i="0" sz="1400" u="none" cap="none" strike="noStrike">
              <a:solidFill>
                <a:schemeClr val="dk1"/>
              </a:solidFill>
              <a:latin typeface="Calibri"/>
              <a:ea typeface="Calibri"/>
              <a:cs typeface="Calibri"/>
              <a:sym typeface="Calibri"/>
            </a:endParaRPr>
          </a:p>
        </p:txBody>
      </p:sp>
      <p:sp>
        <p:nvSpPr>
          <p:cNvPr id="1014" name="Google Shape;1014;p31"/>
          <p:cNvSpPr txBox="1"/>
          <p:nvPr/>
        </p:nvSpPr>
        <p:spPr>
          <a:xfrm>
            <a:off x="4572000" y="4681728"/>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P ≈ ½ C V² n f. Con una disipación máxima típica de encapsulado de ~10 W hay que limitar la frecuencia de reloj o el número de puertas.</a:t>
            </a:r>
            <a:endParaRPr b="0" i="0" sz="1000" u="none" cap="none" strike="noStrike">
              <a:solidFill>
                <a:schemeClr val="dk1"/>
              </a:solidFill>
              <a:latin typeface="Calibri"/>
              <a:ea typeface="Calibri"/>
              <a:cs typeface="Calibri"/>
              <a:sym typeface="Calibri"/>
            </a:endParaRPr>
          </a:p>
        </p:txBody>
      </p:sp>
      <p:sp>
        <p:nvSpPr>
          <p:cNvPr id="1015" name="Google Shape;1015;p31"/>
          <p:cNvSpPr/>
          <p:nvPr/>
        </p:nvSpPr>
        <p:spPr>
          <a:xfrm>
            <a:off x="8065008" y="3986784"/>
            <a:ext cx="3529584" cy="2048256"/>
          </a:xfrm>
          <a:prstGeom prst="roundRect">
            <a:avLst>
              <a:gd fmla="val 5357"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1"/>
          <p:cNvSpPr/>
          <p:nvPr/>
        </p:nvSpPr>
        <p:spPr>
          <a:xfrm>
            <a:off x="8321040" y="418795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1"/>
          <p:cNvSpPr txBox="1"/>
          <p:nvPr/>
        </p:nvSpPr>
        <p:spPr>
          <a:xfrm>
            <a:off x="8321040" y="4187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6</a:t>
            </a:r>
            <a:endParaRPr b="0" i="0" sz="1250" u="none" cap="none" strike="noStrike">
              <a:solidFill>
                <a:schemeClr val="dk1"/>
              </a:solidFill>
              <a:latin typeface="Calibri"/>
              <a:ea typeface="Calibri"/>
              <a:cs typeface="Calibri"/>
              <a:sym typeface="Calibri"/>
            </a:endParaRPr>
          </a:p>
        </p:txBody>
      </p:sp>
      <p:sp>
        <p:nvSpPr>
          <p:cNvPr id="1018" name="Google Shape;1018;p31"/>
          <p:cNvSpPr txBox="1"/>
          <p:nvPr/>
        </p:nvSpPr>
        <p:spPr>
          <a:xfrm>
            <a:off x="8814816" y="4151376"/>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Integración SOI</a:t>
            </a:r>
            <a:endParaRPr b="0" i="0" sz="1400" u="none" cap="none" strike="noStrike">
              <a:solidFill>
                <a:schemeClr val="dk1"/>
              </a:solidFill>
              <a:latin typeface="Calibri"/>
              <a:ea typeface="Calibri"/>
              <a:cs typeface="Calibri"/>
              <a:sym typeface="Calibri"/>
            </a:endParaRPr>
          </a:p>
        </p:txBody>
      </p:sp>
      <p:sp>
        <p:nvSpPr>
          <p:cNvPr id="1019" name="Google Shape;1019;p31"/>
          <p:cNvSpPr txBox="1"/>
          <p:nvPr/>
        </p:nvSpPr>
        <p:spPr>
          <a:xfrm>
            <a:off x="8321040" y="4681728"/>
            <a:ext cx="3017520" cy="12435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3262F"/>
              </a:buClr>
              <a:buSzPts val="1000"/>
              <a:buFont typeface="Calibri"/>
              <a:buNone/>
            </a:pPr>
            <a:r>
              <a:rPr b="0" i="0" lang="en-US" sz="1000" u="none" cap="none" strike="noStrike">
                <a:solidFill>
                  <a:srgbClr val="23262F"/>
                </a:solidFill>
                <a:latin typeface="Calibri"/>
                <a:ea typeface="Calibri"/>
                <a:cs typeface="Calibri"/>
                <a:sym typeface="Calibri"/>
              </a:rPr>
              <a:t>Evita el pozo complejo y los procesos de aislamiento, y da uniones someras por el espesor de la película. En 130 nm alcanza 25 % más velocidad o 50 % menos potencia que el bulk equivalente.</a:t>
            </a:r>
            <a:endParaRPr b="0" i="0" sz="1000" u="none" cap="none" strike="noStrike">
              <a:solidFill>
                <a:schemeClr val="dk1"/>
              </a:solidFill>
              <a:latin typeface="Calibri"/>
              <a:ea typeface="Calibri"/>
              <a:cs typeface="Calibri"/>
              <a:sym typeface="Calibri"/>
            </a:endParaRPr>
          </a:p>
        </p:txBody>
      </p:sp>
      <p:sp>
        <p:nvSpPr>
          <p:cNvPr id="1020" name="Google Shape;1020;p31"/>
          <p:cNvSpPr txBox="1"/>
          <p:nvPr/>
        </p:nvSpPr>
        <p:spPr>
          <a:xfrm>
            <a:off x="566928" y="6309360"/>
            <a:ext cx="110276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172"/>
              </a:buClr>
              <a:buSzPts val="950"/>
              <a:buFont typeface="Calibri"/>
              <a:buNone/>
            </a:pPr>
            <a:r>
              <a:rPr b="0" i="1" lang="en-US" sz="950" u="none" cap="none" strike="noStrike">
                <a:solidFill>
                  <a:srgbClr val="5A6172"/>
                </a:solidFill>
                <a:latin typeface="Calibri"/>
                <a:ea typeface="Calibri"/>
                <a:cs typeface="Calibri"/>
                <a:sym typeface="Calibri"/>
              </a:rPr>
              <a:t>La tecnología alcanzará su límite práctico cuando la longitud de canal se reduzca a unos 20 nm; más allá del CMOS, los candidatos se basan en efectos cuánticos y transporte de un solo electrón.</a:t>
            </a:r>
            <a:endParaRPr b="0" i="0" sz="950" u="none" cap="none" strike="noStrike">
              <a:solidFill>
                <a:schemeClr val="dk1"/>
              </a:solidFill>
              <a:latin typeface="Calibri"/>
              <a:ea typeface="Calibri"/>
              <a:cs typeface="Calibri"/>
              <a:sym typeface="Calibri"/>
            </a:endParaRPr>
          </a:p>
        </p:txBody>
      </p:sp>
      <p:sp>
        <p:nvSpPr>
          <p:cNvPr id="1021" name="Google Shape;1021;p31"/>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1"/>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E"/>
        </a:solidFill>
      </p:bgPr>
    </p:bg>
    <p:spTree>
      <p:nvGrpSpPr>
        <p:cNvPr id="1027" name="Shape 1027"/>
        <p:cNvGrpSpPr/>
        <p:nvPr/>
      </p:nvGrpSpPr>
      <p:grpSpPr>
        <a:xfrm>
          <a:off x="0" y="0"/>
          <a:ext cx="0" cy="0"/>
          <a:chOff x="0" y="0"/>
          <a:chExt cx="0" cy="0"/>
        </a:xfrm>
      </p:grpSpPr>
      <p:sp>
        <p:nvSpPr>
          <p:cNvPr id="1028" name="Google Shape;1028;p32"/>
          <p:cNvSpPr txBox="1"/>
          <p:nvPr/>
        </p:nvSpPr>
        <p:spPr>
          <a:xfrm>
            <a:off x="566928" y="310896"/>
            <a:ext cx="82844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Conclusiones</a:t>
            </a:r>
            <a:endParaRPr b="0" i="0" sz="2700" u="none" cap="none" strike="noStrike">
              <a:solidFill>
                <a:schemeClr val="dk1"/>
              </a:solidFill>
              <a:latin typeface="Calibri"/>
              <a:ea typeface="Calibri"/>
              <a:cs typeface="Calibri"/>
              <a:sym typeface="Calibri"/>
            </a:endParaRPr>
          </a:p>
        </p:txBody>
      </p:sp>
      <p:sp>
        <p:nvSpPr>
          <p:cNvPr id="1029" name="Google Shape;1029;p32"/>
          <p:cNvSpPr/>
          <p:nvPr/>
        </p:nvSpPr>
        <p:spPr>
          <a:xfrm>
            <a:off x="566928" y="1463040"/>
            <a:ext cx="11027664" cy="841248"/>
          </a:xfrm>
          <a:prstGeom prst="roundRect">
            <a:avLst>
              <a:gd fmla="val 1304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2"/>
          <p:cNvSpPr/>
          <p:nvPr/>
        </p:nvSpPr>
        <p:spPr>
          <a:xfrm>
            <a:off x="822960" y="1682496"/>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2"/>
          <p:cNvSpPr txBox="1"/>
          <p:nvPr/>
        </p:nvSpPr>
        <p:spPr>
          <a:xfrm>
            <a:off x="822960" y="168249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1032" name="Google Shape;1032;p32"/>
          <p:cNvSpPr txBox="1"/>
          <p:nvPr/>
        </p:nvSpPr>
        <p:spPr>
          <a:xfrm>
            <a:off x="1389888" y="1463040"/>
            <a:ext cx="9838944"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La evolución en la fabricación de circuitos integrados ha sido acorde con las exigencias en velocidad y potencia.</a:t>
            </a:r>
            <a:endParaRPr b="0" i="0" sz="1250" u="none" cap="none" strike="noStrike">
              <a:solidFill>
                <a:schemeClr val="dk1"/>
              </a:solidFill>
              <a:latin typeface="Calibri"/>
              <a:ea typeface="Calibri"/>
              <a:cs typeface="Calibri"/>
              <a:sym typeface="Calibri"/>
            </a:endParaRPr>
          </a:p>
        </p:txBody>
      </p:sp>
      <p:sp>
        <p:nvSpPr>
          <p:cNvPr id="1033" name="Google Shape;1033;p32"/>
          <p:cNvSpPr/>
          <p:nvPr/>
        </p:nvSpPr>
        <p:spPr>
          <a:xfrm>
            <a:off x="566928" y="2432304"/>
            <a:ext cx="11027664" cy="841248"/>
          </a:xfrm>
          <a:prstGeom prst="roundRect">
            <a:avLst>
              <a:gd fmla="val 13043" name="adj"/>
            </a:avLst>
          </a:prstGeom>
          <a:solidFill>
            <a:srgbClr val="EAF1FD"/>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2"/>
          <p:cNvSpPr/>
          <p:nvPr/>
        </p:nvSpPr>
        <p:spPr>
          <a:xfrm>
            <a:off x="822960" y="2651760"/>
            <a:ext cx="402336" cy="402336"/>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2"/>
          <p:cNvSpPr txBox="1"/>
          <p:nvPr/>
        </p:nvSpPr>
        <p:spPr>
          <a:xfrm>
            <a:off x="822960" y="26517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1036" name="Google Shape;1036;p32"/>
          <p:cNvSpPr txBox="1"/>
          <p:nvPr/>
        </p:nvSpPr>
        <p:spPr>
          <a:xfrm>
            <a:off x="1389888" y="2432304"/>
            <a:ext cx="9838944"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Los circuitos integrados basados en CMOS han copado todas las aplicaciones analógicas y digitales en la actualidad.</a:t>
            </a:r>
            <a:endParaRPr b="0" i="0" sz="1250" u="none" cap="none" strike="noStrike">
              <a:solidFill>
                <a:schemeClr val="dk1"/>
              </a:solidFill>
              <a:latin typeface="Calibri"/>
              <a:ea typeface="Calibri"/>
              <a:cs typeface="Calibri"/>
              <a:sym typeface="Calibri"/>
            </a:endParaRPr>
          </a:p>
        </p:txBody>
      </p:sp>
      <p:sp>
        <p:nvSpPr>
          <p:cNvPr id="1037" name="Google Shape;1037;p32"/>
          <p:cNvSpPr/>
          <p:nvPr/>
        </p:nvSpPr>
        <p:spPr>
          <a:xfrm>
            <a:off x="566928" y="3401568"/>
            <a:ext cx="11027664" cy="841248"/>
          </a:xfrm>
          <a:prstGeom prst="roundRect">
            <a:avLst>
              <a:gd fmla="val 1304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2"/>
          <p:cNvSpPr/>
          <p:nvPr/>
        </p:nvSpPr>
        <p:spPr>
          <a:xfrm>
            <a:off x="822960" y="3621024"/>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2"/>
          <p:cNvSpPr txBox="1"/>
          <p:nvPr/>
        </p:nvSpPr>
        <p:spPr>
          <a:xfrm>
            <a:off x="822960" y="362102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1040" name="Google Shape;1040;p32"/>
          <p:cNvSpPr txBox="1"/>
          <p:nvPr/>
        </p:nvSpPr>
        <p:spPr>
          <a:xfrm>
            <a:off x="1389888" y="3401568"/>
            <a:ext cx="9838944"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El conocimiento de las técnicas de fabricación de cada familia de circuitos integrados nos permitirá entender cuál es la tendencia en la fabricación de circuitos actuales.</a:t>
            </a:r>
            <a:endParaRPr b="0" i="0" sz="1250" u="none" cap="none" strike="noStrike">
              <a:solidFill>
                <a:schemeClr val="dk1"/>
              </a:solidFill>
              <a:latin typeface="Calibri"/>
              <a:ea typeface="Calibri"/>
              <a:cs typeface="Calibri"/>
              <a:sym typeface="Calibri"/>
            </a:endParaRPr>
          </a:p>
        </p:txBody>
      </p:sp>
      <p:sp>
        <p:nvSpPr>
          <p:cNvPr id="1041" name="Google Shape;1041;p32"/>
          <p:cNvSpPr/>
          <p:nvPr/>
        </p:nvSpPr>
        <p:spPr>
          <a:xfrm>
            <a:off x="566928" y="4370832"/>
            <a:ext cx="11027664" cy="841248"/>
          </a:xfrm>
          <a:prstGeom prst="roundRect">
            <a:avLst>
              <a:gd fmla="val 1304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2"/>
          <p:cNvSpPr/>
          <p:nvPr/>
        </p:nvSpPr>
        <p:spPr>
          <a:xfrm>
            <a:off x="822960" y="4590288"/>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2"/>
          <p:cNvSpPr txBox="1"/>
          <p:nvPr/>
        </p:nvSpPr>
        <p:spPr>
          <a:xfrm>
            <a:off x="822960" y="45902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1044" name="Google Shape;1044;p32"/>
          <p:cNvSpPr txBox="1"/>
          <p:nvPr/>
        </p:nvSpPr>
        <p:spPr>
          <a:xfrm>
            <a:off x="1389888" y="4370832"/>
            <a:ext cx="9838944"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El proceso planar, la máscara de óxido y la litografía son el sustrato común de todas las familias: cambian los dispositivos, no la lógica de fabricación por niveles.</a:t>
            </a:r>
            <a:endParaRPr b="0" i="0" sz="1250" u="none" cap="none" strike="noStrike">
              <a:solidFill>
                <a:schemeClr val="dk1"/>
              </a:solidFill>
              <a:latin typeface="Calibri"/>
              <a:ea typeface="Calibri"/>
              <a:cs typeface="Calibri"/>
              <a:sym typeface="Calibri"/>
            </a:endParaRPr>
          </a:p>
        </p:txBody>
      </p:sp>
      <p:sp>
        <p:nvSpPr>
          <p:cNvPr id="1045" name="Google Shape;1045;p32"/>
          <p:cNvSpPr/>
          <p:nvPr/>
        </p:nvSpPr>
        <p:spPr>
          <a:xfrm>
            <a:off x="566928" y="5340096"/>
            <a:ext cx="11027664" cy="841248"/>
          </a:xfrm>
          <a:prstGeom prst="roundRect">
            <a:avLst>
              <a:gd fmla="val 13043" name="adj"/>
            </a:avLst>
          </a:prstGeom>
          <a:solidFill>
            <a:srgbClr val="FFFFFF"/>
          </a:solidFill>
          <a:ln cap="flat" cmpd="sng" w="12700">
            <a:solidFill>
              <a:srgbClr val="CADCFC"/>
            </a:solidFill>
            <a:prstDash val="solid"/>
            <a:round/>
            <a:headEnd len="sm" w="sm" type="none"/>
            <a:tailEnd len="sm" w="sm" type="none"/>
          </a:ln>
          <a:effectLst>
            <a:outerShdw blurRad="88900" rotWithShape="0" algn="bl" dir="5400000" dist="25400">
              <a:srgbClr val="1E276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2"/>
          <p:cNvSpPr/>
          <p:nvPr/>
        </p:nvSpPr>
        <p:spPr>
          <a:xfrm>
            <a:off x="822960" y="5559552"/>
            <a:ext cx="402336" cy="402336"/>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2"/>
          <p:cNvSpPr txBox="1"/>
          <p:nvPr/>
        </p:nvSpPr>
        <p:spPr>
          <a:xfrm>
            <a:off x="822960" y="55595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1048" name="Google Shape;1048;p32"/>
          <p:cNvSpPr txBox="1"/>
          <p:nvPr/>
        </p:nvSpPr>
        <p:spPr>
          <a:xfrm>
            <a:off x="1389888" y="5340096"/>
            <a:ext cx="9838944"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3262F"/>
              </a:buClr>
              <a:buSzPts val="1250"/>
              <a:buFont typeface="Calibri"/>
              <a:buNone/>
            </a:pPr>
            <a:r>
              <a:rPr b="0" i="0" lang="en-US" sz="1250" u="none" cap="none" strike="noStrike">
                <a:solidFill>
                  <a:srgbClr val="23262F"/>
                </a:solidFill>
                <a:latin typeface="Calibri"/>
                <a:ea typeface="Calibri"/>
                <a:cs typeface="Calibri"/>
                <a:sym typeface="Calibri"/>
              </a:rPr>
              <a:t>El escalamiento no es gratuito: unión ultrasomera, óxido ultradelgado, siliciuros, interconexión y potencia son hoy los cuellos de botella reales del diseño.</a:t>
            </a:r>
            <a:endParaRPr b="0" i="0" sz="1250" u="none" cap="none" strike="noStrike">
              <a:solidFill>
                <a:schemeClr val="dk1"/>
              </a:solidFill>
              <a:latin typeface="Calibri"/>
              <a:ea typeface="Calibri"/>
              <a:cs typeface="Calibri"/>
              <a:sym typeface="Calibri"/>
            </a:endParaRPr>
          </a:p>
        </p:txBody>
      </p:sp>
      <p:sp>
        <p:nvSpPr>
          <p:cNvPr id="1049" name="Google Shape;1049;p32"/>
          <p:cNvSpPr txBox="1"/>
          <p:nvPr/>
        </p:nvSpPr>
        <p:spPr>
          <a:xfrm>
            <a:off x="566928" y="6327648"/>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950"/>
              <a:buFont typeface="Calibri"/>
              <a:buNone/>
            </a:pPr>
            <a:r>
              <a:rPr b="0" i="1" lang="en-US" sz="950" u="none" cap="none" strike="noStrike">
                <a:solidFill>
                  <a:srgbClr val="F96167"/>
                </a:solidFill>
                <a:latin typeface="Calibri"/>
                <a:ea typeface="Calibri"/>
                <a:cs typeface="Calibri"/>
                <a:sym typeface="Calibri"/>
              </a:rPr>
              <a:t>Próxima sesión: modelamiento de circuitos CMOS estáticos y su simulación en LTspice con modelos PTM.</a:t>
            </a:r>
            <a:endParaRPr b="0" i="0" sz="950" u="none" cap="none" strike="noStrike">
              <a:solidFill>
                <a:schemeClr val="dk1"/>
              </a:solidFill>
              <a:latin typeface="Calibri"/>
              <a:ea typeface="Calibri"/>
              <a:cs typeface="Calibri"/>
              <a:sym typeface="Calibri"/>
            </a:endParaRPr>
          </a:p>
        </p:txBody>
      </p:sp>
      <p:sp>
        <p:nvSpPr>
          <p:cNvPr id="1050" name="Google Shape;1050;p32"/>
          <p:cNvSpPr/>
          <p:nvPr/>
        </p:nvSpPr>
        <p:spPr>
          <a:xfrm>
            <a:off x="11283696" y="6345936"/>
            <a:ext cx="256032" cy="256032"/>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2"/>
          <p:cNvSpPr txBox="1"/>
          <p:nvPr/>
        </p:nvSpPr>
        <p:spPr>
          <a:xfrm>
            <a:off x="11283696" y="634593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056" name="Shape 1056"/>
        <p:cNvGrpSpPr/>
        <p:nvPr/>
      </p:nvGrpSpPr>
      <p:grpSpPr>
        <a:xfrm>
          <a:off x="0" y="0"/>
          <a:ext cx="0" cy="0"/>
          <a:chOff x="0" y="0"/>
          <a:chExt cx="0" cy="0"/>
        </a:xfrm>
      </p:grpSpPr>
      <p:sp>
        <p:nvSpPr>
          <p:cNvPr id="1057" name="Google Shape;1057;p33"/>
          <p:cNvSpPr/>
          <p:nvPr/>
        </p:nvSpPr>
        <p:spPr>
          <a:xfrm>
            <a:off x="566928" y="2286000"/>
            <a:ext cx="1280160" cy="128016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3"/>
          <p:cNvSpPr txBox="1"/>
          <p:nvPr/>
        </p:nvSpPr>
        <p:spPr>
          <a:xfrm>
            <a:off x="566928" y="228600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200"/>
              <a:buFont typeface="Cambria"/>
              <a:buNone/>
            </a:pPr>
            <a:r>
              <a:rPr b="1" i="0" lang="en-US" sz="5200" u="none" cap="none" strike="noStrike">
                <a:solidFill>
                  <a:srgbClr val="FFFFFF"/>
                </a:solidFill>
                <a:latin typeface="Cambria"/>
                <a:ea typeface="Cambria"/>
                <a:cs typeface="Cambria"/>
                <a:sym typeface="Cambria"/>
              </a:rPr>
              <a:t>?</a:t>
            </a:r>
            <a:endParaRPr b="0" i="0" sz="5200" u="none" cap="none" strike="noStrike">
              <a:solidFill>
                <a:schemeClr val="dk1"/>
              </a:solidFill>
              <a:latin typeface="Calibri"/>
              <a:ea typeface="Calibri"/>
              <a:cs typeface="Calibri"/>
              <a:sym typeface="Calibri"/>
            </a:endParaRPr>
          </a:p>
        </p:txBody>
      </p:sp>
      <p:sp>
        <p:nvSpPr>
          <p:cNvPr id="1059" name="Google Shape;1059;p33"/>
          <p:cNvSpPr txBox="1"/>
          <p:nvPr/>
        </p:nvSpPr>
        <p:spPr>
          <a:xfrm>
            <a:off x="2304288" y="2322576"/>
            <a:ext cx="5486400" cy="7680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i="0" lang="en-US" sz="3800" u="none" cap="none" strike="noStrike">
                <a:solidFill>
                  <a:srgbClr val="FFFFFF"/>
                </a:solidFill>
                <a:latin typeface="Cambria"/>
                <a:ea typeface="Cambria"/>
                <a:cs typeface="Cambria"/>
                <a:sym typeface="Cambria"/>
              </a:rPr>
              <a:t>Preguntas</a:t>
            </a:r>
            <a:endParaRPr b="0" i="0" sz="3800" u="none" cap="none" strike="noStrike">
              <a:solidFill>
                <a:schemeClr val="dk1"/>
              </a:solidFill>
              <a:latin typeface="Calibri"/>
              <a:ea typeface="Calibri"/>
              <a:cs typeface="Calibri"/>
              <a:sym typeface="Calibri"/>
            </a:endParaRPr>
          </a:p>
        </p:txBody>
      </p:sp>
      <p:sp>
        <p:nvSpPr>
          <p:cNvPr id="1060" name="Google Shape;1060;p33"/>
          <p:cNvSpPr txBox="1"/>
          <p:nvPr/>
        </p:nvSpPr>
        <p:spPr>
          <a:xfrm>
            <a:off x="2304288" y="3127248"/>
            <a:ext cx="5943600"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MsC. Luz Adanaqué Infante  </a:t>
            </a:r>
            <a:endParaRPr b="0" i="0" sz="1300" u="none" cap="none" strike="noStrike">
              <a:solidFill>
                <a:srgbClr val="CADCFC"/>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Ladanaquei@unmsm.edu.pe</a:t>
            </a:r>
            <a:endParaRPr b="0" i="0" sz="13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1061" name="Google Shape;1061;p33"/>
          <p:cNvSpPr/>
          <p:nvPr/>
        </p:nvSpPr>
        <p:spPr>
          <a:xfrm>
            <a:off x="7863840" y="1920240"/>
            <a:ext cx="3730752" cy="3017520"/>
          </a:xfrm>
          <a:prstGeom prst="roundRect">
            <a:avLst>
              <a:gd fmla="val 4848" name="adj"/>
            </a:avLst>
          </a:prstGeom>
          <a:solidFill>
            <a:srgbClr val="141B45"/>
          </a:solidFill>
          <a:ln cap="flat" cmpd="sng" w="12700">
            <a:solidFill>
              <a:srgbClr val="2E3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3"/>
          <p:cNvSpPr txBox="1"/>
          <p:nvPr/>
        </p:nvSpPr>
        <p:spPr>
          <a:xfrm>
            <a:off x="8138160" y="2139696"/>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50"/>
              <a:buFont typeface="Calibri"/>
              <a:buNone/>
            </a:pPr>
            <a:r>
              <a:rPr b="1" i="0" lang="en-US" sz="1150" u="none" cap="none" strike="noStrike">
                <a:solidFill>
                  <a:srgbClr val="F96167"/>
                </a:solidFill>
                <a:latin typeface="Calibri"/>
                <a:ea typeface="Calibri"/>
                <a:cs typeface="Calibri"/>
                <a:sym typeface="Calibri"/>
              </a:rPr>
              <a:t>Para revisar </a:t>
            </a:r>
            <a:endParaRPr b="0" i="0" sz="1150" u="none" cap="none" strike="noStrike">
              <a:solidFill>
                <a:schemeClr val="dk1"/>
              </a:solidFill>
              <a:latin typeface="Calibri"/>
              <a:ea typeface="Calibri"/>
              <a:cs typeface="Calibri"/>
              <a:sym typeface="Calibri"/>
            </a:endParaRPr>
          </a:p>
        </p:txBody>
      </p:sp>
      <p:sp>
        <p:nvSpPr>
          <p:cNvPr id="1063" name="Google Shape;1063;p33"/>
          <p:cNvSpPr txBox="1"/>
          <p:nvPr/>
        </p:nvSpPr>
        <p:spPr>
          <a:xfrm>
            <a:off x="8138160" y="2688336"/>
            <a:ext cx="3200400" cy="2103120"/>
          </a:xfrm>
          <a:prstGeom prst="rect">
            <a:avLst/>
          </a:prstGeom>
          <a:noFill/>
          <a:ln>
            <a:noFill/>
          </a:ln>
        </p:spPr>
        <p:txBody>
          <a:bodyPr anchorCtr="0" anchor="t" bIns="0" lIns="0" spcFirstLastPara="1" rIns="0" wrap="square" tIns="0">
            <a:noAutofit/>
          </a:bodyPr>
          <a:lstStyle/>
          <a:p>
            <a:pPr indent="-342900" lvl="0" marL="342900" marR="0" rtl="0" algn="l">
              <a:lnSpc>
                <a:spcPct val="106000"/>
              </a:lnSpc>
              <a:spcBef>
                <a:spcPts val="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Sze y Lee, cap. 0.2: hitos tecnológicos.</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Sze y Lee, cap. 15.1 a 15.3: componentes pasivos, tecnología bipolar y MOSFET.</a:t>
            </a:r>
            <a:endParaRPr b="0" i="0" sz="1100" u="none" cap="none" strike="noStrike">
              <a:solidFill>
                <a:schemeClr val="dk1"/>
              </a:solidFill>
              <a:latin typeface="Calibri"/>
              <a:ea typeface="Calibri"/>
              <a:cs typeface="Calibri"/>
              <a:sym typeface="Calibri"/>
            </a:endParaRPr>
          </a:p>
          <a:p>
            <a:pPr indent="-342900" lvl="0" marL="342900" marR="0" rtl="0" algn="l">
              <a:lnSpc>
                <a:spcPct val="106000"/>
              </a:lnSpc>
              <a:spcBef>
                <a:spcPts val="700"/>
              </a:spcBef>
              <a:spcAft>
                <a:spcPts val="0"/>
              </a:spcAft>
              <a:buClr>
                <a:srgbClr val="CADCFC"/>
              </a:buClr>
              <a:buSzPts val="1100"/>
              <a:buFont typeface="Calibri"/>
              <a:buChar char="▪"/>
            </a:pPr>
            <a:r>
              <a:rPr b="0" i="0" lang="en-US" sz="1100" u="none" cap="none" strike="noStrike">
                <a:solidFill>
                  <a:srgbClr val="CADCFC"/>
                </a:solidFill>
                <a:latin typeface="Calibri"/>
                <a:ea typeface="Calibri"/>
                <a:cs typeface="Calibri"/>
                <a:sym typeface="Calibri"/>
              </a:rPr>
              <a:t>Sze y Lee, cap. 6.2: inversor CMOS y BiCMOS.</a:t>
            </a:r>
            <a:endParaRPr b="0" i="0" sz="1100" u="none" cap="none" strike="noStrike">
              <a:solidFill>
                <a:schemeClr val="dk1"/>
              </a:solidFill>
              <a:latin typeface="Calibri"/>
              <a:ea typeface="Calibri"/>
              <a:cs typeface="Calibri"/>
              <a:sym typeface="Calibri"/>
            </a:endParaRPr>
          </a:p>
        </p:txBody>
      </p:sp>
      <p:sp>
        <p:nvSpPr>
          <p:cNvPr id="1064" name="Google Shape;1064;p33"/>
          <p:cNvSpPr txBox="1"/>
          <p:nvPr/>
        </p:nvSpPr>
        <p:spPr>
          <a:xfrm>
            <a:off x="566928" y="6336792"/>
            <a:ext cx="110276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Universidad Nacional Mayor de San Marcos  ·  Facultad de Ingeniería Electrónica, Eléctrica y de Telecomunicaciones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2026-08-31T01:13:27Z</dcterms:created>
  <dc:creator>MsC. Luz Adanaqué Infante</dc:creator>
</cp:coreProperties>
</file>